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sldIdLst>
    <p:sldId id="256" r:id="rId2"/>
    <p:sldId id="259" r:id="rId3"/>
    <p:sldId id="269" r:id="rId4"/>
    <p:sldId id="270" r:id="rId5"/>
    <p:sldId id="257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B0083-AE11-48B8-BF16-0E58EC624360}" v="11" dt="2026-05-19T21:02:09.537"/>
    <p1510:client id="{B5A37B5A-B1BB-434A-B8E7-AD7F6D4B6A0E}" v="13" dt="2026-05-19T20:58:49.6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Mishra" userId="1ad70931-df4a-4af3-97a2-c08e9a46f110" providerId="ADAL" clId="{20540324-B17E-4273-A747-B3C73AEE9E63}"/>
    <pc:docChg chg="modSld">
      <pc:chgData name="Mukesh Mishra" userId="1ad70931-df4a-4af3-97a2-c08e9a46f110" providerId="ADAL" clId="{20540324-B17E-4273-A747-B3C73AEE9E63}" dt="2026-05-19T21:02:09.537" v="10"/>
      <pc:docMkLst>
        <pc:docMk/>
      </pc:docMkLst>
      <pc:sldChg chg="setBg">
        <pc:chgData name="Mukesh Mishra" userId="1ad70931-df4a-4af3-97a2-c08e9a46f110" providerId="ADAL" clId="{20540324-B17E-4273-A747-B3C73AEE9E63}" dt="2026-05-19T21:02:09.537" v="10"/>
        <pc:sldMkLst>
          <pc:docMk/>
          <pc:sldMk cId="0" sldId="26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2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3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4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4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6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6818" y="1323050"/>
            <a:ext cx="14242173" cy="4191008"/>
          </a:xfrm>
        </p:spPr>
        <p:txBody>
          <a:bodyPr bIns="0" anchor="b">
            <a:normAutofit/>
          </a:bodyPr>
          <a:lstStyle>
            <a:lvl1pPr algn="l">
              <a:defRPr sz="108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6818" y="5823218"/>
            <a:ext cx="14242172" cy="161216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968" b="0" cap="all" baseline="0">
                <a:solidFill>
                  <a:schemeClr val="tx1"/>
                </a:solidFill>
              </a:defRPr>
            </a:lvl1pPr>
            <a:lvl2pPr marL="753923" indent="0" algn="ctr">
              <a:buNone/>
              <a:defRPr sz="296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84708" y="543053"/>
            <a:ext cx="8201779" cy="50989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70649" y="1317566"/>
            <a:ext cx="1337337" cy="83043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3986818" y="5818827"/>
            <a:ext cx="142421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08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54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7979" y="2895989"/>
            <a:ext cx="14252201" cy="3113369"/>
          </a:xfrm>
        </p:spPr>
        <p:txBody>
          <a:bodyPr anchor="b">
            <a:normAutofit/>
          </a:bodyPr>
          <a:lstStyle>
            <a:lvl1pPr algn="l">
              <a:defRPr sz="5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7979" y="6276698"/>
            <a:ext cx="14231246" cy="1670395"/>
          </a:xfrm>
        </p:spPr>
        <p:txBody>
          <a:bodyPr tIns="91440">
            <a:normAutofit/>
          </a:bodyPr>
          <a:lstStyle>
            <a:lvl1pPr marL="0" indent="0" algn="l">
              <a:buNone/>
              <a:defRPr sz="2968">
                <a:solidFill>
                  <a:schemeClr val="tx1"/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7979" y="6274702"/>
            <a:ext cx="142312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75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99" y="1327323"/>
            <a:ext cx="15839292" cy="1746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6589" y="3316087"/>
            <a:ext cx="7659662" cy="5686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6041" y="3326748"/>
            <a:ext cx="7659662" cy="5675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5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358" y="1326125"/>
            <a:ext cx="15842633" cy="17419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6358" y="3330387"/>
            <a:ext cx="7659662" cy="132246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86358" y="4657430"/>
            <a:ext cx="7659662" cy="4360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73718" y="3336083"/>
            <a:ext cx="7659662" cy="132294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73718" y="4652849"/>
            <a:ext cx="7659662" cy="434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0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60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93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2203" y="1317567"/>
            <a:ext cx="5397204" cy="3705662"/>
          </a:xfrm>
        </p:spPr>
        <p:txBody>
          <a:bodyPr anchor="b">
            <a:normAutofit/>
          </a:bodyPr>
          <a:lstStyle>
            <a:lvl1pPr algn="l">
              <a:defRPr sz="39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6874" y="1317567"/>
            <a:ext cx="9914313" cy="768274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2203" y="5286093"/>
            <a:ext cx="5400360" cy="3707417"/>
          </a:xfrm>
        </p:spPr>
        <p:txBody>
          <a:bodyPr/>
          <a:lstStyle>
            <a:lvl1pPr marL="0" indent="0" algn="l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2388153" y="5286092"/>
            <a:ext cx="539125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4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2329901" y="795135"/>
            <a:ext cx="6718735" cy="8491249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978" y="1862650"/>
            <a:ext cx="9122578" cy="3018769"/>
          </a:xfrm>
        </p:spPr>
        <p:txBody>
          <a:bodyPr anchor="b">
            <a:normAutofit/>
          </a:bodyPr>
          <a:lstStyle>
            <a:lvl1pPr>
              <a:defRPr sz="52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396780" y="1851156"/>
            <a:ext cx="4602525" cy="6375860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1532" y="5187974"/>
            <a:ext cx="9109512" cy="3304319"/>
          </a:xfrm>
        </p:spPr>
        <p:txBody>
          <a:bodyPr>
            <a:normAutofit/>
          </a:bodyPr>
          <a:lstStyle>
            <a:lvl1pPr marL="0" indent="0" algn="l">
              <a:buNone/>
              <a:defRPr sz="296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386674" y="9020198"/>
            <a:ext cx="9114371" cy="527907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86672" y="525462"/>
            <a:ext cx="9136885" cy="529239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2386674" y="5184038"/>
            <a:ext cx="91143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75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53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64701" y="1317567"/>
            <a:ext cx="2664291" cy="76845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2204" y="1317567"/>
            <a:ext cx="12909414" cy="7684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564701" y="1317567"/>
            <a:ext cx="0" cy="7684502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6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330266"/>
            <a:ext cx="20104100" cy="677100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0103019"/>
            <a:ext cx="20104100" cy="12251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3594" y="1326712"/>
            <a:ext cx="15835400" cy="17302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594" y="3324092"/>
            <a:ext cx="15835400" cy="5690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56460" y="544806"/>
            <a:ext cx="577253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3593" y="543053"/>
            <a:ext cx="979289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600" y="1317566"/>
            <a:ext cx="1337337" cy="83043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617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0106207"/>
            <a:ext cx="201041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14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5277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120000"/>
        </a:lnSpc>
        <a:spcBef>
          <a:spcPts val="164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98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968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638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30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3" Type="http://schemas.openxmlformats.org/officeDocument/2006/relationships/image" Target="../media/image3.jpg"/><Relationship Id="rId21" Type="http://schemas.openxmlformats.org/officeDocument/2006/relationships/image" Target="../media/image21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image" Target="../media/image2.png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24" Type="http://schemas.openxmlformats.org/officeDocument/2006/relationships/image" Target="../media/image24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23" Type="http://schemas.openxmlformats.org/officeDocument/2006/relationships/image" Target="../media/image23.jpg"/><Relationship Id="rId10" Type="http://schemas.openxmlformats.org/officeDocument/2006/relationships/image" Target="../media/image10.jpg"/><Relationship Id="rId19" Type="http://schemas.openxmlformats.org/officeDocument/2006/relationships/image" Target="../media/image19.jpg"/><Relationship Id="rId4" Type="http://schemas.openxmlformats.org/officeDocument/2006/relationships/image" Target="../media/image4.jpg"/><Relationship Id="rId9" Type="http://schemas.openxmlformats.org/officeDocument/2006/relationships/image" Target="../media/image9.png"/><Relationship Id="rId14" Type="http://schemas.openxmlformats.org/officeDocument/2006/relationships/image" Target="../media/image14.jpg"/><Relationship Id="rId22" Type="http://schemas.openxmlformats.org/officeDocument/2006/relationships/image" Target="../media/image2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2031833"/>
            <a:ext cx="1903434" cy="2047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044" y="3039826"/>
            <a:ext cx="534849" cy="740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8817" y="3102832"/>
            <a:ext cx="298886" cy="661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6358" y="3244581"/>
            <a:ext cx="880928" cy="535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10210" y="3087078"/>
            <a:ext cx="1431509" cy="929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20373" y="3244581"/>
            <a:ext cx="644965" cy="535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95688" y="3039826"/>
            <a:ext cx="1132622" cy="7402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06964" y="2992581"/>
            <a:ext cx="141577" cy="7717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11466" y="3244581"/>
            <a:ext cx="519118" cy="535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93509" y="3228828"/>
            <a:ext cx="377540" cy="5512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85664" y="3055579"/>
            <a:ext cx="991044" cy="724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39638" y="2992581"/>
            <a:ext cx="1242738" cy="7874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45297" y="3244581"/>
            <a:ext cx="1777588" cy="5354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01541" y="3244581"/>
            <a:ext cx="1541624" cy="53549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91044" y="4158076"/>
            <a:ext cx="1053968" cy="72449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07936" y="4347074"/>
            <a:ext cx="1101161" cy="77174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72020" y="4189575"/>
            <a:ext cx="676427" cy="67724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47334" y="4142325"/>
            <a:ext cx="644965" cy="7402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22648" y="4158076"/>
            <a:ext cx="1179815" cy="72449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65387" y="4331325"/>
            <a:ext cx="377540" cy="55124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921582" y="4110825"/>
            <a:ext cx="471926" cy="75599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87894" y="4095076"/>
            <a:ext cx="1683203" cy="78749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249754" y="4110825"/>
            <a:ext cx="880928" cy="77174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389068" y="2794819"/>
            <a:ext cx="19875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50" dirty="0">
                <a:solidFill>
                  <a:srgbClr val="1C2131"/>
                </a:solidFill>
                <a:latin typeface="Arial"/>
                <a:cs typeface="Arial"/>
              </a:rPr>
              <a:t>•</a:t>
            </a:r>
            <a:endParaRPr sz="3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7809" y="5277010"/>
            <a:ext cx="12136755" cy="1801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32600"/>
              </a:lnSpc>
              <a:spcBef>
                <a:spcPts val="100"/>
              </a:spcBef>
              <a:tabLst>
                <a:tab pos="2950210" algn="l"/>
              </a:tabLst>
            </a:pPr>
            <a:r>
              <a:rPr sz="3000" spc="45" dirty="0">
                <a:solidFill>
                  <a:srgbClr val="7989A1"/>
                </a:solidFill>
                <a:latin typeface="Arial"/>
                <a:cs typeface="Arial"/>
              </a:rPr>
              <a:t>Comprehensive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	Analysis</a:t>
            </a:r>
            <a:r>
              <a:rPr sz="3000" spc="3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7989A1"/>
                </a:solidFill>
                <a:latin typeface="Arial"/>
                <a:cs typeface="Arial"/>
              </a:rPr>
              <a:t>of</a:t>
            </a:r>
            <a:r>
              <a:rPr sz="3000" spc="25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Revenue</a:t>
            </a:r>
            <a:r>
              <a:rPr sz="3000" spc="31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Streams,</a:t>
            </a:r>
            <a:r>
              <a:rPr sz="3000" spc="26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Regional</a:t>
            </a:r>
            <a:r>
              <a:rPr sz="3000" spc="3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7989A1"/>
                </a:solidFill>
                <a:latin typeface="Arial"/>
                <a:cs typeface="Arial"/>
              </a:rPr>
              <a:t>Trends,</a:t>
            </a:r>
            <a:r>
              <a:rPr sz="3000" spc="19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35" dirty="0">
                <a:solidFill>
                  <a:srgbClr val="7989A1"/>
                </a:solidFill>
                <a:latin typeface="Arial"/>
                <a:cs typeface="Arial"/>
              </a:rPr>
              <a:t>and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Team</a:t>
            </a:r>
            <a:r>
              <a:rPr sz="3000" spc="14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7989A1"/>
                </a:solidFill>
                <a:latin typeface="Arial"/>
                <a:cs typeface="Arial"/>
              </a:rPr>
              <a:t>Productivity</a:t>
            </a:r>
            <a:r>
              <a:rPr sz="3000" spc="31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95" dirty="0">
                <a:solidFill>
                  <a:srgbClr val="7989A1"/>
                </a:solidFill>
                <a:latin typeface="Arial"/>
                <a:cs typeface="Arial"/>
              </a:rPr>
              <a:t>metrics</a:t>
            </a:r>
            <a:r>
              <a:rPr sz="3000" spc="18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0" dirty="0">
                <a:solidFill>
                  <a:srgbClr val="7989A1"/>
                </a:solidFill>
                <a:latin typeface="Arial"/>
                <a:cs typeface="Arial"/>
              </a:rPr>
              <a:t>for</a:t>
            </a:r>
            <a:r>
              <a:rPr sz="3000" spc="9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105" dirty="0">
                <a:solidFill>
                  <a:srgbClr val="7989A1"/>
                </a:solidFill>
                <a:latin typeface="Arial"/>
                <a:cs typeface="Arial"/>
              </a:rPr>
              <a:t>the</a:t>
            </a:r>
            <a:r>
              <a:rPr sz="3000" spc="2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7989A1"/>
                </a:solidFill>
                <a:latin typeface="Arial"/>
                <a:cs typeface="Arial"/>
              </a:rPr>
              <a:t>current</a:t>
            </a:r>
            <a:r>
              <a:rPr sz="3000" spc="1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120" dirty="0">
                <a:solidFill>
                  <a:srgbClr val="7989A1"/>
                </a:solidFill>
                <a:latin typeface="Arial"/>
                <a:cs typeface="Arial"/>
              </a:rPr>
              <a:t>fiscal</a:t>
            </a:r>
            <a:r>
              <a:rPr sz="3000" spc="6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7989A1"/>
                </a:solidFill>
                <a:latin typeface="Arial"/>
                <a:cs typeface="Arial"/>
              </a:rPr>
              <a:t>period.</a:t>
            </a:r>
            <a:endParaRPr lang="en-IN" sz="3000" spc="75" dirty="0">
              <a:solidFill>
                <a:srgbClr val="7989A1"/>
              </a:solidFill>
              <a:latin typeface="Arial"/>
              <a:cs typeface="Arial"/>
            </a:endParaRPr>
          </a:p>
          <a:p>
            <a:pPr marL="14604" marR="5080" indent="-2540">
              <a:lnSpc>
                <a:spcPct val="132600"/>
              </a:lnSpc>
              <a:spcBef>
                <a:spcPts val="100"/>
              </a:spcBef>
              <a:tabLst>
                <a:tab pos="2950210" algn="l"/>
              </a:tabLst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9370" y="8540401"/>
            <a:ext cx="4738370" cy="1003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lang="en-IN" sz="2000" b="1" dirty="0">
                <a:solidFill>
                  <a:srgbClr val="1C2131"/>
                </a:solidFill>
                <a:latin typeface="Arial"/>
                <a:cs typeface="Arial"/>
              </a:rPr>
              <a:t>Team Member : Mukesh Mishra</a:t>
            </a:r>
          </a:p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lang="en-IN" sz="2000" b="1" dirty="0">
                <a:solidFill>
                  <a:srgbClr val="1C2131"/>
                </a:solidFill>
                <a:latin typeface="Arial"/>
                <a:cs typeface="Arial"/>
              </a:rPr>
              <a:t>                           Saubhagya </a:t>
            </a:r>
            <a:r>
              <a:rPr lang="en-IN" sz="2000" b="1" dirty="0" err="1">
                <a:solidFill>
                  <a:srgbClr val="1C2131"/>
                </a:solidFill>
                <a:latin typeface="Arial"/>
                <a:cs typeface="Arial"/>
              </a:rPr>
              <a:t>Munsi</a:t>
            </a:r>
            <a:endParaRPr lang="en-IN" sz="2000" b="1" dirty="0">
              <a:solidFill>
                <a:srgbClr val="1C2131"/>
              </a:solidFill>
              <a:latin typeface="Arial"/>
              <a:cs typeface="Arial"/>
            </a:endParaRPr>
          </a:p>
          <a:p>
            <a:pPr marL="12700" marR="5080">
              <a:lnSpc>
                <a:spcPct val="108800"/>
              </a:lnSpc>
              <a:spcBef>
                <a:spcPts val="100"/>
              </a:spcBef>
            </a:pPr>
            <a:endParaRPr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39586"/>
            <a:ext cx="1400047" cy="488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628" y="1039586"/>
            <a:ext cx="424733" cy="503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61027" y="3638326"/>
            <a:ext cx="8730629" cy="524473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97747" y="948134"/>
            <a:ext cx="50787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949450" algn="l"/>
              </a:tabLst>
            </a:pPr>
            <a:r>
              <a:rPr spc="190" dirty="0">
                <a:solidFill>
                  <a:srgbClr val="0E1A28"/>
                </a:solidFill>
              </a:rPr>
              <a:t>DATA</a:t>
            </a:r>
            <a:r>
              <a:rPr dirty="0">
                <a:solidFill>
                  <a:srgbClr val="0E1A28"/>
                </a:solidFill>
              </a:rPr>
              <a:t>	</a:t>
            </a:r>
            <a:r>
              <a:rPr spc="235" dirty="0">
                <a:solidFill>
                  <a:srgbClr val="0E1A28"/>
                </a:solidFill>
              </a:rPr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50877" y="948134"/>
            <a:ext cx="423291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229" dirty="0">
                <a:solidFill>
                  <a:srgbClr val="0E1A28"/>
                </a:solidFill>
                <a:latin typeface="Arial"/>
                <a:cs typeface="Arial"/>
              </a:rPr>
              <a:t>CHALLENGES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416" y="3842188"/>
            <a:ext cx="8420735" cy="4703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">
              <a:lnSpc>
                <a:spcPct val="130300"/>
              </a:lnSpc>
              <a:spcBef>
                <a:spcPts val="95"/>
              </a:spcBef>
            </a:pP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3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initial</a:t>
            </a:r>
            <a:r>
              <a:rPr sz="2300" spc="1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dataset</a:t>
            </a:r>
            <a:r>
              <a:rPr sz="23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was</a:t>
            </a:r>
            <a:r>
              <a:rPr sz="2300" spc="20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566E"/>
                </a:solidFill>
                <a:latin typeface="Arial"/>
                <a:cs typeface="Arial"/>
              </a:rPr>
              <a:t>characterized</a:t>
            </a:r>
            <a:r>
              <a:rPr sz="2300" spc="2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95" dirty="0">
                <a:solidFill>
                  <a:srgbClr val="44566E"/>
                </a:solidFill>
                <a:latin typeface="Arial"/>
                <a:cs typeface="Arial"/>
              </a:rPr>
              <a:t>by</a:t>
            </a:r>
            <a:r>
              <a:rPr sz="2300" spc="1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significant</a:t>
            </a:r>
            <a:r>
              <a:rPr sz="2300" spc="3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operational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noise,</a:t>
            </a:r>
            <a:r>
              <a:rPr sz="2300" spc="9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requiring</a:t>
            </a:r>
            <a:r>
              <a:rPr sz="2300" spc="1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</a:t>
            </a:r>
            <a:r>
              <a:rPr sz="2300" spc="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multi-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stage</a:t>
            </a:r>
            <a:r>
              <a:rPr sz="2300" spc="3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audit</a:t>
            </a:r>
            <a:r>
              <a:rPr sz="2300" spc="1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before</a:t>
            </a:r>
            <a:r>
              <a:rPr sz="23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visualization</a:t>
            </a:r>
            <a:r>
              <a:rPr sz="2300" spc="28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could </a:t>
            </a:r>
            <a:r>
              <a:rPr sz="2300" spc="45" dirty="0">
                <a:solidFill>
                  <a:srgbClr val="44566E"/>
                </a:solidFill>
                <a:latin typeface="Arial"/>
                <a:cs typeface="Arial"/>
              </a:rPr>
              <a:t>occur.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2300">
              <a:latin typeface="Arial"/>
              <a:cs typeface="Arial"/>
            </a:endParaRPr>
          </a:p>
          <a:p>
            <a:pPr marL="638175" marR="658495" indent="-291465">
              <a:lnSpc>
                <a:spcPct val="130300"/>
              </a:lnSpc>
              <a:spcBef>
                <a:spcPts val="5"/>
              </a:spcBef>
              <a:buChar char="•"/>
              <a:tabLst>
                <a:tab pos="638175" algn="l"/>
                <a:tab pos="641985" algn="l"/>
              </a:tabLst>
            </a:pPr>
            <a:r>
              <a:rPr sz="2200" dirty="0">
                <a:solidFill>
                  <a:srgbClr val="44566E"/>
                </a:solidFill>
                <a:latin typeface="Arial"/>
                <a:cs typeface="Arial"/>
              </a:rPr>
              <a:t>	</a:t>
            </a:r>
            <a:r>
              <a:rPr sz="2200" b="1" dirty="0">
                <a:solidFill>
                  <a:srgbClr val="44566E"/>
                </a:solidFill>
                <a:latin typeface="Arial"/>
                <a:cs typeface="Arial"/>
              </a:rPr>
              <a:t>Incomplete</a:t>
            </a:r>
            <a:r>
              <a:rPr sz="2200" b="1" spc="2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44566E"/>
                </a:solidFill>
                <a:latin typeface="Arial"/>
                <a:cs typeface="Arial"/>
              </a:rPr>
              <a:t>Records:</a:t>
            </a:r>
            <a:r>
              <a:rPr sz="2200" b="1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Multiple</a:t>
            </a:r>
            <a:r>
              <a:rPr sz="2300" spc="2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Order</a:t>
            </a:r>
            <a:r>
              <a:rPr sz="2300" spc="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IDs</a:t>
            </a:r>
            <a:r>
              <a:rPr sz="2300" spc="20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66E"/>
                </a:solidFill>
                <a:latin typeface="Arial"/>
                <a:cs typeface="Arial"/>
              </a:rPr>
              <a:t>with</a:t>
            </a:r>
            <a:r>
              <a:rPr sz="2300" spc="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E"/>
                </a:solidFill>
                <a:latin typeface="Arial"/>
                <a:cs typeface="Arial"/>
              </a:rPr>
              <a:t>missing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Customer</a:t>
            </a:r>
            <a:r>
              <a:rPr sz="2300" spc="4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names</a:t>
            </a:r>
            <a:r>
              <a:rPr sz="2300" spc="3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Salesperson</a:t>
            </a:r>
            <a:r>
              <a:rPr sz="23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4566E"/>
                </a:solidFill>
                <a:latin typeface="Arial"/>
                <a:cs typeface="Arial"/>
              </a:rPr>
              <a:t>IDs.</a:t>
            </a:r>
            <a:endParaRPr sz="2300">
              <a:latin typeface="Arial"/>
              <a:cs typeface="Arial"/>
            </a:endParaRPr>
          </a:p>
          <a:p>
            <a:pPr marL="641350" marR="400050" indent="-294640">
              <a:lnSpc>
                <a:spcPct val="128099"/>
              </a:lnSpc>
              <a:spcBef>
                <a:spcPts val="60"/>
              </a:spcBef>
              <a:buFont typeface="Arial"/>
              <a:buChar char="•"/>
              <a:tabLst>
                <a:tab pos="641350" algn="l"/>
              </a:tabLst>
            </a:pPr>
            <a:r>
              <a:rPr sz="2200" b="1" spc="10" dirty="0">
                <a:solidFill>
                  <a:srgbClr val="44566E"/>
                </a:solidFill>
                <a:latin typeface="Arial"/>
                <a:cs typeface="Arial"/>
              </a:rPr>
              <a:t>Data</a:t>
            </a:r>
            <a:r>
              <a:rPr sz="2200" b="1" spc="2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200" b="1" spc="10" dirty="0">
                <a:solidFill>
                  <a:srgbClr val="44566E"/>
                </a:solidFill>
                <a:latin typeface="Arial"/>
                <a:cs typeface="Arial"/>
              </a:rPr>
              <a:t>Type</a:t>
            </a:r>
            <a:r>
              <a:rPr sz="2200" b="1" spc="1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200" b="1" spc="10" dirty="0">
                <a:solidFill>
                  <a:srgbClr val="44566E"/>
                </a:solidFill>
                <a:latin typeface="Arial"/>
                <a:cs typeface="Arial"/>
              </a:rPr>
              <a:t>Inconsistency:</a:t>
            </a:r>
            <a:r>
              <a:rPr sz="2200" b="1" spc="-1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srgbClr val="44566E"/>
                </a:solidFill>
                <a:latin typeface="Arial"/>
                <a:cs typeface="Arial"/>
              </a:rPr>
              <a:t>Financial</a:t>
            </a:r>
            <a:r>
              <a:rPr sz="2300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srgbClr val="44566E"/>
                </a:solidFill>
                <a:latin typeface="Arial"/>
                <a:cs typeface="Arial"/>
              </a:rPr>
              <a:t>columns</a:t>
            </a:r>
            <a:r>
              <a:rPr sz="2300" spc="2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E"/>
                </a:solidFill>
                <a:latin typeface="Arial"/>
                <a:cs typeface="Arial"/>
              </a:rPr>
              <a:t>contained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mixed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formats</a:t>
            </a:r>
            <a:r>
              <a:rPr sz="2300" spc="3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566E"/>
                </a:solidFill>
                <a:latin typeface="Arial"/>
                <a:cs typeface="Arial"/>
              </a:rPr>
              <a:t>{currency</a:t>
            </a:r>
            <a:r>
              <a:rPr sz="2300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strings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66E"/>
                </a:solidFill>
                <a:latin typeface="Arial"/>
                <a:cs typeface="Arial"/>
              </a:rPr>
              <a:t>vs 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numeric</a:t>
            </a:r>
            <a:r>
              <a:rPr sz="2300" spc="11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E"/>
                </a:solidFill>
                <a:latin typeface="Arial"/>
                <a:cs typeface="Arial"/>
              </a:rPr>
              <a:t>values).</a:t>
            </a:r>
            <a:endParaRPr sz="2300">
              <a:latin typeface="Arial"/>
              <a:cs typeface="Arial"/>
            </a:endParaRPr>
          </a:p>
          <a:p>
            <a:pPr marL="640715" marR="257175" indent="-301625">
              <a:lnSpc>
                <a:spcPts val="3600"/>
              </a:lnSpc>
              <a:spcBef>
                <a:spcPts val="35"/>
              </a:spcBef>
              <a:buFont typeface="Arial"/>
              <a:buChar char="•"/>
              <a:tabLst>
                <a:tab pos="649605" algn="l"/>
              </a:tabLst>
            </a:pPr>
            <a:r>
              <a:rPr sz="2200" b="1" dirty="0">
                <a:solidFill>
                  <a:srgbClr val="44566E"/>
                </a:solidFill>
                <a:latin typeface="Arial"/>
                <a:cs typeface="Arial"/>
              </a:rPr>
              <a:t>Regional</a:t>
            </a:r>
            <a:r>
              <a:rPr sz="2200" b="1" spc="2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44566E"/>
                </a:solidFill>
                <a:latin typeface="Arial"/>
                <a:cs typeface="Arial"/>
              </a:rPr>
              <a:t>Misalignment:</a:t>
            </a:r>
            <a:r>
              <a:rPr sz="2200" b="1" spc="229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Redundant</a:t>
            </a:r>
            <a:r>
              <a:rPr sz="23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entries</a:t>
            </a:r>
            <a:r>
              <a:rPr sz="23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East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30" dirty="0">
                <a:solidFill>
                  <a:srgbClr val="44566E"/>
                </a:solidFill>
                <a:latin typeface="Arial"/>
                <a:cs typeface="Arial"/>
              </a:rPr>
              <a:t>and 	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West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regions</a:t>
            </a:r>
            <a:r>
              <a:rPr sz="23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due</a:t>
            </a:r>
            <a:r>
              <a:rPr sz="23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to</a:t>
            </a:r>
            <a:r>
              <a:rPr sz="2300" spc="3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spelling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variations.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BFD2-D234-9F8C-782D-3F5ABEC82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50" y="549275"/>
            <a:ext cx="16535400" cy="952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8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F984E3-1CCB-C7D0-1A62-86C41BD6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320675"/>
            <a:ext cx="17602200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7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3857" y="1055331"/>
            <a:ext cx="519118" cy="472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84649" y="1055331"/>
            <a:ext cx="519118" cy="472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13883" y="1055331"/>
            <a:ext cx="519118" cy="4724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402695" y="3102826"/>
            <a:ext cx="5789295" cy="0"/>
          </a:xfrm>
          <a:custGeom>
            <a:avLst/>
            <a:gdLst/>
            <a:ahLst/>
            <a:cxnLst/>
            <a:rect l="l" t="t" r="r" b="b"/>
            <a:pathLst>
              <a:path w="5789294">
                <a:moveTo>
                  <a:pt x="0" y="0"/>
                </a:moveTo>
                <a:lnTo>
                  <a:pt x="5788957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3273" y="3102826"/>
            <a:ext cx="5773420" cy="0"/>
          </a:xfrm>
          <a:custGeom>
            <a:avLst/>
            <a:gdLst/>
            <a:ahLst/>
            <a:cxnLst/>
            <a:rect l="l" t="t" r="r" b="b"/>
            <a:pathLst>
              <a:path w="5773420">
                <a:moveTo>
                  <a:pt x="0" y="0"/>
                </a:moveTo>
                <a:lnTo>
                  <a:pt x="5773226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8120" y="3102826"/>
            <a:ext cx="5789295" cy="0"/>
          </a:xfrm>
          <a:custGeom>
            <a:avLst/>
            <a:gdLst/>
            <a:ahLst/>
            <a:cxnLst/>
            <a:rect l="l" t="t" r="r" b="b"/>
            <a:pathLst>
              <a:path w="5789295">
                <a:moveTo>
                  <a:pt x="0" y="0"/>
                </a:moveTo>
                <a:lnTo>
                  <a:pt x="5788957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61737" y="948134"/>
            <a:ext cx="62547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85" dirty="0">
                <a:solidFill>
                  <a:srgbClr val="151F2F"/>
                </a:solidFill>
              </a:rPr>
              <a:t>EXECUTIVE</a:t>
            </a:r>
            <a:r>
              <a:rPr spc="480" dirty="0">
                <a:solidFill>
                  <a:srgbClr val="151F2F"/>
                </a:solidFill>
              </a:rPr>
              <a:t> </a:t>
            </a:r>
            <a:r>
              <a:rPr spc="-10" dirty="0">
                <a:solidFill>
                  <a:srgbClr val="151F2F"/>
                </a:solidFill>
              </a:rPr>
              <a:t>PERFOR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85329" y="948134"/>
            <a:ext cx="282321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515" dirty="0">
                <a:solidFill>
                  <a:srgbClr val="151F2F"/>
                </a:solidFill>
                <a:latin typeface="Arial"/>
                <a:cs typeface="Arial"/>
              </a:rPr>
              <a:t>ANCESU</a:t>
            </a:r>
            <a:endParaRPr sz="4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75360" y="948134"/>
            <a:ext cx="125539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60" dirty="0">
                <a:solidFill>
                  <a:srgbClr val="151F2F"/>
                </a:solidFill>
                <a:latin typeface="Arial"/>
                <a:cs typeface="Arial"/>
              </a:rPr>
              <a:t>ARY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972" y="3617752"/>
            <a:ext cx="14173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b="1" spc="-10" dirty="0">
                <a:solidFill>
                  <a:srgbClr val="151F2F"/>
                </a:solidFill>
                <a:latin typeface="Arial"/>
                <a:cs typeface="Arial"/>
              </a:rPr>
              <a:t>$98,781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4846" y="3605939"/>
            <a:ext cx="4625340" cy="2087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sz="3100" b="1" spc="-90" dirty="0">
                <a:solidFill>
                  <a:srgbClr val="151F2F"/>
                </a:solidFill>
                <a:latin typeface="Arial"/>
                <a:cs typeface="Arial"/>
              </a:rPr>
              <a:t>27%</a:t>
            </a:r>
            <a:r>
              <a:rPr sz="3100" b="1" spc="-140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151F2F"/>
                </a:solidFill>
                <a:latin typeface="Arial"/>
                <a:cs typeface="Arial"/>
              </a:rPr>
              <a:t>East/West</a:t>
            </a:r>
            <a:endParaRPr sz="3100">
              <a:latin typeface="Arial"/>
              <a:cs typeface="Arial"/>
            </a:endParaRPr>
          </a:p>
          <a:p>
            <a:pPr marL="14604" marR="5080" indent="-2540">
              <a:lnSpc>
                <a:spcPct val="128099"/>
              </a:lnSpc>
              <a:spcBef>
                <a:spcPts val="1885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Strategic</a:t>
            </a:r>
            <a:r>
              <a:rPr sz="2300" spc="25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dominance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East</a:t>
            </a:r>
            <a:r>
              <a:rPr sz="2300" spc="114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and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West</a:t>
            </a:r>
            <a:r>
              <a:rPr sz="2300" spc="3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regions,</a:t>
            </a:r>
            <a:r>
              <a:rPr sz="2300" spc="26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contributing</a:t>
            </a:r>
            <a:r>
              <a:rPr sz="2300" spc="48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to</a:t>
            </a:r>
            <a:r>
              <a:rPr sz="2300" spc="3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35" dirty="0">
                <a:solidFill>
                  <a:srgbClr val="44566D"/>
                </a:solidFill>
                <a:latin typeface="Arial"/>
                <a:cs typeface="Arial"/>
              </a:rPr>
              <a:t>over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half</a:t>
            </a:r>
            <a:r>
              <a:rPr sz="2300" spc="1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of</a:t>
            </a:r>
            <a:r>
              <a:rPr sz="2300" spc="2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66D"/>
                </a:solidFill>
                <a:latin typeface="Arial"/>
                <a:cs typeface="Arial"/>
              </a:rPr>
              <a:t>total</a:t>
            </a:r>
            <a:r>
              <a:rPr sz="2300" spc="-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revenue</a:t>
            </a:r>
            <a:r>
              <a:rPr sz="2300" spc="2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D"/>
                </a:solidFill>
                <a:latin typeface="Arial"/>
                <a:cs typeface="Arial"/>
              </a:rPr>
              <a:t>share.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77387" y="3605939"/>
            <a:ext cx="4426585" cy="2545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0"/>
              </a:spcBef>
            </a:pPr>
            <a:r>
              <a:rPr sz="3100" b="1" spc="-10" dirty="0">
                <a:solidFill>
                  <a:srgbClr val="151F2F"/>
                </a:solidFill>
                <a:latin typeface="Arial"/>
                <a:cs typeface="Arial"/>
              </a:rPr>
              <a:t>Top</a:t>
            </a:r>
            <a:r>
              <a:rPr sz="3100" b="1" spc="-165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60" dirty="0">
                <a:solidFill>
                  <a:srgbClr val="151F2F"/>
                </a:solidFill>
                <a:latin typeface="Arial"/>
                <a:cs typeface="Arial"/>
              </a:rPr>
              <a:t>Tier:</a:t>
            </a:r>
            <a:r>
              <a:rPr sz="3100" b="1" spc="-285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90" dirty="0">
                <a:solidFill>
                  <a:srgbClr val="151F2F"/>
                </a:solidFill>
                <a:latin typeface="Arial"/>
                <a:cs typeface="Arial"/>
              </a:rPr>
              <a:t>Rahul</a:t>
            </a:r>
            <a:r>
              <a:rPr sz="3100" b="1" spc="-190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25" dirty="0">
                <a:solidFill>
                  <a:srgbClr val="151F2F"/>
                </a:solidFill>
                <a:latin typeface="Arial"/>
                <a:cs typeface="Arial"/>
              </a:rPr>
              <a:t>Das</a:t>
            </a:r>
            <a:endParaRPr sz="3100">
              <a:latin typeface="Arial"/>
              <a:cs typeface="Arial"/>
            </a:endParaRPr>
          </a:p>
          <a:p>
            <a:pPr marL="12700" marR="5080" indent="2540">
              <a:lnSpc>
                <a:spcPct val="128800"/>
              </a:lnSpc>
              <a:spcBef>
                <a:spcPts val="1864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Leading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6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D"/>
                </a:solidFill>
                <a:latin typeface="Arial"/>
                <a:cs typeface="Arial"/>
              </a:rPr>
              <a:t>salesperson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leaderboard</a:t>
            </a:r>
            <a:r>
              <a:rPr sz="2300" spc="47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with</a:t>
            </a:r>
            <a:r>
              <a:rPr sz="2300" spc="204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significant</a:t>
            </a:r>
            <a:r>
              <a:rPr sz="2300" spc="4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4566D"/>
                </a:solidFill>
                <a:latin typeface="Arial"/>
                <a:cs typeface="Arial"/>
              </a:rPr>
              <a:t>deal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closures</a:t>
            </a:r>
            <a:r>
              <a:rPr sz="2300" spc="16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3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Electronics</a:t>
            </a:r>
            <a:r>
              <a:rPr sz="2300" spc="3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and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Furniture</a:t>
            </a:r>
            <a:r>
              <a:rPr sz="2300" spc="459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D"/>
                </a:solidFill>
                <a:latin typeface="Arial"/>
                <a:cs typeface="Arial"/>
              </a:rPr>
              <a:t>segments.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9302" y="4329650"/>
            <a:ext cx="4819650" cy="18135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445">
              <a:lnSpc>
                <a:spcPct val="128099"/>
              </a:lnSpc>
              <a:spcBef>
                <a:spcPts val="35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Total</a:t>
            </a:r>
            <a:r>
              <a:rPr sz="2300" spc="-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Revenue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generated</a:t>
            </a:r>
            <a:r>
              <a:rPr sz="2300" spc="13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across</a:t>
            </a:r>
            <a:r>
              <a:rPr sz="2300" spc="23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all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categories.</a:t>
            </a:r>
            <a:r>
              <a:rPr sz="2300" spc="29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High</a:t>
            </a:r>
            <a:r>
              <a:rPr sz="2300" spc="27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stability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observed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baseline</a:t>
            </a:r>
            <a:r>
              <a:rPr sz="2300" spc="2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sales</a:t>
            </a:r>
            <a:r>
              <a:rPr sz="2300" spc="19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with</a:t>
            </a:r>
            <a:r>
              <a:rPr sz="2300" spc="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566D"/>
                </a:solidFill>
                <a:latin typeface="Arial"/>
                <a:cs typeface="Arial"/>
              </a:rPr>
              <a:t>consistent </a:t>
            </a:r>
            <a:r>
              <a:rPr sz="2300" spc="100" dirty="0">
                <a:solidFill>
                  <a:srgbClr val="44566D"/>
                </a:solidFill>
                <a:latin typeface="Arial"/>
                <a:cs typeface="Arial"/>
              </a:rPr>
              <a:t>month-</a:t>
            </a:r>
            <a:r>
              <a:rPr sz="2300" spc="90" dirty="0">
                <a:solidFill>
                  <a:srgbClr val="44566D"/>
                </a:solidFill>
                <a:latin typeface="Arial"/>
                <a:cs typeface="Arial"/>
              </a:rPr>
              <a:t>on-</a:t>
            </a:r>
            <a:r>
              <a:rPr sz="2300" spc="110" dirty="0">
                <a:solidFill>
                  <a:srgbClr val="44566D"/>
                </a:solidFill>
                <a:latin typeface="Arial"/>
                <a:cs typeface="Arial"/>
              </a:rPr>
              <a:t>month</a:t>
            </a:r>
            <a:r>
              <a:rPr sz="2300" spc="-1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growth.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3870" y="8091917"/>
            <a:ext cx="16892905" cy="408305"/>
          </a:xfrm>
          <a:prstGeom prst="rect">
            <a:avLst/>
          </a:prstGeom>
          <a:solidFill>
            <a:srgbClr val="1A2334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2200" b="1" dirty="0">
                <a:solidFill>
                  <a:srgbClr val="DDE1DF"/>
                </a:solidFill>
                <a:latin typeface="Arial"/>
                <a:cs typeface="Arial"/>
              </a:rPr>
              <a:t>Strategic</a:t>
            </a:r>
            <a:r>
              <a:rPr sz="2200" b="1" spc="19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DDE1DF"/>
                </a:solidFill>
                <a:latin typeface="Arial"/>
                <a:cs typeface="Arial"/>
              </a:rPr>
              <a:t>Insight:</a:t>
            </a:r>
            <a:r>
              <a:rPr sz="2200" b="1" spc="22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The</a:t>
            </a:r>
            <a:r>
              <a:rPr sz="2300" spc="204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data</a:t>
            </a:r>
            <a:r>
              <a:rPr sz="2300" spc="14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lifecycle</a:t>
            </a:r>
            <a:r>
              <a:rPr sz="2300" spc="229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transition</a:t>
            </a:r>
            <a:r>
              <a:rPr sz="2300" spc="2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DDE1DF"/>
                </a:solidFill>
                <a:latin typeface="Arial"/>
                <a:cs typeface="Arial"/>
              </a:rPr>
              <a:t>from</a:t>
            </a:r>
            <a:r>
              <a:rPr sz="2300" spc="1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DDE1DF"/>
                </a:solidFill>
                <a:latin typeface="Arial"/>
                <a:cs typeface="Arial"/>
              </a:rPr>
              <a:t>fragmented</a:t>
            </a:r>
            <a:r>
              <a:rPr sz="2300" spc="2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raw</a:t>
            </a:r>
            <a:r>
              <a:rPr sz="2300" spc="31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sources</a:t>
            </a:r>
            <a:r>
              <a:rPr sz="2300" spc="3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to</a:t>
            </a:r>
            <a:r>
              <a:rPr sz="2300" spc="2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</a:t>
            </a:r>
            <a:r>
              <a:rPr sz="2300" spc="5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cleaned,</a:t>
            </a:r>
            <a:r>
              <a:rPr sz="2300" spc="18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actionable</a:t>
            </a:r>
            <a:r>
              <a:rPr sz="2300" spc="41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dashboard</a:t>
            </a:r>
            <a:r>
              <a:rPr sz="2300" spc="254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has</a:t>
            </a:r>
            <a:r>
              <a:rPr sz="2300" spc="2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DDE1DF"/>
                </a:solidFill>
                <a:latin typeface="Arial"/>
                <a:cs typeface="Arial"/>
              </a:rPr>
              <a:t>revealed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12301" y="8548666"/>
            <a:ext cx="12223115" cy="397510"/>
          </a:xfrm>
          <a:custGeom>
            <a:avLst/>
            <a:gdLst/>
            <a:ahLst/>
            <a:cxnLst/>
            <a:rect l="l" t="t" r="r" b="b"/>
            <a:pathLst>
              <a:path w="12223115" h="397509">
                <a:moveTo>
                  <a:pt x="12222879" y="397509"/>
                </a:moveTo>
                <a:lnTo>
                  <a:pt x="0" y="397509"/>
                </a:lnTo>
                <a:lnTo>
                  <a:pt x="0" y="0"/>
                </a:lnTo>
                <a:lnTo>
                  <a:pt x="12222879" y="0"/>
                </a:lnTo>
                <a:lnTo>
                  <a:pt x="12222879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99602" y="8547488"/>
            <a:ext cx="1229169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high-margin</a:t>
            </a:r>
            <a:r>
              <a:rPr sz="2300" spc="3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DDE1DF"/>
                </a:solidFill>
                <a:latin typeface="Arial"/>
                <a:cs typeface="Arial"/>
              </a:rPr>
              <a:t>opportunities</a:t>
            </a:r>
            <a:r>
              <a:rPr sz="2300" spc="3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DDE1DF"/>
                </a:solidFill>
                <a:latin typeface="Arial"/>
                <a:cs typeface="Arial"/>
              </a:rPr>
              <a:t>in</a:t>
            </a:r>
            <a:r>
              <a:rPr sz="2300" spc="11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Stationery</a:t>
            </a:r>
            <a:r>
              <a:rPr sz="2300" spc="27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and</a:t>
            </a:r>
            <a:r>
              <a:rPr sz="2300" spc="12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Electronics</a:t>
            </a:r>
            <a:r>
              <a:rPr sz="2300" spc="34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previously</a:t>
            </a:r>
            <a:r>
              <a:rPr sz="2300" spc="36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DDE1DF"/>
                </a:solidFill>
                <a:latin typeface="Arial"/>
                <a:cs typeface="Arial"/>
              </a:rPr>
              <a:t>obscured</a:t>
            </a:r>
            <a:r>
              <a:rPr sz="2300" spc="18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DDE1DF"/>
                </a:solidFill>
                <a:latin typeface="Arial"/>
                <a:cs typeface="Arial"/>
              </a:rPr>
              <a:t>by</a:t>
            </a:r>
            <a:r>
              <a:rPr sz="2300" spc="10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data</a:t>
            </a:r>
            <a:r>
              <a:rPr sz="2300" spc="1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DDE1DF"/>
                </a:solidFill>
                <a:latin typeface="Arial"/>
                <a:cs typeface="Arial"/>
              </a:rPr>
              <a:t>noise.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7225" y="1055331"/>
            <a:ext cx="519118" cy="4724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259792" y="7418315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9792" y="5622819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94828" y="7418315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94828" y="5622819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61737" y="948134"/>
            <a:ext cx="94449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10" dirty="0">
                <a:solidFill>
                  <a:srgbClr val="151D2D"/>
                </a:solidFill>
              </a:rPr>
              <a:t>DATA</a:t>
            </a:r>
            <a:r>
              <a:rPr spc="550" dirty="0">
                <a:solidFill>
                  <a:srgbClr val="151D2D"/>
                </a:solidFill>
              </a:rPr>
              <a:t> </a:t>
            </a:r>
            <a:r>
              <a:rPr spc="285" dirty="0">
                <a:solidFill>
                  <a:srgbClr val="151D2D"/>
                </a:solidFill>
              </a:rPr>
              <a:t>CLEANING</a:t>
            </a:r>
            <a:r>
              <a:rPr spc="565" dirty="0">
                <a:solidFill>
                  <a:srgbClr val="151D2D"/>
                </a:solidFill>
              </a:rPr>
              <a:t> </a:t>
            </a:r>
            <a:r>
              <a:rPr spc="320" dirty="0">
                <a:solidFill>
                  <a:srgbClr val="151D2D"/>
                </a:solidFill>
              </a:rPr>
              <a:t>&amp;</a:t>
            </a:r>
            <a:r>
              <a:rPr spc="465" dirty="0">
                <a:solidFill>
                  <a:srgbClr val="151D2D"/>
                </a:solidFill>
              </a:rPr>
              <a:t> </a:t>
            </a:r>
            <a:r>
              <a:rPr spc="200" dirty="0">
                <a:solidFill>
                  <a:srgbClr val="151D2D"/>
                </a:solidFill>
              </a:rPr>
              <a:t>TRANSFOR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78701" y="948134"/>
            <a:ext cx="19983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15" dirty="0">
                <a:solidFill>
                  <a:srgbClr val="151D2D"/>
                </a:solidFill>
                <a:latin typeface="Arial"/>
                <a:cs typeface="Arial"/>
              </a:rPr>
              <a:t>ATION</a:t>
            </a:r>
            <a:endParaRPr sz="4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1843" y="3609877"/>
            <a:ext cx="30372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70" dirty="0">
                <a:solidFill>
                  <a:srgbClr val="151D2D"/>
                </a:solidFill>
                <a:latin typeface="Arial"/>
                <a:cs typeface="Arial"/>
              </a:rPr>
              <a:t>Normalization</a:t>
            </a:r>
            <a:r>
              <a:rPr sz="2100" b="1" spc="-100" dirty="0">
                <a:solidFill>
                  <a:srgbClr val="151D2D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51D2D"/>
                </a:solidFill>
                <a:latin typeface="Arial"/>
                <a:cs typeface="Arial"/>
              </a:rPr>
              <a:t>Protocol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0314" y="4156400"/>
            <a:ext cx="1088453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To</a:t>
            </a:r>
            <a:r>
              <a:rPr sz="2300" spc="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ensure</a:t>
            </a:r>
            <a:r>
              <a:rPr sz="2300" spc="1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dashboard</a:t>
            </a:r>
            <a:r>
              <a:rPr sz="2300" spc="1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accuracy,</a:t>
            </a:r>
            <a:r>
              <a:rPr sz="2300" spc="12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D5B6E"/>
                </a:solidFill>
                <a:latin typeface="Arial"/>
                <a:cs typeface="Arial"/>
              </a:rPr>
              <a:t>strict</a:t>
            </a:r>
            <a:r>
              <a:rPr sz="2300" spc="11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data</a:t>
            </a:r>
            <a:r>
              <a:rPr sz="2300" spc="5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cleaning</a:t>
            </a:r>
            <a:r>
              <a:rPr sz="2300" spc="1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D5B6E"/>
                </a:solidFill>
                <a:latin typeface="Arial"/>
                <a:cs typeface="Arial"/>
              </a:rPr>
              <a:t>protocol</a:t>
            </a:r>
            <a:r>
              <a:rPr sz="2300" spc="1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was</a:t>
            </a:r>
            <a:r>
              <a:rPr sz="2300" spc="14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D5B6E"/>
                </a:solidFill>
                <a:latin typeface="Arial"/>
                <a:cs typeface="Arial"/>
              </a:rPr>
              <a:t>implemented,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resulting</a:t>
            </a:r>
            <a:r>
              <a:rPr sz="2300" spc="-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in</a:t>
            </a:r>
            <a:r>
              <a:rPr sz="2300" spc="4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D5B6E"/>
                </a:solidFill>
                <a:latin typeface="Arial"/>
                <a:cs typeface="Arial"/>
              </a:rPr>
              <a:t>a</a:t>
            </a:r>
            <a:r>
              <a:rPr sz="2300" spc="-1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100%</a:t>
            </a:r>
            <a:r>
              <a:rPr sz="2300" spc="16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D5B6E"/>
                </a:solidFill>
                <a:latin typeface="Arial"/>
                <a:cs typeface="Arial"/>
              </a:rPr>
              <a:t>reduction</a:t>
            </a:r>
            <a:r>
              <a:rPr sz="2300" spc="10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in</a:t>
            </a:r>
            <a:r>
              <a:rPr sz="2300" spc="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"Unknown</a:t>
            </a:r>
            <a:r>
              <a:rPr sz="2300" spc="16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D5B6E"/>
                </a:solidFill>
                <a:latin typeface="Arial"/>
                <a:cs typeface="Arial"/>
              </a:rPr>
              <a:t>User"</a:t>
            </a:r>
            <a:r>
              <a:rPr sz="2300" spc="10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D5B6E"/>
                </a:solidFill>
                <a:latin typeface="Arial"/>
                <a:cs typeface="Arial"/>
              </a:rPr>
              <a:t>artifacts.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892" y="5625871"/>
            <a:ext cx="88391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-6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8001" y="6125931"/>
            <a:ext cx="551688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33700"/>
              </a:lnSpc>
              <a:spcBef>
                <a:spcPts val="100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Removal</a:t>
            </a:r>
            <a:r>
              <a:rPr sz="1700" spc="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2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100" dirty="0">
                <a:solidFill>
                  <a:srgbClr val="4D5B6E"/>
                </a:solidFill>
                <a:latin typeface="Arial"/>
                <a:cs typeface="Arial"/>
              </a:rPr>
              <a:t>empty</a:t>
            </a:r>
            <a:r>
              <a:rPr sz="1700" spc="6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rows/columns</a:t>
            </a:r>
            <a:r>
              <a:rPr sz="1700" spc="23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and</a:t>
            </a:r>
            <a:r>
              <a:rPr sz="1700" spc="10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duplicate</a:t>
            </a:r>
            <a:r>
              <a:rPr sz="1700" spc="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4D5B6E"/>
                </a:solidFill>
                <a:latin typeface="Arial"/>
                <a:cs typeface="Arial"/>
              </a:rPr>
              <a:t>Order </a:t>
            </a:r>
            <a:r>
              <a:rPr sz="1700" spc="-20" dirty="0">
                <a:solidFill>
                  <a:srgbClr val="4D5B6E"/>
                </a:solidFill>
                <a:latin typeface="Arial"/>
                <a:cs typeface="Arial"/>
              </a:rPr>
              <a:t>IDs.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0892" y="7421367"/>
            <a:ext cx="89471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2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3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9437" y="7921428"/>
            <a:ext cx="521589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33700"/>
              </a:lnSpc>
              <a:spcBef>
                <a:spcPts val="100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Calculated</a:t>
            </a:r>
            <a:r>
              <a:rPr sz="1700" spc="37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field</a:t>
            </a:r>
            <a:r>
              <a:rPr sz="1700" spc="254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generation</a:t>
            </a:r>
            <a:r>
              <a:rPr sz="1700" spc="22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for</a:t>
            </a:r>
            <a:r>
              <a:rPr sz="1700" spc="33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Revenue,</a:t>
            </a:r>
            <a:r>
              <a:rPr sz="1700" spc="24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Cost,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4D5B6E"/>
                </a:solidFill>
                <a:latin typeface="Arial"/>
                <a:cs typeface="Arial"/>
              </a:rPr>
              <a:t>and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Profit</a:t>
            </a:r>
            <a:r>
              <a:rPr sz="1700" spc="3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40" dirty="0">
                <a:solidFill>
                  <a:srgbClr val="4D5B6E"/>
                </a:solidFill>
                <a:latin typeface="Arial"/>
                <a:cs typeface="Arial"/>
              </a:rPr>
              <a:t>margins.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55927" y="5625871"/>
            <a:ext cx="90614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114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51011" y="6125931"/>
            <a:ext cx="530098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33700"/>
              </a:lnSpc>
              <a:spcBef>
                <a:spcPts val="100"/>
              </a:spcBef>
            </a:pPr>
            <a:r>
              <a:rPr sz="1700" spc="65" dirty="0">
                <a:solidFill>
                  <a:srgbClr val="4D5B6E"/>
                </a:solidFill>
                <a:latin typeface="Arial"/>
                <a:cs typeface="Arial"/>
              </a:rPr>
              <a:t>Standardization</a:t>
            </a:r>
            <a:r>
              <a:rPr sz="1700" spc="-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3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4D5B6E"/>
                </a:solidFill>
                <a:latin typeface="Arial"/>
                <a:cs typeface="Arial"/>
              </a:rPr>
              <a:t>product</a:t>
            </a:r>
            <a:r>
              <a:rPr sz="1700" spc="114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categories</a:t>
            </a:r>
            <a:r>
              <a:rPr sz="1700" spc="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and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D5B6E"/>
                </a:solidFill>
                <a:latin typeface="Arial"/>
                <a:cs typeface="Arial"/>
              </a:rPr>
              <a:t>regional identifiers.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55927" y="7421367"/>
            <a:ext cx="89979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6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64339" y="8008053"/>
            <a:ext cx="5114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Validation</a:t>
            </a:r>
            <a:r>
              <a:rPr sz="1700" spc="15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22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target</a:t>
            </a:r>
            <a:r>
              <a:rPr sz="1700" spc="1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4D5B6E"/>
                </a:solidFill>
                <a:latin typeface="Arial"/>
                <a:cs typeface="Arial"/>
              </a:rPr>
              <a:t>vs.</a:t>
            </a:r>
            <a:r>
              <a:rPr sz="1700" spc="3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actual</a:t>
            </a:r>
            <a:r>
              <a:rPr sz="1700" spc="7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achievement</a:t>
            </a:r>
            <a:r>
              <a:rPr sz="1700" spc="40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D5B6E"/>
                </a:solidFill>
                <a:latin typeface="Arial"/>
                <a:cs typeface="Arial"/>
              </a:rPr>
              <a:t>ratios.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36296" y="0"/>
            <a:ext cx="10067925" cy="11277600"/>
            <a:chOff x="10036296" y="0"/>
            <a:chExt cx="10067925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36296" y="315084"/>
              <a:ext cx="10067803" cy="109619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59886" y="0"/>
              <a:ext cx="15875" cy="315595"/>
            </a:xfrm>
            <a:custGeom>
              <a:avLst/>
              <a:gdLst/>
              <a:ahLst/>
              <a:cxnLst/>
              <a:rect l="l" t="t" r="r" b="b"/>
              <a:pathLst>
                <a:path w="15875" h="315595">
                  <a:moveTo>
                    <a:pt x="15730" y="315083"/>
                  </a:moveTo>
                  <a:lnTo>
                    <a:pt x="0" y="315083"/>
                  </a:lnTo>
                  <a:lnTo>
                    <a:pt x="0" y="0"/>
                  </a:lnTo>
                  <a:lnTo>
                    <a:pt x="15730" y="0"/>
                  </a:lnTo>
                  <a:lnTo>
                    <a:pt x="15730" y="315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973116" y="4748946"/>
              <a:ext cx="180975" cy="135890"/>
            </a:xfrm>
            <a:custGeom>
              <a:avLst/>
              <a:gdLst/>
              <a:ahLst/>
              <a:cxnLst/>
              <a:rect l="l" t="t" r="r" b="b"/>
              <a:pathLst>
                <a:path w="180975" h="135889">
                  <a:moveTo>
                    <a:pt x="180904" y="135366"/>
                  </a:moveTo>
                  <a:lnTo>
                    <a:pt x="0" y="135366"/>
                  </a:lnTo>
                  <a:lnTo>
                    <a:pt x="0" y="0"/>
                  </a:lnTo>
                  <a:lnTo>
                    <a:pt x="180904" y="0"/>
                  </a:lnTo>
                  <a:lnTo>
                    <a:pt x="180904" y="135366"/>
                  </a:lnTo>
                  <a:close/>
                </a:path>
              </a:pathLst>
            </a:custGeom>
            <a:solidFill>
              <a:srgbClr val="E4E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21272" y="1817534"/>
            <a:ext cx="7670800" cy="16850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 algn="ctr">
              <a:lnSpc>
                <a:spcPct val="118400"/>
              </a:lnSpc>
              <a:spcBef>
                <a:spcPts val="100"/>
              </a:spcBef>
              <a:tabLst>
                <a:tab pos="4580890" algn="l"/>
              </a:tabLst>
            </a:pPr>
            <a:r>
              <a:rPr sz="4800" spc="170" dirty="0">
                <a:solidFill>
                  <a:srgbClr val="0C1A28"/>
                </a:solidFill>
              </a:rPr>
              <a:t>THE</a:t>
            </a:r>
            <a:r>
              <a:rPr sz="4800" spc="360" dirty="0">
                <a:solidFill>
                  <a:srgbClr val="0C1A28"/>
                </a:solidFill>
              </a:rPr>
              <a:t> </a:t>
            </a:r>
            <a:r>
              <a:rPr sz="4800" spc="195" dirty="0">
                <a:solidFill>
                  <a:srgbClr val="0C1A28"/>
                </a:solidFill>
              </a:rPr>
              <a:t>CENTRA</a:t>
            </a:r>
            <a:r>
              <a:rPr lang="en-IN" sz="4800" spc="195" dirty="0">
                <a:solidFill>
                  <a:srgbClr val="0C1A28"/>
                </a:solidFill>
              </a:rPr>
              <a:t>LIZED DASHBOARD</a:t>
            </a:r>
            <a:endParaRPr sz="4800" spc="204" dirty="0">
              <a:solidFill>
                <a:srgbClr val="0C1A28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376" y="4156400"/>
            <a:ext cx="785749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Our</a:t>
            </a:r>
            <a:r>
              <a:rPr sz="2300" spc="1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interactive</a:t>
            </a:r>
            <a:r>
              <a:rPr sz="2300" spc="3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hub</a:t>
            </a:r>
            <a:r>
              <a:rPr sz="23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serves</a:t>
            </a:r>
            <a:r>
              <a:rPr sz="2300" spc="2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as</a:t>
            </a:r>
            <a:r>
              <a:rPr sz="2300" spc="1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300" spc="1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primary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intelligence </a:t>
            </a:r>
            <a:r>
              <a:rPr sz="2300" spc="60" dirty="0">
                <a:solidFill>
                  <a:srgbClr val="44566E"/>
                </a:solidFill>
                <a:latin typeface="Arial"/>
                <a:cs typeface="Arial"/>
              </a:rPr>
              <a:t>center</a:t>
            </a:r>
            <a:r>
              <a:rPr sz="2300" spc="2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management,</a:t>
            </a:r>
            <a:r>
              <a:rPr sz="2300" spc="3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allowing</a:t>
            </a:r>
            <a:r>
              <a:rPr sz="2300" spc="1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granular</a:t>
            </a:r>
            <a:r>
              <a:rPr sz="2300" spc="3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slicer-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based </a:t>
            </a:r>
            <a:r>
              <a:rPr sz="2300" spc="60" dirty="0">
                <a:solidFill>
                  <a:srgbClr val="44566E"/>
                </a:solidFill>
                <a:latin typeface="Arial"/>
                <a:cs typeface="Arial"/>
              </a:rPr>
              <a:t>filtering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across</a:t>
            </a:r>
            <a:r>
              <a:rPr sz="23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Regions</a:t>
            </a:r>
            <a:r>
              <a:rPr sz="2300" spc="2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Product</a:t>
            </a:r>
            <a:r>
              <a:rPr sz="23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Categories.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4775" y="6389744"/>
            <a:ext cx="781939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13690" algn="l"/>
              </a:tabLst>
            </a:pP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Real-</a:t>
            </a:r>
            <a:r>
              <a:rPr sz="2150" b="1" spc="50" dirty="0">
                <a:solidFill>
                  <a:srgbClr val="44566E"/>
                </a:solidFill>
                <a:latin typeface="Arial"/>
                <a:cs typeface="Arial"/>
              </a:rPr>
              <a:t>time</a:t>
            </a:r>
            <a:r>
              <a:rPr lang="en-IN" sz="2150" b="1" spc="3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Tracking:</a:t>
            </a:r>
            <a:r>
              <a:rPr sz="2150" b="1" spc="1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Instant</a:t>
            </a:r>
            <a:r>
              <a:rPr sz="2300" spc="28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visibility</a:t>
            </a:r>
            <a:r>
              <a:rPr sz="2300" spc="2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into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300" spc="2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$98.7K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2640" y="6755143"/>
            <a:ext cx="7101840" cy="22777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810"/>
              </a:spcBef>
            </a:pP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revenue</a:t>
            </a:r>
            <a:r>
              <a:rPr sz="23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milestone.</a:t>
            </a:r>
            <a:endParaRPr sz="2300">
              <a:latin typeface="Arial"/>
              <a:cs typeface="Arial"/>
            </a:endParaRPr>
          </a:p>
          <a:p>
            <a:pPr marL="303530" marR="5080" indent="-291465">
              <a:lnSpc>
                <a:spcPts val="3600"/>
              </a:lnSpc>
              <a:spcBef>
                <a:spcPts val="135"/>
              </a:spcBef>
              <a:buChar char="•"/>
              <a:tabLst>
                <a:tab pos="303530" algn="l"/>
                <a:tab pos="305435" algn="l"/>
              </a:tabLst>
            </a:pPr>
            <a:r>
              <a:rPr sz="2150" dirty="0">
                <a:solidFill>
                  <a:srgbClr val="44566E"/>
                </a:solidFill>
                <a:latin typeface="Arial"/>
                <a:cs typeface="Arial"/>
              </a:rPr>
              <a:t>	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Regional</a:t>
            </a:r>
            <a:r>
              <a:rPr sz="2150" b="1" spc="2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Slicers:</a:t>
            </a:r>
            <a:r>
              <a:rPr sz="2150" b="1" spc="1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Dynamic</a:t>
            </a:r>
            <a:r>
              <a:rPr sz="2300" spc="2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updates</a:t>
            </a:r>
            <a:r>
              <a:rPr sz="2300" spc="3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East,</a:t>
            </a:r>
            <a:r>
              <a:rPr sz="2300" spc="1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West, </a:t>
            </a:r>
            <a:r>
              <a:rPr sz="2300" spc="65" dirty="0">
                <a:solidFill>
                  <a:srgbClr val="44566E"/>
                </a:solidFill>
                <a:latin typeface="Arial"/>
                <a:cs typeface="Arial"/>
              </a:rPr>
              <a:t>North,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South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E"/>
                </a:solidFill>
                <a:latin typeface="Arial"/>
                <a:cs typeface="Arial"/>
              </a:rPr>
              <a:t>segments.</a:t>
            </a:r>
            <a:endParaRPr sz="2300">
              <a:latin typeface="Arial"/>
              <a:cs typeface="Arial"/>
            </a:endParaRPr>
          </a:p>
          <a:p>
            <a:pPr marL="304800" indent="-2921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04800" algn="l"/>
              </a:tabLst>
            </a:pP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Category</a:t>
            </a:r>
            <a:r>
              <a:rPr sz="2150" b="1" spc="3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Drill-</a:t>
            </a:r>
            <a:r>
              <a:rPr sz="2150" b="1" spc="75" dirty="0">
                <a:solidFill>
                  <a:srgbClr val="44566E"/>
                </a:solidFill>
                <a:latin typeface="Arial"/>
                <a:cs typeface="Arial"/>
              </a:rPr>
              <a:t>down:</a:t>
            </a:r>
            <a:r>
              <a:rPr sz="2150" b="1" spc="2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Analysis</a:t>
            </a:r>
            <a:r>
              <a:rPr sz="2300" spc="3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across</a:t>
            </a:r>
            <a:r>
              <a:rPr sz="23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Electronics,</a:t>
            </a:r>
            <a:endParaRPr sz="23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40"/>
              </a:spcBef>
            </a:pP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Furniture,</a:t>
            </a:r>
            <a:r>
              <a:rPr sz="23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229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Stationery.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60419" y="4735998"/>
            <a:ext cx="22352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55" dirty="0">
                <a:solidFill>
                  <a:srgbClr val="B3B8C4"/>
                </a:solidFill>
                <a:latin typeface="Arial"/>
                <a:cs typeface="Arial"/>
              </a:rPr>
              <a:t>1a10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96323" y="4744647"/>
            <a:ext cx="661035" cy="102870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ts val="770"/>
              </a:lnSpc>
              <a:spcBef>
                <a:spcPts val="35"/>
              </a:spcBef>
            </a:pPr>
            <a:r>
              <a:rPr sz="800" spc="-40" dirty="0">
                <a:solidFill>
                  <a:srgbClr val="B3B8C4"/>
                </a:solidFill>
                <a:latin typeface="Arial"/>
                <a:cs typeface="Arial"/>
              </a:rPr>
              <a:t>--</a:t>
            </a:r>
            <a:r>
              <a:rPr sz="800" spc="-50" dirty="0">
                <a:solidFill>
                  <a:srgbClr val="B3B8C4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72115" y="4847022"/>
            <a:ext cx="272415" cy="131445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800" i="1" spc="-35" dirty="0">
                <a:solidFill>
                  <a:srgbClr val="B3B8C4"/>
                </a:solidFill>
                <a:latin typeface="Arial"/>
                <a:cs typeface="Arial"/>
              </a:rPr>
              <a:t>2000s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57019" y="4847022"/>
            <a:ext cx="361315" cy="131445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800" spc="425" dirty="0">
                <a:solidFill>
                  <a:srgbClr val="B3B8C4"/>
                </a:solidFill>
                <a:latin typeface="Arial"/>
                <a:cs typeface="Arial"/>
              </a:rPr>
              <a:t>---</a:t>
            </a:r>
            <a:r>
              <a:rPr sz="800" spc="375" dirty="0">
                <a:solidFill>
                  <a:srgbClr val="B3B8C4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56407" y="4978067"/>
            <a:ext cx="261620" cy="127000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4"/>
              </a:lnSpc>
            </a:pPr>
            <a:r>
              <a:rPr sz="800" i="1" spc="-20" dirty="0">
                <a:solidFill>
                  <a:srgbClr val="B3B8C4"/>
                </a:solidFill>
                <a:latin typeface="Arial"/>
                <a:cs typeface="Arial"/>
              </a:rPr>
              <a:t>2009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2396" y="5095445"/>
            <a:ext cx="102235" cy="135890"/>
          </a:xfrm>
          <a:custGeom>
            <a:avLst/>
            <a:gdLst/>
            <a:ahLst/>
            <a:cxnLst/>
            <a:rect l="l" t="t" r="r" b="b"/>
            <a:pathLst>
              <a:path w="102234" h="135889">
                <a:moveTo>
                  <a:pt x="101703" y="135366"/>
                </a:moveTo>
                <a:lnTo>
                  <a:pt x="0" y="135366"/>
                </a:lnTo>
                <a:lnTo>
                  <a:pt x="0" y="0"/>
                </a:lnTo>
                <a:lnTo>
                  <a:pt x="101703" y="0"/>
                </a:lnTo>
                <a:lnTo>
                  <a:pt x="101703" y="135366"/>
                </a:lnTo>
                <a:close/>
              </a:path>
            </a:pathLst>
          </a:custGeom>
          <a:solidFill>
            <a:srgbClr val="E4E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989710" y="5082497"/>
            <a:ext cx="14859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25" dirty="0">
                <a:solidFill>
                  <a:srgbClr val="B3B8C4"/>
                </a:solidFill>
                <a:latin typeface="Arial"/>
                <a:cs typeface="Arial"/>
              </a:rPr>
              <a:t>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421444" y="7056315"/>
            <a:ext cx="47625" cy="135890"/>
          </a:xfrm>
          <a:custGeom>
            <a:avLst/>
            <a:gdLst/>
            <a:ahLst/>
            <a:cxnLst/>
            <a:rect l="l" t="t" r="r" b="b"/>
            <a:pathLst>
              <a:path w="47625" h="135890">
                <a:moveTo>
                  <a:pt x="47192" y="135366"/>
                </a:moveTo>
                <a:lnTo>
                  <a:pt x="0" y="135366"/>
                </a:lnTo>
                <a:lnTo>
                  <a:pt x="0" y="0"/>
                </a:lnTo>
                <a:lnTo>
                  <a:pt x="47192" y="0"/>
                </a:lnTo>
                <a:lnTo>
                  <a:pt x="47192" y="135366"/>
                </a:lnTo>
                <a:close/>
              </a:path>
            </a:pathLst>
          </a:custGeom>
          <a:solidFill>
            <a:srgbClr val="E4E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408756" y="7043367"/>
            <a:ext cx="863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50" dirty="0">
                <a:solidFill>
                  <a:srgbClr val="B3B8C4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89978" y="3512327"/>
            <a:ext cx="5380355" cy="5513070"/>
            <a:chOff x="2689978" y="3512327"/>
            <a:chExt cx="5380355" cy="5513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9978" y="3512327"/>
              <a:ext cx="5379956" cy="55124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7450" y="5859071"/>
              <a:ext cx="314617" cy="53549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61027" y="3748576"/>
            <a:ext cx="298886" cy="299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61027" y="4425824"/>
            <a:ext cx="298886" cy="299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61027" y="5355072"/>
            <a:ext cx="298886" cy="31499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61737" y="948134"/>
            <a:ext cx="1113282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504565" algn="l"/>
              </a:tabLst>
            </a:pPr>
            <a:r>
              <a:rPr spc="245" dirty="0">
                <a:solidFill>
                  <a:srgbClr val="0F1A2A"/>
                </a:solidFill>
              </a:rPr>
              <a:t>REGIONAL</a:t>
            </a:r>
            <a:r>
              <a:rPr dirty="0">
                <a:solidFill>
                  <a:srgbClr val="0F1A2A"/>
                </a:solidFill>
              </a:rPr>
              <a:t>	</a:t>
            </a:r>
            <a:r>
              <a:rPr spc="210" dirty="0">
                <a:solidFill>
                  <a:srgbClr val="0F1A2A"/>
                </a:solidFill>
              </a:rPr>
              <a:t>REVENUE</a:t>
            </a:r>
            <a:r>
              <a:rPr spc="490" dirty="0">
                <a:solidFill>
                  <a:srgbClr val="0F1A2A"/>
                </a:solidFill>
              </a:rPr>
              <a:t> </a:t>
            </a:r>
            <a:r>
              <a:rPr spc="270" dirty="0">
                <a:solidFill>
                  <a:srgbClr val="0F1A2A"/>
                </a:solidFill>
              </a:rPr>
              <a:t>DISTRIBUTION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60098" y="5655272"/>
            <a:ext cx="1694814" cy="109410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875"/>
              </a:spcBef>
            </a:pPr>
            <a:r>
              <a:rPr sz="4450" b="1" spc="-10" dirty="0">
                <a:solidFill>
                  <a:srgbClr val="0F1A2A"/>
                </a:solidFill>
                <a:latin typeface="Arial"/>
                <a:cs typeface="Arial"/>
              </a:rPr>
              <a:t>98.7K</a:t>
            </a:r>
            <a:endParaRPr sz="4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50" spc="55" dirty="0">
                <a:solidFill>
                  <a:srgbClr val="808EA1"/>
                </a:solidFill>
                <a:latin typeface="Arial"/>
                <a:cs typeface="Arial"/>
              </a:rPr>
              <a:t>TOTAL </a:t>
            </a:r>
            <a:r>
              <a:rPr sz="1650" spc="-10" dirty="0">
                <a:solidFill>
                  <a:srgbClr val="808EA1"/>
                </a:solidFill>
                <a:latin typeface="Arial"/>
                <a:cs typeface="Arial"/>
              </a:rPr>
              <a:t>SALES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94828" y="3692564"/>
            <a:ext cx="150304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dirty="0">
                <a:solidFill>
                  <a:srgbClr val="44576E"/>
                </a:solidFill>
                <a:latin typeface="Arial"/>
                <a:cs typeface="Arial"/>
              </a:rPr>
              <a:t>East</a:t>
            </a:r>
            <a:r>
              <a:rPr sz="2100" b="1" spc="29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100" b="1" spc="125" dirty="0">
                <a:solidFill>
                  <a:srgbClr val="44576E"/>
                </a:solidFill>
                <a:latin typeface="Arial"/>
                <a:cs typeface="Arial"/>
              </a:rPr>
              <a:t>(27%)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20616" y="3672877"/>
            <a:ext cx="554926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7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5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Highest</a:t>
            </a:r>
            <a:r>
              <a:rPr sz="2300" spc="1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revenue</a:t>
            </a:r>
            <a:r>
              <a:rPr sz="2300" spc="18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contributor</a:t>
            </a:r>
            <a:r>
              <a:rPr sz="2300" spc="24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at</a:t>
            </a:r>
            <a:r>
              <a:rPr sz="2300" spc="114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-</a:t>
            </a:r>
            <a:r>
              <a:rPr sz="2300" spc="90" dirty="0">
                <a:solidFill>
                  <a:srgbClr val="44576E"/>
                </a:solidFill>
                <a:latin typeface="Arial"/>
                <a:cs typeface="Arial"/>
              </a:rPr>
              <a:t>$26.6K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98095" y="4385562"/>
            <a:ext cx="161036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100" dirty="0">
                <a:solidFill>
                  <a:srgbClr val="44576E"/>
                </a:solidFill>
                <a:latin typeface="Arial"/>
                <a:cs typeface="Arial"/>
              </a:rPr>
              <a:t>West </a:t>
            </a:r>
            <a:r>
              <a:rPr sz="2100" b="1" spc="125" dirty="0">
                <a:solidFill>
                  <a:srgbClr val="44576E"/>
                </a:solidFill>
                <a:latin typeface="Arial"/>
                <a:cs typeface="Arial"/>
              </a:rPr>
              <a:t>(27%)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30726" y="4365874"/>
            <a:ext cx="610997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7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Equal</a:t>
            </a:r>
            <a:r>
              <a:rPr sz="2300" spc="-3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lead</a:t>
            </a:r>
            <a:r>
              <a:rPr sz="2300" spc="4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with</a:t>
            </a:r>
            <a:r>
              <a:rPr sz="2300" spc="1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East,</a:t>
            </a:r>
            <a:r>
              <a:rPr sz="2300" spc="-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focused </a:t>
            </a:r>
            <a:r>
              <a:rPr sz="2300" spc="85" dirty="0">
                <a:solidFill>
                  <a:srgbClr val="44576E"/>
                </a:solidFill>
                <a:latin typeface="Arial"/>
                <a:cs typeface="Arial"/>
              </a:rPr>
              <a:t>on</a:t>
            </a:r>
            <a:r>
              <a:rPr sz="2300" spc="-4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76E"/>
                </a:solidFill>
                <a:latin typeface="Arial"/>
                <a:cs typeface="Arial"/>
              </a:rPr>
              <a:t>Electronics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94828" y="4971462"/>
            <a:ext cx="857250" cy="907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034" marR="5080" indent="-13970">
              <a:lnSpc>
                <a:spcPct val="137800"/>
              </a:lnSpc>
              <a:spcBef>
                <a:spcPts val="90"/>
              </a:spcBef>
            </a:pPr>
            <a:r>
              <a:rPr sz="2100" b="1" spc="70" dirty="0">
                <a:solidFill>
                  <a:srgbClr val="44576E"/>
                </a:solidFill>
                <a:latin typeface="Arial"/>
                <a:cs typeface="Arial"/>
              </a:rPr>
              <a:t>North </a:t>
            </a:r>
            <a:r>
              <a:rPr sz="2100" b="1" spc="150" dirty="0">
                <a:solidFill>
                  <a:srgbClr val="44576E"/>
                </a:solidFill>
                <a:latin typeface="Arial"/>
                <a:cs typeface="Arial"/>
              </a:rPr>
              <a:t>(23%)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23346" y="4959649"/>
            <a:ext cx="5092700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 marR="5080" indent="-8890">
              <a:lnSpc>
                <a:spcPct val="130300"/>
              </a:lnSpc>
              <a:spcBef>
                <a:spcPts val="100"/>
              </a:spcBef>
            </a:pPr>
            <a:r>
              <a:rPr sz="2300" spc="75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300" spc="2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Emerging</a:t>
            </a:r>
            <a:r>
              <a:rPr sz="2300" spc="17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market</a:t>
            </a:r>
            <a:r>
              <a:rPr sz="2300" spc="229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with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high</a:t>
            </a:r>
            <a:r>
              <a:rPr sz="2300" spc="-10" dirty="0">
                <a:solidFill>
                  <a:srgbClr val="44576E"/>
                </a:solidFill>
                <a:latin typeface="Arial"/>
                <a:cs typeface="Arial"/>
              </a:rPr>
              <a:t> Furniture demand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97279" y="6212557"/>
            <a:ext cx="173545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55" dirty="0">
                <a:solidFill>
                  <a:srgbClr val="44576E"/>
                </a:solidFill>
                <a:latin typeface="Arial"/>
                <a:cs typeface="Arial"/>
              </a:rPr>
              <a:t>South</a:t>
            </a:r>
            <a:r>
              <a:rPr sz="2100" b="1" spc="15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100" b="1" spc="140" dirty="0">
                <a:solidFill>
                  <a:srgbClr val="44576E"/>
                </a:solidFill>
                <a:latin typeface="Arial"/>
                <a:cs typeface="Arial"/>
              </a:rPr>
              <a:t>(23%)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56572" y="6192870"/>
            <a:ext cx="552386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8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12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Stable</a:t>
            </a:r>
            <a:r>
              <a:rPr sz="2300" spc="1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76E"/>
                </a:solidFill>
                <a:latin typeface="Arial"/>
                <a:cs typeface="Arial"/>
              </a:rPr>
              <a:t>performer</a:t>
            </a:r>
            <a:r>
              <a:rPr sz="2300" spc="1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in</a:t>
            </a:r>
            <a:r>
              <a:rPr sz="2300" spc="3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Stationery</a:t>
            </a:r>
            <a:r>
              <a:rPr sz="2300" spc="16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576E"/>
                </a:solidFill>
                <a:latin typeface="Arial"/>
                <a:cs typeface="Arial"/>
              </a:rPr>
              <a:t>category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2418" y="7810390"/>
            <a:ext cx="823912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30300"/>
              </a:lnSpc>
              <a:spcBef>
                <a:spcPts val="100"/>
              </a:spcBef>
            </a:pP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Note:</a:t>
            </a:r>
            <a:r>
              <a:rPr sz="2300" i="1" spc="-3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Regional</a:t>
            </a:r>
            <a:r>
              <a:rPr sz="2300" i="1" spc="-3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parity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suggests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a</a:t>
            </a:r>
            <a:r>
              <a:rPr sz="2300" i="1" spc="-114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balanced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national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expansion </a:t>
            </a:r>
            <a:r>
              <a:rPr sz="2300" i="1" spc="50" dirty="0">
                <a:solidFill>
                  <a:srgbClr val="44576E"/>
                </a:solidFill>
                <a:latin typeface="Arial"/>
                <a:cs typeface="Arial"/>
              </a:rPr>
              <a:t>strategy</a:t>
            </a:r>
            <a:r>
              <a:rPr sz="2300" i="1" spc="26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without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over-reliance</a:t>
            </a:r>
            <a:r>
              <a:rPr sz="2300" i="1" spc="18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70" dirty="0">
                <a:solidFill>
                  <a:srgbClr val="44576E"/>
                </a:solidFill>
                <a:latin typeface="Arial"/>
                <a:cs typeface="Arial"/>
              </a:rPr>
              <a:t>on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a</a:t>
            </a:r>
            <a:r>
              <a:rPr sz="2300" i="1" spc="-1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single</a:t>
            </a:r>
            <a:r>
              <a:rPr sz="2300" i="1" spc="5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territory.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3594" y="1326712"/>
            <a:ext cx="15835400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15"/>
              </a:spcBef>
              <a:tabLst>
                <a:tab pos="9542780" algn="l"/>
              </a:tabLst>
            </a:pPr>
            <a:r>
              <a:rPr spc="140" dirty="0"/>
              <a:t>SALES</a:t>
            </a:r>
            <a:r>
              <a:rPr spc="465" dirty="0"/>
              <a:t> </a:t>
            </a:r>
            <a:r>
              <a:rPr spc="120" dirty="0"/>
              <a:t>FORCE</a:t>
            </a:r>
            <a:r>
              <a:rPr spc="400" dirty="0"/>
              <a:t> </a:t>
            </a:r>
            <a:r>
              <a:rPr spc="340" dirty="0"/>
              <a:t>PRODUCTIVITY</a:t>
            </a:r>
            <a:r>
              <a:rPr lang="en-IN" spc="340" dirty="0"/>
              <a:t> </a:t>
            </a:r>
            <a:r>
              <a:rPr spc="140" dirty="0"/>
              <a:t>LEADERBOARD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47528"/>
              </p:ext>
            </p:extLst>
          </p:nvPr>
        </p:nvGraphicFramePr>
        <p:xfrm>
          <a:off x="2660650" y="4511675"/>
          <a:ext cx="13152754" cy="1179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8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8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885">
                <a:tc>
                  <a:txBody>
                    <a:bodyPr/>
                    <a:lstStyle/>
                    <a:p>
                      <a:pPr marR="916940" algn="ctr">
                        <a:lnSpc>
                          <a:spcPts val="2090"/>
                        </a:lnSpc>
                      </a:pPr>
                      <a:r>
                        <a:rPr sz="2800" b="1" spc="75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$32K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90"/>
                        </a:lnSpc>
                      </a:pPr>
                      <a:r>
                        <a:rPr sz="2800" b="1" spc="75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$25K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2090"/>
                        </a:lnSpc>
                      </a:pPr>
                      <a:r>
                        <a:rPr sz="2800" b="1" spc="1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$20K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090"/>
                        </a:lnSpc>
                      </a:pPr>
                      <a:r>
                        <a:rPr sz="2800" b="1" spc="-2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$14K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2090"/>
                        </a:lnSpc>
                      </a:pPr>
                      <a:r>
                        <a:rPr sz="2800" b="1" spc="-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$7</a:t>
                      </a:r>
                      <a:r>
                        <a:rPr sz="2800" b="1" spc="-10" dirty="0">
                          <a:solidFill>
                            <a:srgbClr val="2F343D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2800" b="1" spc="-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7K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15">
                <a:tc>
                  <a:txBody>
                    <a:bodyPr/>
                    <a:lstStyle/>
                    <a:p>
                      <a:pPr marR="932180" algn="ct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spc="6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RahulDas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119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Sneha</a:t>
                      </a:r>
                      <a:r>
                        <a:rPr sz="2400" b="1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Roy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Amit</a:t>
                      </a:r>
                      <a:r>
                        <a:rPr sz="2400" b="1" spc="13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Paul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ts val="2025"/>
                        </a:lnSpc>
                        <a:spcBef>
                          <a:spcPts val="119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Pooja</a:t>
                      </a:r>
                      <a:r>
                        <a:rPr sz="2400" b="1" spc="14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Dey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spc="-1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Others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27965" y="8657738"/>
            <a:ext cx="1025080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7C899C"/>
                </a:solidFill>
                <a:latin typeface="Arial"/>
                <a:cs typeface="Arial"/>
              </a:rPr>
              <a:t>Top</a:t>
            </a:r>
            <a:r>
              <a:rPr sz="2300" spc="13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C899C"/>
                </a:solidFill>
                <a:latin typeface="Arial"/>
                <a:cs typeface="Arial"/>
              </a:rPr>
              <a:t>4</a:t>
            </a:r>
            <a:r>
              <a:rPr sz="2300" spc="17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7C899C"/>
                </a:solidFill>
                <a:latin typeface="Arial"/>
                <a:cs typeface="Arial"/>
              </a:rPr>
              <a:t>performers</a:t>
            </a:r>
            <a:r>
              <a:rPr sz="2300" spc="22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C899C"/>
                </a:solidFill>
                <a:latin typeface="Arial"/>
                <a:cs typeface="Arial"/>
              </a:rPr>
              <a:t>account</a:t>
            </a:r>
            <a:r>
              <a:rPr sz="2300" spc="18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7C899C"/>
                </a:solidFill>
                <a:latin typeface="Arial"/>
                <a:cs typeface="Arial"/>
              </a:rPr>
              <a:t>for</a:t>
            </a:r>
            <a:r>
              <a:rPr sz="2300" spc="8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7C899C"/>
                </a:solidFill>
                <a:latin typeface="Arial"/>
                <a:cs typeface="Arial"/>
              </a:rPr>
              <a:t>92%</a:t>
            </a:r>
            <a:r>
              <a:rPr sz="2300" spc="21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7C899C"/>
                </a:solidFill>
                <a:latin typeface="Arial"/>
                <a:cs typeface="Arial"/>
              </a:rPr>
              <a:t>of</a:t>
            </a:r>
            <a:r>
              <a:rPr sz="2300" spc="19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7C899C"/>
                </a:solidFill>
                <a:latin typeface="Arial"/>
                <a:cs typeface="Arial"/>
              </a:rPr>
              <a:t>the</a:t>
            </a:r>
            <a:r>
              <a:rPr sz="2300" spc="6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7C899C"/>
                </a:solidFill>
                <a:latin typeface="Arial"/>
                <a:cs typeface="Arial"/>
              </a:rPr>
              <a:t>total</a:t>
            </a:r>
            <a:r>
              <a:rPr sz="2300" spc="-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7C899C"/>
                </a:solidFill>
                <a:latin typeface="Arial"/>
                <a:cs typeface="Arial"/>
              </a:rPr>
              <a:t>revenue</a:t>
            </a:r>
            <a:r>
              <a:rPr sz="2300" spc="9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7C899C"/>
                </a:solidFill>
                <a:latin typeface="Arial"/>
                <a:cs typeface="Arial"/>
              </a:rPr>
              <a:t>target</a:t>
            </a:r>
            <a:r>
              <a:rPr sz="2300" spc="114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7C899C"/>
                </a:solidFill>
                <a:latin typeface="Arial"/>
                <a:cs typeface="Arial"/>
              </a:rPr>
              <a:t>achievement.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8596" y="948134"/>
            <a:ext cx="15770054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5"/>
              </a:spcBef>
              <a:tabLst>
                <a:tab pos="3782695" algn="l"/>
                <a:tab pos="7140575" algn="l"/>
              </a:tabLst>
            </a:pPr>
            <a:r>
              <a:rPr spc="265" dirty="0">
                <a:solidFill>
                  <a:srgbClr val="0E1826"/>
                </a:solidFill>
              </a:rPr>
              <a:t>CATEGORY</a:t>
            </a:r>
            <a:r>
              <a:rPr dirty="0">
                <a:solidFill>
                  <a:srgbClr val="0E1826"/>
                </a:solidFill>
              </a:rPr>
              <a:t>	</a:t>
            </a:r>
            <a:r>
              <a:rPr spc="235" dirty="0">
                <a:solidFill>
                  <a:srgbClr val="0E1826"/>
                </a:solidFill>
              </a:rPr>
              <a:t>ANALYSIS</a:t>
            </a:r>
            <a:r>
              <a:rPr dirty="0">
                <a:solidFill>
                  <a:srgbClr val="0E1826"/>
                </a:solidFill>
              </a:rPr>
              <a:t>	</a:t>
            </a:r>
            <a:endParaRPr b="0" spc="215" dirty="0">
              <a:solidFill>
                <a:srgbClr val="0E1826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1783" y="3571675"/>
            <a:ext cx="1235075" cy="397510"/>
          </a:xfrm>
          <a:custGeom>
            <a:avLst/>
            <a:gdLst/>
            <a:ahLst/>
            <a:cxnLst/>
            <a:rect l="l" t="t" r="r" b="b"/>
            <a:pathLst>
              <a:path w="1235075" h="397510">
                <a:moveTo>
                  <a:pt x="1234872" y="397509"/>
                </a:moveTo>
                <a:lnTo>
                  <a:pt x="0" y="397509"/>
                </a:lnTo>
                <a:lnTo>
                  <a:pt x="0" y="0"/>
                </a:lnTo>
                <a:lnTo>
                  <a:pt x="1234872" y="0"/>
                </a:lnTo>
                <a:lnTo>
                  <a:pt x="1234872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5784" y="3571675"/>
            <a:ext cx="1557655" cy="397510"/>
          </a:xfrm>
          <a:custGeom>
            <a:avLst/>
            <a:gdLst/>
            <a:ahLst/>
            <a:cxnLst/>
            <a:rect l="l" t="t" r="r" b="b"/>
            <a:pathLst>
              <a:path w="1557654" h="397510">
                <a:moveTo>
                  <a:pt x="1557355" y="397509"/>
                </a:moveTo>
                <a:lnTo>
                  <a:pt x="0" y="397509"/>
                </a:lnTo>
                <a:lnTo>
                  <a:pt x="0" y="0"/>
                </a:lnTo>
                <a:lnTo>
                  <a:pt x="1557355" y="0"/>
                </a:lnTo>
                <a:lnTo>
                  <a:pt x="1557355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51783" y="3571675"/>
          <a:ext cx="15449548" cy="311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45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Revenue </a:t>
                      </a: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Share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1A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65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Profitability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Top</a:t>
                      </a:r>
                      <a:r>
                        <a:rPr sz="2300" spc="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Salesperson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1A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300" spc="4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Electronics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206375" marB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1430" marR="21590">
                        <a:lnSpc>
                          <a:spcPct val="100000"/>
                        </a:lnSpc>
                      </a:pPr>
                      <a:r>
                        <a:rPr sz="2100" spc="18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42</a:t>
                      </a:r>
                      <a:r>
                        <a:rPr sz="2100" spc="185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533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270">
                        <a:lnSpc>
                          <a:spcPct val="100000"/>
                        </a:lnSpc>
                      </a:pPr>
                      <a:r>
                        <a:rPr sz="2200" b="1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200" b="1" spc="15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10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(22%)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1780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r>
                        <a:rPr sz="2100" spc="1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RahulDas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60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100" b="1" spc="-1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Furniture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1465" marB="0"/>
                </a:tc>
                <a:tc>
                  <a:txBody>
                    <a:bodyPr/>
                    <a:lstStyle/>
                    <a:p>
                      <a:pPr marL="11430" marR="21590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sz="2100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31</a:t>
                      </a:r>
                      <a:r>
                        <a:rPr sz="2100" spc="-25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832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100" b="1" spc="125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Medium</a:t>
                      </a:r>
                      <a:r>
                        <a:rPr sz="2100" b="1" spc="80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(15%)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100" spc="14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Sneha</a:t>
                      </a:r>
                      <a:r>
                        <a:rPr sz="2100" spc="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spc="9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Roy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1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marL="4445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b="1" spc="4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Stationery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 marL="15240" marR="21590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27</a:t>
                      </a:r>
                      <a:r>
                        <a:rPr sz="2100" spc="100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sz="2200" b="1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200" b="1" spc="15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4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(19%)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68605" marB="0"/>
                </a:tc>
                <a:tc>
                  <a:txBody>
                    <a:bodyPr/>
                    <a:lstStyle/>
                    <a:p>
                      <a:pPr marL="635" marR="3175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Amit</a:t>
                      </a:r>
                      <a:r>
                        <a:rPr sz="2100" spc="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spc="9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Paul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237844" y="7922215"/>
            <a:ext cx="8137525" cy="734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36800"/>
              </a:lnSpc>
              <a:spcBef>
                <a:spcPts val="90"/>
              </a:spcBef>
            </a:pPr>
            <a:r>
              <a:rPr sz="1700" b="1" dirty="0">
                <a:solidFill>
                  <a:srgbClr val="4F5B6D"/>
                </a:solidFill>
                <a:latin typeface="Arial"/>
                <a:cs typeface="Arial"/>
              </a:rPr>
              <a:t>Electronics:</a:t>
            </a:r>
            <a:r>
              <a:rPr sz="1700" b="1" spc="8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F5B6D"/>
                </a:solidFill>
                <a:latin typeface="Arial"/>
                <a:cs typeface="Arial"/>
              </a:rPr>
              <a:t>Primary</a:t>
            </a:r>
            <a:r>
              <a:rPr sz="1700" spc="26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F5B6D"/>
                </a:solidFill>
                <a:latin typeface="Arial"/>
                <a:cs typeface="Arial"/>
              </a:rPr>
              <a:t>volume</a:t>
            </a:r>
            <a:r>
              <a:rPr sz="1700" spc="19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F5B6D"/>
                </a:solidFill>
                <a:latin typeface="Arial"/>
                <a:cs typeface="Arial"/>
              </a:rPr>
              <a:t>driver</a:t>
            </a:r>
            <a:r>
              <a:rPr sz="1700" spc="30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4F5B6D"/>
                </a:solidFill>
                <a:latin typeface="Arial"/>
                <a:cs typeface="Arial"/>
              </a:rPr>
              <a:t>with</a:t>
            </a:r>
            <a:r>
              <a:rPr sz="1700" spc="-1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4F5B6D"/>
                </a:solidFill>
                <a:latin typeface="Arial"/>
                <a:cs typeface="Arial"/>
              </a:rPr>
              <a:t>high</a:t>
            </a:r>
            <a:r>
              <a:rPr sz="1700" spc="-2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F5B6D"/>
                </a:solidFill>
                <a:latin typeface="Arial"/>
                <a:cs typeface="Arial"/>
              </a:rPr>
              <a:t>unit</a:t>
            </a:r>
            <a:r>
              <a:rPr sz="1700" spc="18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F5B6D"/>
                </a:solidFill>
                <a:latin typeface="Arial"/>
                <a:cs typeface="Arial"/>
              </a:rPr>
              <a:t>costs</a:t>
            </a:r>
            <a:r>
              <a:rPr sz="1700" spc="80" dirty="0">
                <a:solidFill>
                  <a:srgbClr val="4F5B6D"/>
                </a:solidFill>
                <a:latin typeface="Arial"/>
                <a:cs typeface="Arial"/>
              </a:rPr>
              <a:t> and</a:t>
            </a:r>
            <a:r>
              <a:rPr sz="1700" spc="18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F5B6D"/>
                </a:solidFill>
                <a:latin typeface="Arial"/>
                <a:cs typeface="Arial"/>
              </a:rPr>
              <a:t>consistent</a:t>
            </a:r>
            <a:r>
              <a:rPr sz="1700" spc="30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45" dirty="0">
                <a:solidFill>
                  <a:srgbClr val="4F5B6D"/>
                </a:solidFill>
                <a:latin typeface="Arial"/>
                <a:cs typeface="Arial"/>
              </a:rPr>
              <a:t>demand </a:t>
            </a:r>
            <a:r>
              <a:rPr sz="1700" dirty="0">
                <a:solidFill>
                  <a:srgbClr val="4F5B6D"/>
                </a:solidFill>
                <a:latin typeface="Arial"/>
                <a:cs typeface="Arial"/>
              </a:rPr>
              <a:t>in</a:t>
            </a:r>
            <a:r>
              <a:rPr sz="1700" spc="7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4F5B6D"/>
                </a:solidFill>
                <a:latin typeface="Arial"/>
                <a:cs typeface="Arial"/>
              </a:rPr>
              <a:t>urban</a:t>
            </a:r>
            <a:r>
              <a:rPr sz="170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F5B6D"/>
                </a:solidFill>
                <a:latin typeface="Arial"/>
                <a:cs typeface="Arial"/>
              </a:rPr>
              <a:t>centers.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5021" y="7937965"/>
            <a:ext cx="7432675" cy="718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">
              <a:lnSpc>
                <a:spcPct val="133700"/>
              </a:lnSpc>
              <a:spcBef>
                <a:spcPts val="90"/>
              </a:spcBef>
            </a:pPr>
            <a:r>
              <a:rPr sz="1700" b="1" spc="10" dirty="0">
                <a:solidFill>
                  <a:srgbClr val="4F5B6D"/>
                </a:solidFill>
                <a:latin typeface="Arial"/>
                <a:cs typeface="Arial"/>
              </a:rPr>
              <a:t>Stationery:</a:t>
            </a:r>
            <a:r>
              <a:rPr sz="1700" b="1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4F5B6D"/>
                </a:solidFill>
                <a:latin typeface="Arial"/>
                <a:cs typeface="Arial"/>
              </a:rPr>
              <a:t>Unexpectedly</a:t>
            </a:r>
            <a:r>
              <a:rPr sz="1700" spc="21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4F5B6D"/>
                </a:solidFill>
                <a:latin typeface="Arial"/>
                <a:cs typeface="Arial"/>
              </a:rPr>
              <a:t>high</a:t>
            </a:r>
            <a:r>
              <a:rPr sz="1700" spc="-7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70" dirty="0">
                <a:solidFill>
                  <a:srgbClr val="4F5B6D"/>
                </a:solidFill>
                <a:latin typeface="Arial"/>
                <a:cs typeface="Arial"/>
              </a:rPr>
              <a:t>margin</a:t>
            </a:r>
            <a:r>
              <a:rPr sz="1700" spc="-3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4F5B6D"/>
                </a:solidFill>
                <a:latin typeface="Arial"/>
                <a:cs typeface="Arial"/>
              </a:rPr>
              <a:t>profile </a:t>
            </a:r>
            <a:r>
              <a:rPr sz="1700" spc="80" dirty="0">
                <a:solidFill>
                  <a:srgbClr val="4F5B6D"/>
                </a:solidFill>
                <a:latin typeface="Arial"/>
                <a:cs typeface="Arial"/>
              </a:rPr>
              <a:t>due</a:t>
            </a:r>
            <a:r>
              <a:rPr sz="1700" spc="1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F5B6D"/>
                </a:solidFill>
                <a:latin typeface="Arial"/>
                <a:cs typeface="Arial"/>
              </a:rPr>
              <a:t>to</a:t>
            </a:r>
            <a:r>
              <a:rPr sz="1700" spc="114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4F5B6D"/>
                </a:solidFill>
                <a:latin typeface="Arial"/>
                <a:cs typeface="Arial"/>
              </a:rPr>
              <a:t>low</a:t>
            </a:r>
            <a:r>
              <a:rPr sz="1700" spc="4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F5B6D"/>
                </a:solidFill>
                <a:latin typeface="Arial"/>
                <a:cs typeface="Arial"/>
              </a:rPr>
              <a:t>overheads</a:t>
            </a:r>
            <a:r>
              <a:rPr sz="1700" spc="12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35" dirty="0">
                <a:solidFill>
                  <a:srgbClr val="4F5B6D"/>
                </a:solidFill>
                <a:latin typeface="Arial"/>
                <a:cs typeface="Arial"/>
              </a:rPr>
              <a:t>and </a:t>
            </a:r>
            <a:r>
              <a:rPr sz="1700" spc="65" dirty="0">
                <a:solidFill>
                  <a:srgbClr val="4F5B6D"/>
                </a:solidFill>
                <a:latin typeface="Arial"/>
                <a:cs typeface="Arial"/>
              </a:rPr>
              <a:t>frequent </a:t>
            </a:r>
            <a:r>
              <a:rPr sz="1700" spc="60" dirty="0">
                <a:solidFill>
                  <a:srgbClr val="4F5B6D"/>
                </a:solidFill>
                <a:latin typeface="Arial"/>
                <a:cs typeface="Arial"/>
              </a:rPr>
              <a:t>repeat</a:t>
            </a:r>
            <a:r>
              <a:rPr sz="1700" spc="9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F5B6D"/>
                </a:solidFill>
                <a:latin typeface="Arial"/>
                <a:cs typeface="Arial"/>
              </a:rPr>
              <a:t>purchases.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84850" y="948133"/>
            <a:ext cx="11430000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829050" algn="l"/>
              </a:tabLst>
            </a:pPr>
            <a:r>
              <a:rPr spc="240" dirty="0">
                <a:solidFill>
                  <a:srgbClr val="182131"/>
                </a:solidFill>
              </a:rPr>
              <a:t>STRATEGIC</a:t>
            </a:r>
            <a:r>
              <a:rPr lang="en-IN" spc="240" dirty="0">
                <a:solidFill>
                  <a:srgbClr val="182131"/>
                </a:solidFill>
              </a:rPr>
              <a:t> ROADMAP</a:t>
            </a:r>
            <a:endParaRPr spc="265" dirty="0">
              <a:solidFill>
                <a:srgbClr val="18213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9636" y="5401435"/>
            <a:ext cx="224980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dirty="0">
                <a:solidFill>
                  <a:srgbClr val="182131"/>
                </a:solidFill>
                <a:latin typeface="Arial"/>
                <a:cs typeface="Arial"/>
              </a:rPr>
              <a:t>Ql:</a:t>
            </a:r>
            <a:r>
              <a:rPr sz="2050" b="1" spc="130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50" b="1" spc="105" dirty="0">
                <a:solidFill>
                  <a:srgbClr val="182131"/>
                </a:solidFill>
                <a:latin typeface="Arial"/>
                <a:cs typeface="Arial"/>
              </a:rPr>
              <a:t>Optimization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1734" y="5347884"/>
            <a:ext cx="1395730" cy="76581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545"/>
              </a:spcBef>
            </a:pPr>
            <a:r>
              <a:rPr sz="2050" b="1" spc="65" dirty="0">
                <a:solidFill>
                  <a:srgbClr val="182131"/>
                </a:solidFill>
                <a:latin typeface="Arial"/>
                <a:cs typeface="Arial"/>
              </a:rPr>
              <a:t>Q2: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050" b="1" spc="-10" dirty="0">
                <a:solidFill>
                  <a:srgbClr val="182131"/>
                </a:solidFill>
                <a:latin typeface="Arial"/>
                <a:cs typeface="Arial"/>
              </a:rPr>
              <a:t>Expansion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132" y="5914095"/>
            <a:ext cx="4276090" cy="718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86765" marR="5080" indent="-774700">
              <a:lnSpc>
                <a:spcPct val="133700"/>
              </a:lnSpc>
              <a:spcBef>
                <a:spcPts val="90"/>
              </a:spcBef>
            </a:pP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Further</a:t>
            </a:r>
            <a:r>
              <a:rPr sz="1700" spc="18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505D6E"/>
                </a:solidFill>
                <a:latin typeface="Arial"/>
                <a:cs typeface="Arial"/>
              </a:rPr>
              <a:t>refine</a:t>
            </a:r>
            <a:r>
              <a:rPr sz="1700" spc="1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the</a:t>
            </a:r>
            <a:r>
              <a:rPr sz="1700" spc="28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505D6E"/>
                </a:solidFill>
                <a:latin typeface="Arial"/>
                <a:cs typeface="Arial"/>
              </a:rPr>
              <a:t>data</a:t>
            </a:r>
            <a:r>
              <a:rPr sz="1700" spc="114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pipeline</a:t>
            </a:r>
            <a:r>
              <a:rPr sz="1700" spc="14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to</a:t>
            </a:r>
            <a:r>
              <a:rPr sz="1700" spc="204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45" dirty="0">
                <a:solidFill>
                  <a:srgbClr val="505D6E"/>
                </a:solidFill>
                <a:latin typeface="Arial"/>
                <a:cs typeface="Arial"/>
              </a:rPr>
              <a:t>include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real-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time</a:t>
            </a:r>
            <a:r>
              <a:rPr sz="1700" spc="1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CRM</a:t>
            </a:r>
            <a:r>
              <a:rPr sz="1700" spc="19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40" dirty="0">
                <a:solidFill>
                  <a:srgbClr val="505D6E"/>
                </a:solidFill>
                <a:latin typeface="Arial"/>
                <a:cs typeface="Arial"/>
              </a:rPr>
              <a:t>integration.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4625" y="6284220"/>
            <a:ext cx="1205230" cy="28448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 marR="30480" indent="-7620" algn="ctr">
              <a:lnSpc>
                <a:spcPct val="136300"/>
              </a:lnSpc>
              <a:spcBef>
                <a:spcPts val="40"/>
              </a:spcBef>
            </a:pPr>
            <a:r>
              <a:rPr sz="1700" spc="-10" dirty="0">
                <a:solidFill>
                  <a:srgbClr val="505D6E"/>
                </a:solidFill>
                <a:latin typeface="Arial"/>
                <a:cs typeface="Arial"/>
              </a:rPr>
              <a:t>Targeted campai</a:t>
            </a:r>
            <a:r>
              <a:rPr sz="1125" spc="-15" baseline="74074" dirty="0">
                <a:solidFill>
                  <a:srgbClr val="505D6E"/>
                </a:solidFill>
                <a:latin typeface="Arial"/>
                <a:cs typeface="Arial"/>
              </a:rPr>
              <a:t>•</a:t>
            </a:r>
            <a:r>
              <a:rPr sz="1700" spc="-10" dirty="0">
                <a:solidFill>
                  <a:srgbClr val="505D6E"/>
                </a:solidFill>
                <a:latin typeface="Arial"/>
                <a:cs typeface="Arial"/>
              </a:rPr>
              <a:t>gns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for</a:t>
            </a:r>
            <a:r>
              <a:rPr sz="1700" spc="2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505D6E"/>
                </a:solidFill>
                <a:latin typeface="Arial"/>
                <a:cs typeface="Arial"/>
              </a:rPr>
              <a:t>North 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and</a:t>
            </a:r>
            <a:r>
              <a:rPr sz="1700" spc="4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505D6E"/>
                </a:solidFill>
                <a:latin typeface="Arial"/>
                <a:cs typeface="Arial"/>
              </a:rPr>
              <a:t>South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regions</a:t>
            </a:r>
            <a:r>
              <a:rPr sz="1700" spc="3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505D6E"/>
                </a:solidFill>
                <a:latin typeface="Arial"/>
                <a:cs typeface="Arial"/>
              </a:rPr>
              <a:t>to </a:t>
            </a:r>
            <a:r>
              <a:rPr sz="1700" spc="95" dirty="0">
                <a:solidFill>
                  <a:srgbClr val="505D6E"/>
                </a:solidFill>
                <a:latin typeface="Arial"/>
                <a:cs typeface="Arial"/>
              </a:rPr>
              <a:t>match </a:t>
            </a:r>
            <a:r>
              <a:rPr sz="1700" spc="-10" dirty="0">
                <a:solidFill>
                  <a:srgbClr val="505D6E"/>
                </a:solidFill>
                <a:latin typeface="Arial"/>
                <a:cs typeface="Arial"/>
              </a:rPr>
              <a:t>East/West </a:t>
            </a:r>
            <a:r>
              <a:rPr sz="1700" spc="50" dirty="0">
                <a:solidFill>
                  <a:srgbClr val="505D6E"/>
                </a:solidFill>
                <a:latin typeface="Arial"/>
                <a:cs typeface="Arial"/>
              </a:rPr>
              <a:t>parity.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05558" y="5401435"/>
            <a:ext cx="250253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100" dirty="0">
                <a:solidFill>
                  <a:srgbClr val="182131"/>
                </a:solidFill>
                <a:latin typeface="Arial"/>
                <a:cs typeface="Arial"/>
              </a:rPr>
              <a:t>Q3:</a:t>
            </a:r>
            <a:r>
              <a:rPr sz="2050" b="1" spc="-215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50" b="1" spc="65" dirty="0">
                <a:solidFill>
                  <a:srgbClr val="182131"/>
                </a:solidFill>
                <a:latin typeface="Arial"/>
                <a:cs typeface="Arial"/>
              </a:rPr>
              <a:t>Diversification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66035" y="5906220"/>
            <a:ext cx="4537075" cy="734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2785" marR="5080" indent="-680720">
              <a:lnSpc>
                <a:spcPct val="136800"/>
              </a:lnSpc>
              <a:spcBef>
                <a:spcPts val="90"/>
              </a:spcBef>
            </a:pP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Introduction</a:t>
            </a:r>
            <a:r>
              <a:rPr sz="1700" spc="13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505D6E"/>
                </a:solidFill>
                <a:latin typeface="Arial"/>
                <a:cs typeface="Arial"/>
              </a:rPr>
              <a:t>of</a:t>
            </a:r>
            <a:r>
              <a:rPr sz="1700" spc="17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"Smart</a:t>
            </a:r>
            <a:r>
              <a:rPr sz="1700" spc="18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Home"</a:t>
            </a:r>
            <a:r>
              <a:rPr sz="1700" spc="32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70" dirty="0">
                <a:solidFill>
                  <a:srgbClr val="505D6E"/>
                </a:solidFill>
                <a:latin typeface="Arial"/>
                <a:cs typeface="Arial"/>
              </a:rPr>
              <a:t>sub-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category </a:t>
            </a:r>
            <a:r>
              <a:rPr sz="1700" spc="50" dirty="0">
                <a:solidFill>
                  <a:srgbClr val="505D6E"/>
                </a:solidFill>
                <a:latin typeface="Arial"/>
                <a:cs typeface="Arial"/>
              </a:rPr>
              <a:t>within</a:t>
            </a:r>
            <a:r>
              <a:rPr sz="1700" spc="-4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505D6E"/>
                </a:solidFill>
                <a:latin typeface="Arial"/>
                <a:cs typeface="Arial"/>
              </a:rPr>
              <a:t>the</a:t>
            </a:r>
            <a:r>
              <a:rPr sz="1700" spc="29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Electronics</a:t>
            </a:r>
            <a:r>
              <a:rPr sz="1700" spc="23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505D6E"/>
                </a:solidFill>
                <a:latin typeface="Arial"/>
                <a:cs typeface="Arial"/>
              </a:rPr>
              <a:t>segment.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40552" y="5401435"/>
            <a:ext cx="212090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dirty="0">
                <a:solidFill>
                  <a:srgbClr val="182131"/>
                </a:solidFill>
                <a:latin typeface="Arial"/>
                <a:cs typeface="Arial"/>
              </a:rPr>
              <a:t>Q4:</a:t>
            </a:r>
            <a:r>
              <a:rPr sz="2050" b="1" spc="300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50" b="1" spc="60" dirty="0">
                <a:solidFill>
                  <a:srgbClr val="182131"/>
                </a:solidFill>
                <a:latin typeface="Arial"/>
                <a:cs typeface="Arial"/>
              </a:rPr>
              <a:t>Automation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12469" y="5914095"/>
            <a:ext cx="3608704" cy="718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255">
              <a:lnSpc>
                <a:spcPct val="133700"/>
              </a:lnSpc>
              <a:spcBef>
                <a:spcPts val="90"/>
              </a:spcBef>
            </a:pPr>
            <a:r>
              <a:rPr sz="1700" spc="75" dirty="0">
                <a:solidFill>
                  <a:srgbClr val="505D6E"/>
                </a:solidFill>
                <a:latin typeface="Arial"/>
                <a:cs typeface="Arial"/>
              </a:rPr>
              <a:t>Al-</a:t>
            </a:r>
            <a:r>
              <a:rPr sz="1700" spc="85" dirty="0">
                <a:solidFill>
                  <a:srgbClr val="505D6E"/>
                </a:solidFill>
                <a:latin typeface="Arial"/>
                <a:cs typeface="Arial"/>
              </a:rPr>
              <a:t>driven</a:t>
            </a:r>
            <a:r>
              <a:rPr sz="1700" spc="1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505D6E"/>
                </a:solidFill>
                <a:latin typeface="Arial"/>
                <a:cs typeface="Arial"/>
              </a:rPr>
              <a:t>predictive</a:t>
            </a:r>
            <a:r>
              <a:rPr sz="1700" spc="2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forecasting</a:t>
            </a:r>
            <a:r>
              <a:rPr sz="1700" spc="42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505D6E"/>
                </a:solidFill>
                <a:latin typeface="Arial"/>
                <a:cs typeface="Arial"/>
              </a:rPr>
              <a:t>to </a:t>
            </a:r>
            <a:r>
              <a:rPr sz="1700" dirty="0">
                <a:solidFill>
                  <a:srgbClr val="505D6E"/>
                </a:solidFill>
                <a:latin typeface="Arial"/>
                <a:cs typeface="Arial"/>
              </a:rPr>
              <a:t>automate</a:t>
            </a:r>
            <a:r>
              <a:rPr sz="1700" spc="2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505D6E"/>
                </a:solidFill>
                <a:latin typeface="Arial"/>
                <a:cs typeface="Arial"/>
              </a:rPr>
              <a:t>inventory</a:t>
            </a:r>
            <a:r>
              <a:rPr sz="1700" spc="2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700" spc="40" dirty="0">
                <a:solidFill>
                  <a:srgbClr val="505D6E"/>
                </a:solidFill>
                <a:latin typeface="Arial"/>
                <a:cs typeface="Arial"/>
              </a:rPr>
              <a:t>replenishment.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0FEE1E-2509-78EA-FBBA-470C17AF0208}"/>
              </a:ext>
            </a:extLst>
          </p:cNvPr>
          <p:cNvSpPr/>
          <p:nvPr/>
        </p:nvSpPr>
        <p:spPr>
          <a:xfrm>
            <a:off x="6394450" y="3597275"/>
            <a:ext cx="8229600" cy="304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A2C9B8-FFD9-F889-00B8-D0B71DA4C36A}"/>
              </a:ext>
            </a:extLst>
          </p:cNvPr>
          <p:cNvGrpSpPr/>
          <p:nvPr/>
        </p:nvGrpSpPr>
        <p:grpSpPr>
          <a:xfrm>
            <a:off x="9159518" y="5374219"/>
            <a:ext cx="360" cy="360"/>
            <a:chOff x="9159518" y="537421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537344C-BABE-4E61-72C4-3AD0521CC2BA}"/>
                    </a:ext>
                  </a:extLst>
                </p14:cNvPr>
                <p14:cNvContentPartPr/>
                <p14:nvPr/>
              </p14:nvContentPartPr>
              <p14:xfrm>
                <a:off x="9159518" y="5374219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37344C-BABE-4E61-72C4-3AD0521CC2B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53398" y="5368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DA68FF-2DD5-4289-CE77-9A415F14E987}"/>
                    </a:ext>
                  </a:extLst>
                </p14:cNvPr>
                <p14:cNvContentPartPr/>
                <p14:nvPr/>
              </p14:nvContentPartPr>
              <p14:xfrm>
                <a:off x="9159518" y="5374219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DA68FF-2DD5-4289-CE77-9A415F14E9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53398" y="5368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271-D19C-1F71-397D-09CF3FCF5A49}"/>
              </a:ext>
            </a:extLst>
          </p:cNvPr>
          <p:cNvGrpSpPr/>
          <p:nvPr/>
        </p:nvGrpSpPr>
        <p:grpSpPr>
          <a:xfrm>
            <a:off x="9272558" y="5518219"/>
            <a:ext cx="360" cy="360"/>
            <a:chOff x="9272558" y="551821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7153B3-0E1D-66D7-EC08-46B924AF0F7F}"/>
                    </a:ext>
                  </a:extLst>
                </p14:cNvPr>
                <p14:cNvContentPartPr/>
                <p14:nvPr/>
              </p14:nvContentPartPr>
              <p14:xfrm>
                <a:off x="9272558" y="5518219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7153B3-0E1D-66D7-EC08-46B924AF0F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66438" y="5512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F6A5DE-42CD-508B-A998-36356B14BC2E}"/>
                    </a:ext>
                  </a:extLst>
                </p14:cNvPr>
                <p14:cNvContentPartPr/>
                <p14:nvPr/>
              </p14:nvContentPartPr>
              <p14:xfrm>
                <a:off x="9272558" y="5518219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F6A5DE-42CD-508B-A998-36356B14BC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66438" y="5512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9FFA88B-6AF5-2A94-4198-40DDF04DDCD1}"/>
                  </a:ext>
                </a:extLst>
              </p14:cNvPr>
              <p14:cNvContentPartPr/>
              <p14:nvPr/>
            </p14:nvContentPartPr>
            <p14:xfrm>
              <a:off x="9512678" y="3064099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9FFA88B-6AF5-2A94-4198-40DDF04DDC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06558" y="305797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D162681-B7EC-2A9C-441F-7C0C273B443E}"/>
              </a:ext>
            </a:extLst>
          </p:cNvPr>
          <p:cNvSpPr txBox="1"/>
          <p:nvPr/>
        </p:nvSpPr>
        <p:spPr>
          <a:xfrm>
            <a:off x="7232650" y="4435475"/>
            <a:ext cx="67045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5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79</TotalTime>
  <Words>588</Words>
  <Application>Microsoft Office PowerPoint</Application>
  <PresentationFormat>Custom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Gallery</vt:lpstr>
      <vt:lpstr>PowerPoint Presentation</vt:lpstr>
      <vt:lpstr>DATA ANALYSIS</vt:lpstr>
      <vt:lpstr>PowerPoint Presentation</vt:lpstr>
      <vt:lpstr>PowerPoint Presentation</vt:lpstr>
      <vt:lpstr>EXECUTIVE PERFOR</vt:lpstr>
      <vt:lpstr>DATA CLEANING &amp; TRANSFOR</vt:lpstr>
      <vt:lpstr>THE CENTRALIZED DASHBOARD</vt:lpstr>
      <vt:lpstr>REGIONAL REVENUE DISTRIBUTION</vt:lpstr>
      <vt:lpstr>SALES FORCE PRODUCTIVITY LEADERBOARD</vt:lpstr>
      <vt:lpstr>CATEGORY ANALYSIS </vt:lpstr>
      <vt:lpstr>STRATEGIC ROADMAP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SAUBHAGYA MUNSI</cp:lastModifiedBy>
  <cp:revision>3</cp:revision>
  <dcterms:created xsi:type="dcterms:W3CDTF">2026-05-19T08:14:54Z</dcterms:created>
  <dcterms:modified xsi:type="dcterms:W3CDTF">2026-05-20T03:02:20Z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2026-05-19T00:00:00Z</vt:filetime>
  </property>
  <property fmtid="{D5CDD505-2E9C-101B-9397-08002B2CF9AE}" pid="3" name="LastSaved">
    <vt:filetime>2026-05-19T00:00:00Z</vt:filetime>
  </property>
</Properties>
</file>