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8" r:id="rId5"/>
    <p:sldId id="259" r:id="rId6"/>
    <p:sldId id="260" r:id="rId7"/>
    <p:sldId id="261" r:id="rId8"/>
    <p:sldId id="262" r:id="rId9"/>
    <p:sldId id="263" r:id="rId10"/>
    <p:sldId id="265" r:id="rId11"/>
    <p:sldId id="264"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539D24-4A0D-4FBC-8C9D-2D873162B2BE}" type="doc">
      <dgm:prSet loTypeId="urn:microsoft.com/office/officeart/2005/8/layout/hierarchy3" loCatId="hierarchy" qsTypeId="urn:microsoft.com/office/officeart/2005/8/quickstyle/simple1" qsCatId="simple" csTypeId="urn:microsoft.com/office/officeart/2005/8/colors/accent0_3" csCatId="mainScheme" phldr="1"/>
      <dgm:spPr/>
      <dgm:t>
        <a:bodyPr/>
        <a:lstStyle/>
        <a:p>
          <a:endParaRPr lang="en-IN"/>
        </a:p>
      </dgm:t>
    </dgm:pt>
    <dgm:pt modelId="{F714AA00-B926-4001-B2E3-BFBCC0F218C8}">
      <dgm:prSet phldrT="[Text]"/>
      <dgm:spPr/>
      <dgm:t>
        <a:bodyPr/>
        <a:lstStyle/>
        <a:p>
          <a:r>
            <a:rPr lang="en-IN" dirty="0"/>
            <a:t>Mukesh</a:t>
          </a:r>
        </a:p>
      </dgm:t>
    </dgm:pt>
    <dgm:pt modelId="{EFC78677-3E72-4F31-AFC3-34B01731C603}" type="parTrans" cxnId="{4CEE4852-E71A-40BE-9CCD-CAA894D0A6A8}">
      <dgm:prSet/>
      <dgm:spPr/>
      <dgm:t>
        <a:bodyPr/>
        <a:lstStyle/>
        <a:p>
          <a:endParaRPr lang="en-IN"/>
        </a:p>
      </dgm:t>
    </dgm:pt>
    <dgm:pt modelId="{D598A9F5-385B-4D32-B882-8B6700F8507C}" type="sibTrans" cxnId="{4CEE4852-E71A-40BE-9CCD-CAA894D0A6A8}">
      <dgm:prSet/>
      <dgm:spPr/>
      <dgm:t>
        <a:bodyPr/>
        <a:lstStyle/>
        <a:p>
          <a:endParaRPr lang="en-IN"/>
        </a:p>
      </dgm:t>
    </dgm:pt>
    <dgm:pt modelId="{212FCFCD-465B-4D75-94D8-55E5C2DE3F0A}">
      <dgm:prSet phldrT="[Text]"/>
      <dgm:spPr/>
      <dgm:t>
        <a:bodyPr/>
        <a:lstStyle/>
        <a:p>
          <a:r>
            <a:rPr lang="en-IN" dirty="0"/>
            <a:t>Making the power point file</a:t>
          </a:r>
        </a:p>
      </dgm:t>
    </dgm:pt>
    <dgm:pt modelId="{39137734-BAC3-49E1-9999-193A4BE0DA01}" type="parTrans" cxnId="{275CF809-74C4-4BC3-ADF0-08A4A3AA2076}">
      <dgm:prSet/>
      <dgm:spPr/>
      <dgm:t>
        <a:bodyPr/>
        <a:lstStyle/>
        <a:p>
          <a:endParaRPr lang="en-IN"/>
        </a:p>
      </dgm:t>
    </dgm:pt>
    <dgm:pt modelId="{3C6C85D4-5B1A-4842-9719-EC963AABA6F5}" type="sibTrans" cxnId="{275CF809-74C4-4BC3-ADF0-08A4A3AA2076}">
      <dgm:prSet/>
      <dgm:spPr/>
      <dgm:t>
        <a:bodyPr/>
        <a:lstStyle/>
        <a:p>
          <a:endParaRPr lang="en-IN"/>
        </a:p>
      </dgm:t>
    </dgm:pt>
    <dgm:pt modelId="{5FD2A64E-71B0-4096-BE62-3AB3ED27A0C8}">
      <dgm:prSet phldrT="[Text]"/>
      <dgm:spPr/>
      <dgm:t>
        <a:bodyPr/>
        <a:lstStyle/>
        <a:p>
          <a:r>
            <a:rPr lang="en-IN" dirty="0" err="1"/>
            <a:t>Saubhagya</a:t>
          </a:r>
          <a:endParaRPr lang="en-IN" dirty="0"/>
        </a:p>
      </dgm:t>
    </dgm:pt>
    <dgm:pt modelId="{3481A239-E75A-44DE-A2B7-1148BA4656CD}" type="parTrans" cxnId="{39D55C0A-E974-4DF1-B647-3D71FC1553D5}">
      <dgm:prSet/>
      <dgm:spPr/>
      <dgm:t>
        <a:bodyPr/>
        <a:lstStyle/>
        <a:p>
          <a:endParaRPr lang="en-IN"/>
        </a:p>
      </dgm:t>
    </dgm:pt>
    <dgm:pt modelId="{11BEE8E1-CC07-4195-8BC5-69F600BE0BEB}" type="sibTrans" cxnId="{39D55C0A-E974-4DF1-B647-3D71FC1553D5}">
      <dgm:prSet/>
      <dgm:spPr/>
      <dgm:t>
        <a:bodyPr/>
        <a:lstStyle/>
        <a:p>
          <a:endParaRPr lang="en-IN"/>
        </a:p>
      </dgm:t>
    </dgm:pt>
    <dgm:pt modelId="{A49BBF58-C0AA-4B18-BFE0-7345D562A39B}">
      <dgm:prSet phldrT="[Text]"/>
      <dgm:spPr/>
      <dgm:t>
        <a:bodyPr/>
        <a:lstStyle/>
        <a:p>
          <a:r>
            <a:rPr lang="en-IN" dirty="0"/>
            <a:t>All technical parts of excel</a:t>
          </a:r>
        </a:p>
      </dgm:t>
    </dgm:pt>
    <dgm:pt modelId="{CAFA0A2B-425F-470E-B286-232302D42C26}" type="parTrans" cxnId="{D6DD91E8-CC0F-4298-945E-47652C0001B5}">
      <dgm:prSet/>
      <dgm:spPr/>
      <dgm:t>
        <a:bodyPr/>
        <a:lstStyle/>
        <a:p>
          <a:endParaRPr lang="en-IN"/>
        </a:p>
      </dgm:t>
    </dgm:pt>
    <dgm:pt modelId="{CAF36CF4-19AE-4133-BA80-3C6504D24985}" type="sibTrans" cxnId="{D6DD91E8-CC0F-4298-945E-47652C0001B5}">
      <dgm:prSet/>
      <dgm:spPr/>
      <dgm:t>
        <a:bodyPr/>
        <a:lstStyle/>
        <a:p>
          <a:endParaRPr lang="en-IN"/>
        </a:p>
      </dgm:t>
    </dgm:pt>
    <dgm:pt modelId="{C9290DAE-A4BF-4B31-81CC-6B595DABCA5E}">
      <dgm:prSet phldrT="[Text]"/>
      <dgm:spPr/>
      <dgm:t>
        <a:bodyPr/>
        <a:lstStyle/>
        <a:p>
          <a:r>
            <a:rPr lang="en-IN" dirty="0"/>
            <a:t>Prepare the full excel file according to requirements</a:t>
          </a:r>
        </a:p>
      </dgm:t>
    </dgm:pt>
    <dgm:pt modelId="{D8EC7138-5D48-4ABD-81C2-C304AC28E47A}" type="parTrans" cxnId="{B09D6D55-2B41-4D89-A3D5-4D38E65F299B}">
      <dgm:prSet/>
      <dgm:spPr/>
      <dgm:t>
        <a:bodyPr/>
        <a:lstStyle/>
        <a:p>
          <a:endParaRPr lang="en-IN"/>
        </a:p>
      </dgm:t>
    </dgm:pt>
    <dgm:pt modelId="{BAE572C9-583E-4486-9A00-D16B6E001270}" type="sibTrans" cxnId="{B09D6D55-2B41-4D89-A3D5-4D38E65F299B}">
      <dgm:prSet/>
      <dgm:spPr/>
      <dgm:t>
        <a:bodyPr/>
        <a:lstStyle/>
        <a:p>
          <a:endParaRPr lang="en-IN"/>
        </a:p>
      </dgm:t>
    </dgm:pt>
    <dgm:pt modelId="{FA3F975B-4CE1-404D-8FA9-9A5EF43BFEAE}">
      <dgm:prSet phldrT="[Text]"/>
      <dgm:spPr/>
      <dgm:t>
        <a:bodyPr/>
        <a:lstStyle/>
        <a:p>
          <a:r>
            <a:rPr lang="en-IN" dirty="0"/>
            <a:t>Look upon the </a:t>
          </a:r>
          <a:r>
            <a:rPr lang="en-IN" dirty="0" err="1"/>
            <a:t>softskill</a:t>
          </a:r>
          <a:r>
            <a:rPr lang="en-IN" dirty="0"/>
            <a:t> part</a:t>
          </a:r>
        </a:p>
      </dgm:t>
    </dgm:pt>
    <dgm:pt modelId="{D3D509A5-EF00-4390-8ACE-ABBDF6409E2D}" type="parTrans" cxnId="{86EF72C1-4822-4765-ABC6-153D1B449126}">
      <dgm:prSet/>
      <dgm:spPr/>
      <dgm:t>
        <a:bodyPr/>
        <a:lstStyle/>
        <a:p>
          <a:endParaRPr lang="en-IN"/>
        </a:p>
      </dgm:t>
    </dgm:pt>
    <dgm:pt modelId="{7A4E9B4A-4593-4993-8FAD-898A33D8438F}" type="sibTrans" cxnId="{86EF72C1-4822-4765-ABC6-153D1B449126}">
      <dgm:prSet/>
      <dgm:spPr/>
      <dgm:t>
        <a:bodyPr/>
        <a:lstStyle/>
        <a:p>
          <a:endParaRPr lang="en-IN"/>
        </a:p>
      </dgm:t>
    </dgm:pt>
    <dgm:pt modelId="{CF7F3B40-7445-4D96-87D2-372425B92542}">
      <dgm:prSet phldrT="[Text]"/>
      <dgm:spPr/>
      <dgm:t>
        <a:bodyPr/>
        <a:lstStyle/>
        <a:p>
          <a:r>
            <a:rPr lang="en-IN" dirty="0"/>
            <a:t>Work segment</a:t>
          </a:r>
        </a:p>
      </dgm:t>
    </dgm:pt>
    <dgm:pt modelId="{9779E641-F06F-4D64-B903-8170C18F5C9F}" type="parTrans" cxnId="{D4278939-CBA2-4638-BF0C-0BF00BC15F3C}">
      <dgm:prSet/>
      <dgm:spPr/>
      <dgm:t>
        <a:bodyPr/>
        <a:lstStyle/>
        <a:p>
          <a:endParaRPr lang="en-IN"/>
        </a:p>
      </dgm:t>
    </dgm:pt>
    <dgm:pt modelId="{4CDB0015-429C-4608-AE55-58C89A3239FE}" type="sibTrans" cxnId="{D4278939-CBA2-4638-BF0C-0BF00BC15F3C}">
      <dgm:prSet/>
      <dgm:spPr/>
      <dgm:t>
        <a:bodyPr/>
        <a:lstStyle/>
        <a:p>
          <a:endParaRPr lang="en-IN"/>
        </a:p>
      </dgm:t>
    </dgm:pt>
    <dgm:pt modelId="{49FB5938-0DB5-440E-88A3-F635FBA75539}" type="pres">
      <dgm:prSet presAssocID="{BA539D24-4A0D-4FBC-8C9D-2D873162B2BE}" presName="diagram" presStyleCnt="0">
        <dgm:presLayoutVars>
          <dgm:chPref val="1"/>
          <dgm:dir/>
          <dgm:animOne val="branch"/>
          <dgm:animLvl val="lvl"/>
          <dgm:resizeHandles/>
        </dgm:presLayoutVars>
      </dgm:prSet>
      <dgm:spPr/>
    </dgm:pt>
    <dgm:pt modelId="{C514EEAF-D5F5-4551-A167-71C6FE49E9B1}" type="pres">
      <dgm:prSet presAssocID="{CF7F3B40-7445-4D96-87D2-372425B92542}" presName="root" presStyleCnt="0"/>
      <dgm:spPr/>
    </dgm:pt>
    <dgm:pt modelId="{E50B63F3-E350-4FFA-AD2C-36C5FF2810C3}" type="pres">
      <dgm:prSet presAssocID="{CF7F3B40-7445-4D96-87D2-372425B92542}" presName="rootComposite" presStyleCnt="0"/>
      <dgm:spPr/>
    </dgm:pt>
    <dgm:pt modelId="{4329C27E-EC96-4355-B88D-F41C5BA8EB51}" type="pres">
      <dgm:prSet presAssocID="{CF7F3B40-7445-4D96-87D2-372425B92542}" presName="rootText" presStyleLbl="node1" presStyleIdx="0" presStyleCnt="3" custScaleY="45712" custLinFactNeighborX="-43" custLinFactNeighborY="6174"/>
      <dgm:spPr/>
    </dgm:pt>
    <dgm:pt modelId="{6B49386F-A727-4ED2-A155-BF321131E8A4}" type="pres">
      <dgm:prSet presAssocID="{CF7F3B40-7445-4D96-87D2-372425B92542}" presName="rootConnector" presStyleLbl="node1" presStyleIdx="0" presStyleCnt="3"/>
      <dgm:spPr/>
    </dgm:pt>
    <dgm:pt modelId="{FFD9B24F-BBAD-4D5F-8181-339FAE8C126E}" type="pres">
      <dgm:prSet presAssocID="{CF7F3B40-7445-4D96-87D2-372425B92542}" presName="childShape" presStyleCnt="0"/>
      <dgm:spPr/>
    </dgm:pt>
    <dgm:pt modelId="{BDFC5DF4-201F-402A-BED2-9C6AF86FB72C}" type="pres">
      <dgm:prSet presAssocID="{F714AA00-B926-4001-B2E3-BFBCC0F218C8}" presName="root" presStyleCnt="0"/>
      <dgm:spPr/>
    </dgm:pt>
    <dgm:pt modelId="{8451CCDC-D224-4AED-991C-02AA38561E09}" type="pres">
      <dgm:prSet presAssocID="{F714AA00-B926-4001-B2E3-BFBCC0F218C8}" presName="rootComposite" presStyleCnt="0"/>
      <dgm:spPr/>
    </dgm:pt>
    <dgm:pt modelId="{8D5F9315-9D1C-4303-9912-B3C58BE84685}" type="pres">
      <dgm:prSet presAssocID="{F714AA00-B926-4001-B2E3-BFBCC0F218C8}" presName="rootText" presStyleLbl="node1" presStyleIdx="1" presStyleCnt="3"/>
      <dgm:spPr/>
    </dgm:pt>
    <dgm:pt modelId="{3E54FB4D-6FA1-496F-AE0E-5D4BA85DDC4E}" type="pres">
      <dgm:prSet presAssocID="{F714AA00-B926-4001-B2E3-BFBCC0F218C8}" presName="rootConnector" presStyleLbl="node1" presStyleIdx="1" presStyleCnt="3"/>
      <dgm:spPr/>
    </dgm:pt>
    <dgm:pt modelId="{69B41E52-515A-49FF-B131-7ABFEE8FD62D}" type="pres">
      <dgm:prSet presAssocID="{F714AA00-B926-4001-B2E3-BFBCC0F218C8}" presName="childShape" presStyleCnt="0"/>
      <dgm:spPr/>
    </dgm:pt>
    <dgm:pt modelId="{94F7AB97-0140-4E63-95F4-E28A0E6F46E6}" type="pres">
      <dgm:prSet presAssocID="{39137734-BAC3-49E1-9999-193A4BE0DA01}" presName="Name13" presStyleLbl="parChTrans1D2" presStyleIdx="0" presStyleCnt="4"/>
      <dgm:spPr/>
    </dgm:pt>
    <dgm:pt modelId="{55BFD814-9D5C-4C2F-B654-CF079C9AA28D}" type="pres">
      <dgm:prSet presAssocID="{212FCFCD-465B-4D75-94D8-55E5C2DE3F0A}" presName="childText" presStyleLbl="bgAcc1" presStyleIdx="0" presStyleCnt="4">
        <dgm:presLayoutVars>
          <dgm:bulletEnabled val="1"/>
        </dgm:presLayoutVars>
      </dgm:prSet>
      <dgm:spPr/>
    </dgm:pt>
    <dgm:pt modelId="{3581B231-01AA-49A5-A4DF-A613108897A7}" type="pres">
      <dgm:prSet presAssocID="{D3D509A5-EF00-4390-8ACE-ABBDF6409E2D}" presName="Name13" presStyleLbl="parChTrans1D2" presStyleIdx="1" presStyleCnt="4"/>
      <dgm:spPr/>
    </dgm:pt>
    <dgm:pt modelId="{8D42C5C3-0C08-4809-8775-9AEBD1BABE29}" type="pres">
      <dgm:prSet presAssocID="{FA3F975B-4CE1-404D-8FA9-9A5EF43BFEAE}" presName="childText" presStyleLbl="bgAcc1" presStyleIdx="1" presStyleCnt="4">
        <dgm:presLayoutVars>
          <dgm:bulletEnabled val="1"/>
        </dgm:presLayoutVars>
      </dgm:prSet>
      <dgm:spPr/>
    </dgm:pt>
    <dgm:pt modelId="{0E3CCCED-40D9-4877-B006-6FB6A719BC18}" type="pres">
      <dgm:prSet presAssocID="{5FD2A64E-71B0-4096-BE62-3AB3ED27A0C8}" presName="root" presStyleCnt="0"/>
      <dgm:spPr/>
    </dgm:pt>
    <dgm:pt modelId="{9844F436-1D8E-477A-B54E-04A1B8C67057}" type="pres">
      <dgm:prSet presAssocID="{5FD2A64E-71B0-4096-BE62-3AB3ED27A0C8}" presName="rootComposite" presStyleCnt="0"/>
      <dgm:spPr/>
    </dgm:pt>
    <dgm:pt modelId="{99CE3479-8BC9-409D-A5B6-2D5D89F988ED}" type="pres">
      <dgm:prSet presAssocID="{5FD2A64E-71B0-4096-BE62-3AB3ED27A0C8}" presName="rootText" presStyleLbl="node1" presStyleIdx="2" presStyleCnt="3"/>
      <dgm:spPr/>
    </dgm:pt>
    <dgm:pt modelId="{792BDA41-3051-4AEB-950D-E29BC6323A8D}" type="pres">
      <dgm:prSet presAssocID="{5FD2A64E-71B0-4096-BE62-3AB3ED27A0C8}" presName="rootConnector" presStyleLbl="node1" presStyleIdx="2" presStyleCnt="3"/>
      <dgm:spPr/>
    </dgm:pt>
    <dgm:pt modelId="{2B886E1A-9167-431B-ACC6-8045A8A2D1C1}" type="pres">
      <dgm:prSet presAssocID="{5FD2A64E-71B0-4096-BE62-3AB3ED27A0C8}" presName="childShape" presStyleCnt="0"/>
      <dgm:spPr/>
    </dgm:pt>
    <dgm:pt modelId="{1108E5D9-FA35-409B-AD97-48071E479DD4}" type="pres">
      <dgm:prSet presAssocID="{CAFA0A2B-425F-470E-B286-232302D42C26}" presName="Name13" presStyleLbl="parChTrans1D2" presStyleIdx="2" presStyleCnt="4"/>
      <dgm:spPr/>
    </dgm:pt>
    <dgm:pt modelId="{FBCBCA64-44CB-4ACF-92B8-C93BEA58A180}" type="pres">
      <dgm:prSet presAssocID="{A49BBF58-C0AA-4B18-BFE0-7345D562A39B}" presName="childText" presStyleLbl="bgAcc1" presStyleIdx="2" presStyleCnt="4">
        <dgm:presLayoutVars>
          <dgm:bulletEnabled val="1"/>
        </dgm:presLayoutVars>
      </dgm:prSet>
      <dgm:spPr/>
    </dgm:pt>
    <dgm:pt modelId="{B8382D53-E34F-49D2-A67E-1E01469E1DC0}" type="pres">
      <dgm:prSet presAssocID="{D8EC7138-5D48-4ABD-81C2-C304AC28E47A}" presName="Name13" presStyleLbl="parChTrans1D2" presStyleIdx="3" presStyleCnt="4"/>
      <dgm:spPr/>
    </dgm:pt>
    <dgm:pt modelId="{779F84A4-CC82-464E-AB7C-B25616025CFD}" type="pres">
      <dgm:prSet presAssocID="{C9290DAE-A4BF-4B31-81CC-6B595DABCA5E}" presName="childText" presStyleLbl="bgAcc1" presStyleIdx="3" presStyleCnt="4">
        <dgm:presLayoutVars>
          <dgm:bulletEnabled val="1"/>
        </dgm:presLayoutVars>
      </dgm:prSet>
      <dgm:spPr/>
    </dgm:pt>
  </dgm:ptLst>
  <dgm:cxnLst>
    <dgm:cxn modelId="{275CF809-74C4-4BC3-ADF0-08A4A3AA2076}" srcId="{F714AA00-B926-4001-B2E3-BFBCC0F218C8}" destId="{212FCFCD-465B-4D75-94D8-55E5C2DE3F0A}" srcOrd="0" destOrd="0" parTransId="{39137734-BAC3-49E1-9999-193A4BE0DA01}" sibTransId="{3C6C85D4-5B1A-4842-9719-EC963AABA6F5}"/>
    <dgm:cxn modelId="{39D55C0A-E974-4DF1-B647-3D71FC1553D5}" srcId="{BA539D24-4A0D-4FBC-8C9D-2D873162B2BE}" destId="{5FD2A64E-71B0-4096-BE62-3AB3ED27A0C8}" srcOrd="2" destOrd="0" parTransId="{3481A239-E75A-44DE-A2B7-1148BA4656CD}" sibTransId="{11BEE8E1-CC07-4195-8BC5-69F600BE0BEB}"/>
    <dgm:cxn modelId="{FF60C018-44B2-40DB-921D-7E6A5F81789D}" type="presOf" srcId="{CF7F3B40-7445-4D96-87D2-372425B92542}" destId="{6B49386F-A727-4ED2-A155-BF321131E8A4}" srcOrd="1" destOrd="0" presId="urn:microsoft.com/office/officeart/2005/8/layout/hierarchy3"/>
    <dgm:cxn modelId="{557BEF2B-8955-4ECC-BEC4-AF05FE937232}" type="presOf" srcId="{D8EC7138-5D48-4ABD-81C2-C304AC28E47A}" destId="{B8382D53-E34F-49D2-A67E-1E01469E1DC0}" srcOrd="0" destOrd="0" presId="urn:microsoft.com/office/officeart/2005/8/layout/hierarchy3"/>
    <dgm:cxn modelId="{D1E8C530-C621-4C5D-B79B-AA43258F0A43}" type="presOf" srcId="{FA3F975B-4CE1-404D-8FA9-9A5EF43BFEAE}" destId="{8D42C5C3-0C08-4809-8775-9AEBD1BABE29}" srcOrd="0" destOrd="0" presId="urn:microsoft.com/office/officeart/2005/8/layout/hierarchy3"/>
    <dgm:cxn modelId="{D4278939-CBA2-4638-BF0C-0BF00BC15F3C}" srcId="{BA539D24-4A0D-4FBC-8C9D-2D873162B2BE}" destId="{CF7F3B40-7445-4D96-87D2-372425B92542}" srcOrd="0" destOrd="0" parTransId="{9779E641-F06F-4D64-B903-8170C18F5C9F}" sibTransId="{4CDB0015-429C-4608-AE55-58C89A3239FE}"/>
    <dgm:cxn modelId="{92C9B33D-AEFE-4DD2-AC17-595D9834DF42}" type="presOf" srcId="{C9290DAE-A4BF-4B31-81CC-6B595DABCA5E}" destId="{779F84A4-CC82-464E-AB7C-B25616025CFD}" srcOrd="0" destOrd="0" presId="urn:microsoft.com/office/officeart/2005/8/layout/hierarchy3"/>
    <dgm:cxn modelId="{6E090662-C13F-45E4-AAA8-2F0DD4C9350A}" type="presOf" srcId="{5FD2A64E-71B0-4096-BE62-3AB3ED27A0C8}" destId="{99CE3479-8BC9-409D-A5B6-2D5D89F988ED}" srcOrd="0" destOrd="0" presId="urn:microsoft.com/office/officeart/2005/8/layout/hierarchy3"/>
    <dgm:cxn modelId="{E2E33752-A1A7-48A2-B00B-861180DED2F5}" type="presOf" srcId="{F714AA00-B926-4001-B2E3-BFBCC0F218C8}" destId="{3E54FB4D-6FA1-496F-AE0E-5D4BA85DDC4E}" srcOrd="1" destOrd="0" presId="urn:microsoft.com/office/officeart/2005/8/layout/hierarchy3"/>
    <dgm:cxn modelId="{4CEE4852-E71A-40BE-9CCD-CAA894D0A6A8}" srcId="{BA539D24-4A0D-4FBC-8C9D-2D873162B2BE}" destId="{F714AA00-B926-4001-B2E3-BFBCC0F218C8}" srcOrd="1" destOrd="0" parTransId="{EFC78677-3E72-4F31-AFC3-34B01731C603}" sibTransId="{D598A9F5-385B-4D32-B882-8B6700F8507C}"/>
    <dgm:cxn modelId="{B09D6D55-2B41-4D89-A3D5-4D38E65F299B}" srcId="{5FD2A64E-71B0-4096-BE62-3AB3ED27A0C8}" destId="{C9290DAE-A4BF-4B31-81CC-6B595DABCA5E}" srcOrd="1" destOrd="0" parTransId="{D8EC7138-5D48-4ABD-81C2-C304AC28E47A}" sibTransId="{BAE572C9-583E-4486-9A00-D16B6E001270}"/>
    <dgm:cxn modelId="{8171545A-8673-410A-8739-B4A3948BF163}" type="presOf" srcId="{5FD2A64E-71B0-4096-BE62-3AB3ED27A0C8}" destId="{792BDA41-3051-4AEB-950D-E29BC6323A8D}" srcOrd="1" destOrd="0" presId="urn:microsoft.com/office/officeart/2005/8/layout/hierarchy3"/>
    <dgm:cxn modelId="{C0623892-0BF8-47D8-A402-AF0922B4FBB0}" type="presOf" srcId="{39137734-BAC3-49E1-9999-193A4BE0DA01}" destId="{94F7AB97-0140-4E63-95F4-E28A0E6F46E6}" srcOrd="0" destOrd="0" presId="urn:microsoft.com/office/officeart/2005/8/layout/hierarchy3"/>
    <dgm:cxn modelId="{9B717194-A5A5-4C3B-89CD-1B814E50CBB1}" type="presOf" srcId="{D3D509A5-EF00-4390-8ACE-ABBDF6409E2D}" destId="{3581B231-01AA-49A5-A4DF-A613108897A7}" srcOrd="0" destOrd="0" presId="urn:microsoft.com/office/officeart/2005/8/layout/hierarchy3"/>
    <dgm:cxn modelId="{DFEF42A0-D93F-4D6F-8BF5-4231F8A3385F}" type="presOf" srcId="{A49BBF58-C0AA-4B18-BFE0-7345D562A39B}" destId="{FBCBCA64-44CB-4ACF-92B8-C93BEA58A180}" srcOrd="0" destOrd="0" presId="urn:microsoft.com/office/officeart/2005/8/layout/hierarchy3"/>
    <dgm:cxn modelId="{5AD059A1-69F3-43DE-86AC-15734A30A26F}" type="presOf" srcId="{CF7F3B40-7445-4D96-87D2-372425B92542}" destId="{4329C27E-EC96-4355-B88D-F41C5BA8EB51}" srcOrd="0" destOrd="0" presId="urn:microsoft.com/office/officeart/2005/8/layout/hierarchy3"/>
    <dgm:cxn modelId="{6A78EAA7-7349-4CD8-B6EF-19C216CD66F2}" type="presOf" srcId="{F714AA00-B926-4001-B2E3-BFBCC0F218C8}" destId="{8D5F9315-9D1C-4303-9912-B3C58BE84685}" srcOrd="0" destOrd="0" presId="urn:microsoft.com/office/officeart/2005/8/layout/hierarchy3"/>
    <dgm:cxn modelId="{42CB0CAA-AF6F-4CCA-B1A1-36261B51E078}" type="presOf" srcId="{CAFA0A2B-425F-470E-B286-232302D42C26}" destId="{1108E5D9-FA35-409B-AD97-48071E479DD4}" srcOrd="0" destOrd="0" presId="urn:microsoft.com/office/officeart/2005/8/layout/hierarchy3"/>
    <dgm:cxn modelId="{89E50FAB-E762-4417-8A6B-646B2C89A09A}" type="presOf" srcId="{212FCFCD-465B-4D75-94D8-55E5C2DE3F0A}" destId="{55BFD814-9D5C-4C2F-B654-CF079C9AA28D}" srcOrd="0" destOrd="0" presId="urn:microsoft.com/office/officeart/2005/8/layout/hierarchy3"/>
    <dgm:cxn modelId="{86EF72C1-4822-4765-ABC6-153D1B449126}" srcId="{F714AA00-B926-4001-B2E3-BFBCC0F218C8}" destId="{FA3F975B-4CE1-404D-8FA9-9A5EF43BFEAE}" srcOrd="1" destOrd="0" parTransId="{D3D509A5-EF00-4390-8ACE-ABBDF6409E2D}" sibTransId="{7A4E9B4A-4593-4993-8FAD-898A33D8438F}"/>
    <dgm:cxn modelId="{C546CACB-0D1B-4BB6-B655-8BA0C4F07BC0}" type="presOf" srcId="{BA539D24-4A0D-4FBC-8C9D-2D873162B2BE}" destId="{49FB5938-0DB5-440E-88A3-F635FBA75539}" srcOrd="0" destOrd="0" presId="urn:microsoft.com/office/officeart/2005/8/layout/hierarchy3"/>
    <dgm:cxn modelId="{D6DD91E8-CC0F-4298-945E-47652C0001B5}" srcId="{5FD2A64E-71B0-4096-BE62-3AB3ED27A0C8}" destId="{A49BBF58-C0AA-4B18-BFE0-7345D562A39B}" srcOrd="0" destOrd="0" parTransId="{CAFA0A2B-425F-470E-B286-232302D42C26}" sibTransId="{CAF36CF4-19AE-4133-BA80-3C6504D24985}"/>
    <dgm:cxn modelId="{E981E539-62FF-4203-B168-8A38C5FECF6A}" type="presParOf" srcId="{49FB5938-0DB5-440E-88A3-F635FBA75539}" destId="{C514EEAF-D5F5-4551-A167-71C6FE49E9B1}" srcOrd="0" destOrd="0" presId="urn:microsoft.com/office/officeart/2005/8/layout/hierarchy3"/>
    <dgm:cxn modelId="{F2A26659-CE00-4E39-B83D-6585B43A0BDB}" type="presParOf" srcId="{C514EEAF-D5F5-4551-A167-71C6FE49E9B1}" destId="{E50B63F3-E350-4FFA-AD2C-36C5FF2810C3}" srcOrd="0" destOrd="0" presId="urn:microsoft.com/office/officeart/2005/8/layout/hierarchy3"/>
    <dgm:cxn modelId="{A8176DA5-8665-4903-BEE1-1C0A63E25B83}" type="presParOf" srcId="{E50B63F3-E350-4FFA-AD2C-36C5FF2810C3}" destId="{4329C27E-EC96-4355-B88D-F41C5BA8EB51}" srcOrd="0" destOrd="0" presId="urn:microsoft.com/office/officeart/2005/8/layout/hierarchy3"/>
    <dgm:cxn modelId="{C49147FD-7572-4E7D-8792-657F3B7EE2DE}" type="presParOf" srcId="{E50B63F3-E350-4FFA-AD2C-36C5FF2810C3}" destId="{6B49386F-A727-4ED2-A155-BF321131E8A4}" srcOrd="1" destOrd="0" presId="urn:microsoft.com/office/officeart/2005/8/layout/hierarchy3"/>
    <dgm:cxn modelId="{80EC4019-22E4-48E5-A7F3-01ACE72C55C1}" type="presParOf" srcId="{C514EEAF-D5F5-4551-A167-71C6FE49E9B1}" destId="{FFD9B24F-BBAD-4D5F-8181-339FAE8C126E}" srcOrd="1" destOrd="0" presId="urn:microsoft.com/office/officeart/2005/8/layout/hierarchy3"/>
    <dgm:cxn modelId="{E40BCE32-5D8B-48B1-8E0C-0AED837B5187}" type="presParOf" srcId="{49FB5938-0DB5-440E-88A3-F635FBA75539}" destId="{BDFC5DF4-201F-402A-BED2-9C6AF86FB72C}" srcOrd="1" destOrd="0" presId="urn:microsoft.com/office/officeart/2005/8/layout/hierarchy3"/>
    <dgm:cxn modelId="{5DAF8CA9-8281-4F64-85AA-931A5FBD9925}" type="presParOf" srcId="{BDFC5DF4-201F-402A-BED2-9C6AF86FB72C}" destId="{8451CCDC-D224-4AED-991C-02AA38561E09}" srcOrd="0" destOrd="0" presId="urn:microsoft.com/office/officeart/2005/8/layout/hierarchy3"/>
    <dgm:cxn modelId="{20F6F334-0323-4D9C-BF05-17F944D3FB4D}" type="presParOf" srcId="{8451CCDC-D224-4AED-991C-02AA38561E09}" destId="{8D5F9315-9D1C-4303-9912-B3C58BE84685}" srcOrd="0" destOrd="0" presId="urn:microsoft.com/office/officeart/2005/8/layout/hierarchy3"/>
    <dgm:cxn modelId="{201669B9-921D-4093-A87D-352A9A3258F9}" type="presParOf" srcId="{8451CCDC-D224-4AED-991C-02AA38561E09}" destId="{3E54FB4D-6FA1-496F-AE0E-5D4BA85DDC4E}" srcOrd="1" destOrd="0" presId="urn:microsoft.com/office/officeart/2005/8/layout/hierarchy3"/>
    <dgm:cxn modelId="{920B6B8B-12D6-49C8-A5B4-ABD10C4ABAE5}" type="presParOf" srcId="{BDFC5DF4-201F-402A-BED2-9C6AF86FB72C}" destId="{69B41E52-515A-49FF-B131-7ABFEE8FD62D}" srcOrd="1" destOrd="0" presId="urn:microsoft.com/office/officeart/2005/8/layout/hierarchy3"/>
    <dgm:cxn modelId="{2964A04D-9282-4FD2-8943-5F8E14487BE7}" type="presParOf" srcId="{69B41E52-515A-49FF-B131-7ABFEE8FD62D}" destId="{94F7AB97-0140-4E63-95F4-E28A0E6F46E6}" srcOrd="0" destOrd="0" presId="urn:microsoft.com/office/officeart/2005/8/layout/hierarchy3"/>
    <dgm:cxn modelId="{B3A3B592-45D4-4E25-AF8D-896466379739}" type="presParOf" srcId="{69B41E52-515A-49FF-B131-7ABFEE8FD62D}" destId="{55BFD814-9D5C-4C2F-B654-CF079C9AA28D}" srcOrd="1" destOrd="0" presId="urn:microsoft.com/office/officeart/2005/8/layout/hierarchy3"/>
    <dgm:cxn modelId="{AA60F084-6C63-46D7-A8C8-6A2E88411288}" type="presParOf" srcId="{69B41E52-515A-49FF-B131-7ABFEE8FD62D}" destId="{3581B231-01AA-49A5-A4DF-A613108897A7}" srcOrd="2" destOrd="0" presId="urn:microsoft.com/office/officeart/2005/8/layout/hierarchy3"/>
    <dgm:cxn modelId="{B7B241F7-6BB1-4B4B-970E-7C654EA4E53E}" type="presParOf" srcId="{69B41E52-515A-49FF-B131-7ABFEE8FD62D}" destId="{8D42C5C3-0C08-4809-8775-9AEBD1BABE29}" srcOrd="3" destOrd="0" presId="urn:microsoft.com/office/officeart/2005/8/layout/hierarchy3"/>
    <dgm:cxn modelId="{56DDE201-F23E-4110-B9F8-67791DFD4488}" type="presParOf" srcId="{49FB5938-0DB5-440E-88A3-F635FBA75539}" destId="{0E3CCCED-40D9-4877-B006-6FB6A719BC18}" srcOrd="2" destOrd="0" presId="urn:microsoft.com/office/officeart/2005/8/layout/hierarchy3"/>
    <dgm:cxn modelId="{FCFBCB43-2855-4F01-8567-2ED3E4E8F94C}" type="presParOf" srcId="{0E3CCCED-40D9-4877-B006-6FB6A719BC18}" destId="{9844F436-1D8E-477A-B54E-04A1B8C67057}" srcOrd="0" destOrd="0" presId="urn:microsoft.com/office/officeart/2005/8/layout/hierarchy3"/>
    <dgm:cxn modelId="{9E949F58-2C2C-4EBA-B0F4-A168D02E0754}" type="presParOf" srcId="{9844F436-1D8E-477A-B54E-04A1B8C67057}" destId="{99CE3479-8BC9-409D-A5B6-2D5D89F988ED}" srcOrd="0" destOrd="0" presId="urn:microsoft.com/office/officeart/2005/8/layout/hierarchy3"/>
    <dgm:cxn modelId="{AC8B3655-2A1E-42A9-92D0-8EB04FFD609C}" type="presParOf" srcId="{9844F436-1D8E-477A-B54E-04A1B8C67057}" destId="{792BDA41-3051-4AEB-950D-E29BC6323A8D}" srcOrd="1" destOrd="0" presId="urn:microsoft.com/office/officeart/2005/8/layout/hierarchy3"/>
    <dgm:cxn modelId="{363988CA-E445-4942-8C14-6E6509CD95A7}" type="presParOf" srcId="{0E3CCCED-40D9-4877-B006-6FB6A719BC18}" destId="{2B886E1A-9167-431B-ACC6-8045A8A2D1C1}" srcOrd="1" destOrd="0" presId="urn:microsoft.com/office/officeart/2005/8/layout/hierarchy3"/>
    <dgm:cxn modelId="{29BBA329-11EF-4053-82F7-83156458138A}" type="presParOf" srcId="{2B886E1A-9167-431B-ACC6-8045A8A2D1C1}" destId="{1108E5D9-FA35-409B-AD97-48071E479DD4}" srcOrd="0" destOrd="0" presId="urn:microsoft.com/office/officeart/2005/8/layout/hierarchy3"/>
    <dgm:cxn modelId="{B6CA618C-A3B8-42BE-8918-8FF24EA77F41}" type="presParOf" srcId="{2B886E1A-9167-431B-ACC6-8045A8A2D1C1}" destId="{FBCBCA64-44CB-4ACF-92B8-C93BEA58A180}" srcOrd="1" destOrd="0" presId="urn:microsoft.com/office/officeart/2005/8/layout/hierarchy3"/>
    <dgm:cxn modelId="{EFE4E31A-F9EE-4450-8AA5-536CFC9F84BD}" type="presParOf" srcId="{2B886E1A-9167-431B-ACC6-8045A8A2D1C1}" destId="{B8382D53-E34F-49D2-A67E-1E01469E1DC0}" srcOrd="2" destOrd="0" presId="urn:microsoft.com/office/officeart/2005/8/layout/hierarchy3"/>
    <dgm:cxn modelId="{B20C712E-BFC9-49F0-994A-CFDAA99BEC67}" type="presParOf" srcId="{2B886E1A-9167-431B-ACC6-8045A8A2D1C1}" destId="{779F84A4-CC82-464E-AB7C-B25616025CFD}"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29C27E-EC96-4355-B88D-F41C5BA8EB51}">
      <dsp:nvSpPr>
        <dsp:cNvPr id="0" name=""/>
        <dsp:cNvSpPr/>
      </dsp:nvSpPr>
      <dsp:spPr>
        <a:xfrm>
          <a:off x="0" y="231095"/>
          <a:ext cx="3003723" cy="68653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IN" sz="3500" kern="1200" dirty="0"/>
            <a:t>Work segment</a:t>
          </a:r>
        </a:p>
      </dsp:txBody>
      <dsp:txXfrm>
        <a:off x="20108" y="251203"/>
        <a:ext cx="2963507" cy="646315"/>
      </dsp:txXfrm>
    </dsp:sp>
    <dsp:sp modelId="{8D5F9315-9D1C-4303-9912-B3C58BE84685}">
      <dsp:nvSpPr>
        <dsp:cNvPr id="0" name=""/>
        <dsp:cNvSpPr/>
      </dsp:nvSpPr>
      <dsp:spPr>
        <a:xfrm>
          <a:off x="3755938" y="138370"/>
          <a:ext cx="3003723" cy="150186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IN" sz="3500" kern="1200" dirty="0"/>
            <a:t>Mukesh</a:t>
          </a:r>
        </a:p>
      </dsp:txBody>
      <dsp:txXfrm>
        <a:off x="3799926" y="182358"/>
        <a:ext cx="2915747" cy="1413885"/>
      </dsp:txXfrm>
    </dsp:sp>
    <dsp:sp modelId="{94F7AB97-0140-4E63-95F4-E28A0E6F46E6}">
      <dsp:nvSpPr>
        <dsp:cNvPr id="0" name=""/>
        <dsp:cNvSpPr/>
      </dsp:nvSpPr>
      <dsp:spPr>
        <a:xfrm>
          <a:off x="4056310" y="1640232"/>
          <a:ext cx="300372" cy="1126396"/>
        </a:xfrm>
        <a:custGeom>
          <a:avLst/>
          <a:gdLst/>
          <a:ahLst/>
          <a:cxnLst/>
          <a:rect l="0" t="0" r="0" b="0"/>
          <a:pathLst>
            <a:path>
              <a:moveTo>
                <a:pt x="0" y="0"/>
              </a:moveTo>
              <a:lnTo>
                <a:pt x="0" y="1126396"/>
              </a:lnTo>
              <a:lnTo>
                <a:pt x="300372" y="112639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BFD814-9D5C-4C2F-B654-CF079C9AA28D}">
      <dsp:nvSpPr>
        <dsp:cNvPr id="0" name=""/>
        <dsp:cNvSpPr/>
      </dsp:nvSpPr>
      <dsp:spPr>
        <a:xfrm>
          <a:off x="4356682" y="2015697"/>
          <a:ext cx="2402978" cy="150186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kern="1200" dirty="0"/>
            <a:t>Making the power point file</a:t>
          </a:r>
        </a:p>
      </dsp:txBody>
      <dsp:txXfrm>
        <a:off x="4400670" y="2059685"/>
        <a:ext cx="2315002" cy="1413885"/>
      </dsp:txXfrm>
    </dsp:sp>
    <dsp:sp modelId="{3581B231-01AA-49A5-A4DF-A613108897A7}">
      <dsp:nvSpPr>
        <dsp:cNvPr id="0" name=""/>
        <dsp:cNvSpPr/>
      </dsp:nvSpPr>
      <dsp:spPr>
        <a:xfrm>
          <a:off x="4056310" y="1640232"/>
          <a:ext cx="300372" cy="3003723"/>
        </a:xfrm>
        <a:custGeom>
          <a:avLst/>
          <a:gdLst/>
          <a:ahLst/>
          <a:cxnLst/>
          <a:rect l="0" t="0" r="0" b="0"/>
          <a:pathLst>
            <a:path>
              <a:moveTo>
                <a:pt x="0" y="0"/>
              </a:moveTo>
              <a:lnTo>
                <a:pt x="0" y="3003723"/>
              </a:lnTo>
              <a:lnTo>
                <a:pt x="300372" y="300372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42C5C3-0C08-4809-8775-9AEBD1BABE29}">
      <dsp:nvSpPr>
        <dsp:cNvPr id="0" name=""/>
        <dsp:cNvSpPr/>
      </dsp:nvSpPr>
      <dsp:spPr>
        <a:xfrm>
          <a:off x="4356682" y="3893024"/>
          <a:ext cx="2402978" cy="150186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kern="1200" dirty="0"/>
            <a:t>Look upon the </a:t>
          </a:r>
          <a:r>
            <a:rPr lang="en-IN" sz="2400" kern="1200" dirty="0" err="1"/>
            <a:t>softskill</a:t>
          </a:r>
          <a:r>
            <a:rPr lang="en-IN" sz="2400" kern="1200" dirty="0"/>
            <a:t> part</a:t>
          </a:r>
        </a:p>
      </dsp:txBody>
      <dsp:txXfrm>
        <a:off x="4400670" y="3937012"/>
        <a:ext cx="2315002" cy="1413885"/>
      </dsp:txXfrm>
    </dsp:sp>
    <dsp:sp modelId="{99CE3479-8BC9-409D-A5B6-2D5D89F988ED}">
      <dsp:nvSpPr>
        <dsp:cNvPr id="0" name=""/>
        <dsp:cNvSpPr/>
      </dsp:nvSpPr>
      <dsp:spPr>
        <a:xfrm>
          <a:off x="7510592" y="138370"/>
          <a:ext cx="3003723" cy="150186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IN" sz="3500" kern="1200" dirty="0" err="1"/>
            <a:t>Saubhagya</a:t>
          </a:r>
          <a:endParaRPr lang="en-IN" sz="3500" kern="1200" dirty="0"/>
        </a:p>
      </dsp:txBody>
      <dsp:txXfrm>
        <a:off x="7554580" y="182358"/>
        <a:ext cx="2915747" cy="1413885"/>
      </dsp:txXfrm>
    </dsp:sp>
    <dsp:sp modelId="{1108E5D9-FA35-409B-AD97-48071E479DD4}">
      <dsp:nvSpPr>
        <dsp:cNvPr id="0" name=""/>
        <dsp:cNvSpPr/>
      </dsp:nvSpPr>
      <dsp:spPr>
        <a:xfrm>
          <a:off x="7810965" y="1640232"/>
          <a:ext cx="300372" cy="1126396"/>
        </a:xfrm>
        <a:custGeom>
          <a:avLst/>
          <a:gdLst/>
          <a:ahLst/>
          <a:cxnLst/>
          <a:rect l="0" t="0" r="0" b="0"/>
          <a:pathLst>
            <a:path>
              <a:moveTo>
                <a:pt x="0" y="0"/>
              </a:moveTo>
              <a:lnTo>
                <a:pt x="0" y="1126396"/>
              </a:lnTo>
              <a:lnTo>
                <a:pt x="300372" y="112639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CBCA64-44CB-4ACF-92B8-C93BEA58A180}">
      <dsp:nvSpPr>
        <dsp:cNvPr id="0" name=""/>
        <dsp:cNvSpPr/>
      </dsp:nvSpPr>
      <dsp:spPr>
        <a:xfrm>
          <a:off x="8111337" y="2015697"/>
          <a:ext cx="2402978" cy="150186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kern="1200" dirty="0"/>
            <a:t>All technical parts of excel</a:t>
          </a:r>
        </a:p>
      </dsp:txBody>
      <dsp:txXfrm>
        <a:off x="8155325" y="2059685"/>
        <a:ext cx="2315002" cy="1413885"/>
      </dsp:txXfrm>
    </dsp:sp>
    <dsp:sp modelId="{B8382D53-E34F-49D2-A67E-1E01469E1DC0}">
      <dsp:nvSpPr>
        <dsp:cNvPr id="0" name=""/>
        <dsp:cNvSpPr/>
      </dsp:nvSpPr>
      <dsp:spPr>
        <a:xfrm>
          <a:off x="7810965" y="1640232"/>
          <a:ext cx="300372" cy="3003723"/>
        </a:xfrm>
        <a:custGeom>
          <a:avLst/>
          <a:gdLst/>
          <a:ahLst/>
          <a:cxnLst/>
          <a:rect l="0" t="0" r="0" b="0"/>
          <a:pathLst>
            <a:path>
              <a:moveTo>
                <a:pt x="0" y="0"/>
              </a:moveTo>
              <a:lnTo>
                <a:pt x="0" y="3003723"/>
              </a:lnTo>
              <a:lnTo>
                <a:pt x="300372" y="300372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9F84A4-CC82-464E-AB7C-B25616025CFD}">
      <dsp:nvSpPr>
        <dsp:cNvPr id="0" name=""/>
        <dsp:cNvSpPr/>
      </dsp:nvSpPr>
      <dsp:spPr>
        <a:xfrm>
          <a:off x="8111337" y="3893024"/>
          <a:ext cx="2402978" cy="150186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IN" sz="2400" kern="1200" dirty="0"/>
            <a:t>Prepare the full excel file according to requirements</a:t>
          </a:r>
        </a:p>
      </dsp:txBody>
      <dsp:txXfrm>
        <a:off x="8155325" y="3937012"/>
        <a:ext cx="2315002" cy="141388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C2B04-2B2E-E56E-06C3-E9305C0D38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2CF2ECE-8E97-F7BF-B789-F0BA4E30FB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E5C4756-C13E-18FE-CBE6-AA77D7F942BC}"/>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5" name="Footer Placeholder 4">
            <a:extLst>
              <a:ext uri="{FF2B5EF4-FFF2-40B4-BE49-F238E27FC236}">
                <a16:creationId xmlns:a16="http://schemas.microsoft.com/office/drawing/2014/main" id="{30E82DF2-95AD-0C8B-D98E-3F6F24531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8A0CC4-B1DE-337C-C11E-B60C2463745D}"/>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1336097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F287F-DC0A-6EE8-EA71-7FB875F896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6B47D1-308C-75B1-625E-F2A11C25A0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B2379A-3B3C-CBE5-C77F-B6C0AE618EA3}"/>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5" name="Footer Placeholder 4">
            <a:extLst>
              <a:ext uri="{FF2B5EF4-FFF2-40B4-BE49-F238E27FC236}">
                <a16:creationId xmlns:a16="http://schemas.microsoft.com/office/drawing/2014/main" id="{704743B5-CEF0-5F3E-937C-CB4AC4E4AE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EF5A78-31D1-2236-8115-FFF5109136B3}"/>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2726898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E5748-271A-3A0F-4E3A-95E79C42D4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8D33DE-1E3F-51E4-5F69-BAB100FA87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5A7A56-01B2-0F47-C4AC-9D277810BF70}"/>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5" name="Footer Placeholder 4">
            <a:extLst>
              <a:ext uri="{FF2B5EF4-FFF2-40B4-BE49-F238E27FC236}">
                <a16:creationId xmlns:a16="http://schemas.microsoft.com/office/drawing/2014/main" id="{42883F27-B67F-6604-5733-FADD0CED97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785AE-58CB-A563-4CCA-F06D01D35649}"/>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2197853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696B-A749-A364-E4C6-339A251737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903696-DD71-B407-9809-3DEF07C974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3C4522-F3C1-858E-DF16-8BC02977C8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C3DF3A-F9B4-712B-9723-CD5311A9BDF5}"/>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6" name="Footer Placeholder 5">
            <a:extLst>
              <a:ext uri="{FF2B5EF4-FFF2-40B4-BE49-F238E27FC236}">
                <a16:creationId xmlns:a16="http://schemas.microsoft.com/office/drawing/2014/main" id="{C740D28F-B7ED-5E89-4233-CEAC61964E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B17AE3-53F1-3E05-76C6-543AE014EBD9}"/>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1404276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8DF0D-3B77-342D-B232-465DB7537E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5B38FF-68CB-6716-A4E3-FDBE0CF2CE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FC2100-1117-829F-EE09-AC8704EA6E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446333-4F12-0B5E-B219-E23D9D1D49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B1FA96-DEC6-2DDF-B5C4-A14DEF974F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FEB174-CE1D-3557-91B0-85D024BAF4D3}"/>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8" name="Footer Placeholder 7">
            <a:extLst>
              <a:ext uri="{FF2B5EF4-FFF2-40B4-BE49-F238E27FC236}">
                <a16:creationId xmlns:a16="http://schemas.microsoft.com/office/drawing/2014/main" id="{A9786293-AFB7-EF5D-4C08-3A7220B5945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9A23B5-F612-821A-3331-513BF716E7A9}"/>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185593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3A8FD-138B-080B-7D30-10D1D30A54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37B9B1-8245-A99D-378F-B71E931287EB}"/>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4" name="Footer Placeholder 3">
            <a:extLst>
              <a:ext uri="{FF2B5EF4-FFF2-40B4-BE49-F238E27FC236}">
                <a16:creationId xmlns:a16="http://schemas.microsoft.com/office/drawing/2014/main" id="{D08264A6-D258-D8D3-0CD5-5FD2F74986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5E65A9-CD8D-8E68-29CB-E6BD1B6904A9}"/>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434835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DBD861-BDFB-22DF-A425-D6A96E3CD529}"/>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3" name="Footer Placeholder 2">
            <a:extLst>
              <a:ext uri="{FF2B5EF4-FFF2-40B4-BE49-F238E27FC236}">
                <a16:creationId xmlns:a16="http://schemas.microsoft.com/office/drawing/2014/main" id="{40E30F84-971C-B56E-A4DE-D5B9EF10E1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1A48D9-C2F8-D2D7-603A-3FD165561472}"/>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1501075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D9C7-9E02-D3F9-EBC4-8715C9D34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DDEB38-4822-8112-7B20-6DC20762F1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88A0FB-AF2A-0F5F-6776-49A2014C9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F84CD2-F1E3-7447-92E1-FCB96C422B23}"/>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6" name="Footer Placeholder 5">
            <a:extLst>
              <a:ext uri="{FF2B5EF4-FFF2-40B4-BE49-F238E27FC236}">
                <a16:creationId xmlns:a16="http://schemas.microsoft.com/office/drawing/2014/main" id="{24C891BE-8012-6CD3-3F7E-A22F62C0DB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529550-8B7F-A114-53F7-F81F9683C10C}"/>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3504743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92D8-5532-0CEA-E619-90693452A1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978C63-0707-E246-29D1-2A94BB7251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78B4882-5789-2A1C-1D91-2EBF997436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D9BF9-51A8-E9F1-9E61-B898AB24C3BC}"/>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6" name="Footer Placeholder 5">
            <a:extLst>
              <a:ext uri="{FF2B5EF4-FFF2-40B4-BE49-F238E27FC236}">
                <a16:creationId xmlns:a16="http://schemas.microsoft.com/office/drawing/2014/main" id="{F3E02FF8-AF7B-B97E-0212-6A7B3A8D58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913115-068A-566C-DDD7-96397B6FB4F0}"/>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1208727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AE15D-5D0C-251F-C317-07709984E3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117E-AB0E-3612-25C9-0B543BC7C0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E9BE0F-5C0A-9E5F-1CFB-5AF428D9EAF8}"/>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5" name="Footer Placeholder 4">
            <a:extLst>
              <a:ext uri="{FF2B5EF4-FFF2-40B4-BE49-F238E27FC236}">
                <a16:creationId xmlns:a16="http://schemas.microsoft.com/office/drawing/2014/main" id="{AFCC0C54-CFE8-8A2C-B447-0AB6E11337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D17ACD-F8B5-54DD-CD75-CBB8C4A137CD}"/>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315722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F376F8-57B8-CBB1-5357-4A84DEC160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1910A8-5A1B-CF35-C023-5DFE19958C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3138C2-5975-EB2F-6A4B-EEA1DC64B35D}"/>
              </a:ext>
            </a:extLst>
          </p:cNvPr>
          <p:cNvSpPr>
            <a:spLocks noGrp="1"/>
          </p:cNvSpPr>
          <p:nvPr>
            <p:ph type="dt" sz="half" idx="10"/>
          </p:nvPr>
        </p:nvSpPr>
        <p:spPr/>
        <p:txBody>
          <a:bodyPr/>
          <a:lstStyle/>
          <a:p>
            <a:fld id="{D7B35FCA-2906-4277-9103-DDF0728A7059}" type="datetimeFigureOut">
              <a:rPr lang="en-IN" smtClean="0"/>
              <a:t>29-05-2026</a:t>
            </a:fld>
            <a:endParaRPr lang="en-IN"/>
          </a:p>
        </p:txBody>
      </p:sp>
      <p:sp>
        <p:nvSpPr>
          <p:cNvPr id="5" name="Footer Placeholder 4">
            <a:extLst>
              <a:ext uri="{FF2B5EF4-FFF2-40B4-BE49-F238E27FC236}">
                <a16:creationId xmlns:a16="http://schemas.microsoft.com/office/drawing/2014/main" id="{9EBC176C-8365-2F2A-35C3-9DCEAC203F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BEBB97-3729-6666-F6D2-86C5993D701E}"/>
              </a:ext>
            </a:extLst>
          </p:cNvPr>
          <p:cNvSpPr>
            <a:spLocks noGrp="1"/>
          </p:cNvSpPr>
          <p:nvPr>
            <p:ph type="sldNum" sz="quarter" idx="12"/>
          </p:nvPr>
        </p:nvSpPr>
        <p:spPr/>
        <p:txBody>
          <a:bodyPr/>
          <a:lstStyle/>
          <a:p>
            <a:fld id="{95CEB04E-73DC-4C42-AC0C-927BD9E9D225}" type="slidenum">
              <a:rPr lang="en-IN" smtClean="0"/>
              <a:t>‹#›</a:t>
            </a:fld>
            <a:endParaRPr lang="en-IN"/>
          </a:p>
        </p:txBody>
      </p:sp>
    </p:spTree>
    <p:extLst>
      <p:ext uri="{BB962C8B-B14F-4D97-AF65-F5344CB8AC3E}">
        <p14:creationId xmlns:p14="http://schemas.microsoft.com/office/powerpoint/2010/main" val="1340726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B066AE-44C6-0488-990A-2B1FB6D0C1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A9F679-E147-B91E-0E5F-A9D9691EFF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2F7F93-8F9C-BC12-691B-FC09F71EDD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B35FCA-2906-4277-9103-DDF0728A7059}" type="datetimeFigureOut">
              <a:rPr lang="en-IN" smtClean="0"/>
              <a:t>29-05-2026</a:t>
            </a:fld>
            <a:endParaRPr lang="en-IN"/>
          </a:p>
        </p:txBody>
      </p:sp>
      <p:sp>
        <p:nvSpPr>
          <p:cNvPr id="5" name="Footer Placeholder 4">
            <a:extLst>
              <a:ext uri="{FF2B5EF4-FFF2-40B4-BE49-F238E27FC236}">
                <a16:creationId xmlns:a16="http://schemas.microsoft.com/office/drawing/2014/main" id="{357660E6-1111-5385-5097-59D59C01DC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E21961D-A9A7-535A-AEDB-74C2D99331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CEB04E-73DC-4C42-AC0C-927BD9E9D225}" type="slidenum">
              <a:rPr lang="en-IN" smtClean="0"/>
              <a:t>‹#›</a:t>
            </a:fld>
            <a:endParaRPr lang="en-IN"/>
          </a:p>
        </p:txBody>
      </p:sp>
    </p:spTree>
    <p:extLst>
      <p:ext uri="{BB962C8B-B14F-4D97-AF65-F5344CB8AC3E}">
        <p14:creationId xmlns:p14="http://schemas.microsoft.com/office/powerpoint/2010/main" val="1725722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Saubhagya-M/Sales-Revenue-Tracker" TargetMode="External"/><Relationship Id="rId2" Type="http://schemas.openxmlformats.org/officeDocument/2006/relationships/hyperlink" Target="https://www.kaggle.com/datase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59EFA-4960-4099-2A07-8A22195BA3C4}"/>
              </a:ext>
            </a:extLst>
          </p:cNvPr>
          <p:cNvSpPr>
            <a:spLocks noGrp="1"/>
          </p:cNvSpPr>
          <p:nvPr>
            <p:ph type="ctrTitle"/>
          </p:nvPr>
        </p:nvSpPr>
        <p:spPr>
          <a:xfrm>
            <a:off x="1524000" y="1122363"/>
            <a:ext cx="8886092" cy="565760"/>
          </a:xfrm>
        </p:spPr>
        <p:txBody>
          <a:bodyPr>
            <a:normAutofit fontScale="90000"/>
          </a:bodyPr>
          <a:lstStyle/>
          <a:p>
            <a:r>
              <a:rPr lang="en-IN" sz="3600" b="1" u="sng" dirty="0">
                <a:latin typeface="Times New Roman" panose="02020603050405020304" pitchFamily="18" charset="0"/>
                <a:cs typeface="Times New Roman" panose="02020603050405020304" pitchFamily="18" charset="0"/>
              </a:rPr>
              <a:t>Sales Revenue Dashboard with KPI Tracker</a:t>
            </a:r>
          </a:p>
        </p:txBody>
      </p:sp>
      <p:sp>
        <p:nvSpPr>
          <p:cNvPr id="3" name="Subtitle 2">
            <a:extLst>
              <a:ext uri="{FF2B5EF4-FFF2-40B4-BE49-F238E27FC236}">
                <a16:creationId xmlns:a16="http://schemas.microsoft.com/office/drawing/2014/main" id="{380B5694-7DEC-0329-D33E-0955F80A5ABA}"/>
              </a:ext>
            </a:extLst>
          </p:cNvPr>
          <p:cNvSpPr>
            <a:spLocks noGrp="1"/>
          </p:cNvSpPr>
          <p:nvPr>
            <p:ph type="subTitle" idx="1"/>
          </p:nvPr>
        </p:nvSpPr>
        <p:spPr>
          <a:xfrm>
            <a:off x="1524000" y="2210637"/>
            <a:ext cx="9144000" cy="3677697"/>
          </a:xfrm>
        </p:spPr>
        <p:txBody>
          <a:bodyPr>
            <a:normAutofit lnSpcReduction="10000"/>
          </a:bodyPr>
          <a:lstStyle/>
          <a:p>
            <a:pPr algn="just"/>
            <a:r>
              <a:rPr lang="en-US" sz="2400" spc="45" dirty="0">
                <a:solidFill>
                  <a:schemeClr val="accent4">
                    <a:lumMod val="50000"/>
                  </a:schemeClr>
                </a:solidFill>
                <a:latin typeface="Arial" panose="020B0604020202020204" pitchFamily="34" charset="0"/>
                <a:cs typeface="Arial" panose="020B0604020202020204" pitchFamily="34" charset="0"/>
              </a:rPr>
              <a:t>Comprehensive</a:t>
            </a:r>
            <a:r>
              <a:rPr lang="en-US" spc="45" dirty="0">
                <a:solidFill>
                  <a:schemeClr val="accent4">
                    <a:lumMod val="50000"/>
                  </a:schemeClr>
                </a:solidFill>
                <a:latin typeface="Arial" panose="020B0604020202020204" pitchFamily="34" charset="0"/>
                <a:cs typeface="Arial" panose="020B0604020202020204" pitchFamily="34" charset="0"/>
              </a:rPr>
              <a:t> </a:t>
            </a:r>
            <a:r>
              <a:rPr lang="en-US" sz="2400" dirty="0">
                <a:solidFill>
                  <a:schemeClr val="accent4">
                    <a:lumMod val="50000"/>
                  </a:schemeClr>
                </a:solidFill>
                <a:latin typeface="Arial" panose="020B0604020202020204" pitchFamily="34" charset="0"/>
                <a:cs typeface="Arial" panose="020B0604020202020204" pitchFamily="34" charset="0"/>
              </a:rPr>
              <a:t>Analysis</a:t>
            </a:r>
            <a:r>
              <a:rPr lang="en-US" sz="2400" spc="300" dirty="0">
                <a:solidFill>
                  <a:schemeClr val="accent4">
                    <a:lumMod val="50000"/>
                  </a:schemeClr>
                </a:solidFill>
                <a:latin typeface="Arial" panose="020B0604020202020204" pitchFamily="34" charset="0"/>
                <a:cs typeface="Arial" panose="020B0604020202020204" pitchFamily="34" charset="0"/>
              </a:rPr>
              <a:t> </a:t>
            </a:r>
            <a:r>
              <a:rPr lang="en-US" sz="2400" spc="85" dirty="0">
                <a:solidFill>
                  <a:schemeClr val="accent4">
                    <a:lumMod val="50000"/>
                  </a:schemeClr>
                </a:solidFill>
                <a:latin typeface="Arial" panose="020B0604020202020204" pitchFamily="34" charset="0"/>
                <a:cs typeface="Arial" panose="020B0604020202020204" pitchFamily="34" charset="0"/>
              </a:rPr>
              <a:t>of</a:t>
            </a:r>
            <a:r>
              <a:rPr lang="en-US" sz="2400" spc="250" dirty="0">
                <a:solidFill>
                  <a:schemeClr val="accent4">
                    <a:lumMod val="50000"/>
                  </a:schemeClr>
                </a:solidFill>
                <a:latin typeface="Arial" panose="020B0604020202020204" pitchFamily="34" charset="0"/>
                <a:cs typeface="Arial" panose="020B0604020202020204" pitchFamily="34" charset="0"/>
              </a:rPr>
              <a:t> </a:t>
            </a:r>
            <a:r>
              <a:rPr lang="en-US" sz="2400" dirty="0">
                <a:solidFill>
                  <a:schemeClr val="accent4">
                    <a:lumMod val="50000"/>
                  </a:schemeClr>
                </a:solidFill>
                <a:latin typeface="Arial" panose="020B0604020202020204" pitchFamily="34" charset="0"/>
                <a:cs typeface="Arial" panose="020B0604020202020204" pitchFamily="34" charset="0"/>
              </a:rPr>
              <a:t>Revenue</a:t>
            </a:r>
            <a:r>
              <a:rPr lang="en-US" sz="2400" spc="310" dirty="0">
                <a:solidFill>
                  <a:schemeClr val="accent4">
                    <a:lumMod val="50000"/>
                  </a:schemeClr>
                </a:solidFill>
                <a:latin typeface="Arial" panose="020B0604020202020204" pitchFamily="34" charset="0"/>
                <a:cs typeface="Arial" panose="020B0604020202020204" pitchFamily="34" charset="0"/>
              </a:rPr>
              <a:t> </a:t>
            </a:r>
            <a:r>
              <a:rPr lang="en-US" sz="2400" dirty="0">
                <a:solidFill>
                  <a:schemeClr val="accent4">
                    <a:lumMod val="50000"/>
                  </a:schemeClr>
                </a:solidFill>
                <a:latin typeface="Arial" panose="020B0604020202020204" pitchFamily="34" charset="0"/>
                <a:cs typeface="Arial" panose="020B0604020202020204" pitchFamily="34" charset="0"/>
              </a:rPr>
              <a:t>Streams,</a:t>
            </a:r>
            <a:r>
              <a:rPr lang="en-US" sz="2400" spc="265" dirty="0">
                <a:solidFill>
                  <a:schemeClr val="accent4">
                    <a:lumMod val="50000"/>
                  </a:schemeClr>
                </a:solidFill>
                <a:latin typeface="Arial" panose="020B0604020202020204" pitchFamily="34" charset="0"/>
                <a:cs typeface="Arial" panose="020B0604020202020204" pitchFamily="34" charset="0"/>
              </a:rPr>
              <a:t> </a:t>
            </a:r>
            <a:r>
              <a:rPr lang="en-US" sz="2400" dirty="0">
                <a:solidFill>
                  <a:schemeClr val="accent4">
                    <a:lumMod val="50000"/>
                  </a:schemeClr>
                </a:solidFill>
                <a:latin typeface="Arial" panose="020B0604020202020204" pitchFamily="34" charset="0"/>
                <a:cs typeface="Arial" panose="020B0604020202020204" pitchFamily="34" charset="0"/>
              </a:rPr>
              <a:t>Regional</a:t>
            </a:r>
            <a:r>
              <a:rPr lang="en-US" sz="2400" spc="300" dirty="0">
                <a:solidFill>
                  <a:schemeClr val="accent4">
                    <a:lumMod val="50000"/>
                  </a:schemeClr>
                </a:solidFill>
                <a:latin typeface="Arial" panose="020B0604020202020204" pitchFamily="34" charset="0"/>
                <a:cs typeface="Arial" panose="020B0604020202020204" pitchFamily="34" charset="0"/>
              </a:rPr>
              <a:t> </a:t>
            </a:r>
            <a:r>
              <a:rPr lang="en-US" sz="2400" spc="50" dirty="0">
                <a:solidFill>
                  <a:schemeClr val="accent4">
                    <a:lumMod val="50000"/>
                  </a:schemeClr>
                </a:solidFill>
                <a:latin typeface="Arial" panose="020B0604020202020204" pitchFamily="34" charset="0"/>
                <a:cs typeface="Arial" panose="020B0604020202020204" pitchFamily="34" charset="0"/>
              </a:rPr>
              <a:t>Trends,</a:t>
            </a:r>
            <a:r>
              <a:rPr lang="en-US" sz="2400" spc="190" dirty="0">
                <a:solidFill>
                  <a:schemeClr val="accent4">
                    <a:lumMod val="50000"/>
                  </a:schemeClr>
                </a:solidFill>
                <a:latin typeface="Arial" panose="020B0604020202020204" pitchFamily="34" charset="0"/>
                <a:cs typeface="Arial" panose="020B0604020202020204" pitchFamily="34" charset="0"/>
              </a:rPr>
              <a:t> </a:t>
            </a:r>
            <a:r>
              <a:rPr lang="en-US" sz="2400" spc="35" dirty="0">
                <a:solidFill>
                  <a:schemeClr val="accent4">
                    <a:lumMod val="50000"/>
                  </a:schemeClr>
                </a:solidFill>
                <a:latin typeface="Arial" panose="020B0604020202020204" pitchFamily="34" charset="0"/>
                <a:cs typeface="Arial" panose="020B0604020202020204" pitchFamily="34" charset="0"/>
              </a:rPr>
              <a:t>and </a:t>
            </a:r>
            <a:r>
              <a:rPr lang="en-US" sz="2400" dirty="0">
                <a:solidFill>
                  <a:schemeClr val="accent4">
                    <a:lumMod val="50000"/>
                  </a:schemeClr>
                </a:solidFill>
                <a:latin typeface="Arial" panose="020B0604020202020204" pitchFamily="34" charset="0"/>
                <a:cs typeface="Arial" panose="020B0604020202020204" pitchFamily="34" charset="0"/>
              </a:rPr>
              <a:t>Team</a:t>
            </a:r>
            <a:r>
              <a:rPr lang="en-US" sz="2400" spc="140" dirty="0">
                <a:solidFill>
                  <a:schemeClr val="accent4">
                    <a:lumMod val="50000"/>
                  </a:schemeClr>
                </a:solidFill>
                <a:latin typeface="Arial" panose="020B0604020202020204" pitchFamily="34" charset="0"/>
                <a:cs typeface="Arial" panose="020B0604020202020204" pitchFamily="34" charset="0"/>
              </a:rPr>
              <a:t> </a:t>
            </a:r>
            <a:r>
              <a:rPr lang="en-US" sz="2400" spc="75" dirty="0">
                <a:solidFill>
                  <a:schemeClr val="accent4">
                    <a:lumMod val="50000"/>
                  </a:schemeClr>
                </a:solidFill>
                <a:latin typeface="Arial" panose="020B0604020202020204" pitchFamily="34" charset="0"/>
                <a:cs typeface="Arial" panose="020B0604020202020204" pitchFamily="34" charset="0"/>
              </a:rPr>
              <a:t>Productivity</a:t>
            </a:r>
            <a:r>
              <a:rPr lang="en-US" sz="2400" spc="315" dirty="0">
                <a:solidFill>
                  <a:schemeClr val="accent4">
                    <a:lumMod val="50000"/>
                  </a:schemeClr>
                </a:solidFill>
                <a:latin typeface="Arial" panose="020B0604020202020204" pitchFamily="34" charset="0"/>
                <a:cs typeface="Arial" panose="020B0604020202020204" pitchFamily="34" charset="0"/>
              </a:rPr>
              <a:t> </a:t>
            </a:r>
            <a:r>
              <a:rPr lang="en-US" sz="2400" spc="95" dirty="0">
                <a:solidFill>
                  <a:schemeClr val="accent4">
                    <a:lumMod val="50000"/>
                  </a:schemeClr>
                </a:solidFill>
                <a:latin typeface="Arial" panose="020B0604020202020204" pitchFamily="34" charset="0"/>
                <a:cs typeface="Arial" panose="020B0604020202020204" pitchFamily="34" charset="0"/>
              </a:rPr>
              <a:t>metrics</a:t>
            </a:r>
            <a:r>
              <a:rPr lang="en-US" sz="2400" spc="180" dirty="0">
                <a:solidFill>
                  <a:schemeClr val="accent4">
                    <a:lumMod val="50000"/>
                  </a:schemeClr>
                </a:solidFill>
                <a:latin typeface="Arial" panose="020B0604020202020204" pitchFamily="34" charset="0"/>
                <a:cs typeface="Arial" panose="020B0604020202020204" pitchFamily="34" charset="0"/>
              </a:rPr>
              <a:t> </a:t>
            </a:r>
            <a:r>
              <a:rPr lang="en-US" sz="2400" spc="80" dirty="0">
                <a:solidFill>
                  <a:schemeClr val="accent4">
                    <a:lumMod val="50000"/>
                  </a:schemeClr>
                </a:solidFill>
                <a:latin typeface="Arial" panose="020B0604020202020204" pitchFamily="34" charset="0"/>
                <a:cs typeface="Arial" panose="020B0604020202020204" pitchFamily="34" charset="0"/>
              </a:rPr>
              <a:t>for</a:t>
            </a:r>
            <a:r>
              <a:rPr lang="en-US" sz="2400" spc="95" dirty="0">
                <a:solidFill>
                  <a:schemeClr val="accent4">
                    <a:lumMod val="50000"/>
                  </a:schemeClr>
                </a:solidFill>
                <a:latin typeface="Arial" panose="020B0604020202020204" pitchFamily="34" charset="0"/>
                <a:cs typeface="Arial" panose="020B0604020202020204" pitchFamily="34" charset="0"/>
              </a:rPr>
              <a:t> </a:t>
            </a:r>
            <a:r>
              <a:rPr lang="en-US" sz="2400" spc="105" dirty="0">
                <a:solidFill>
                  <a:schemeClr val="accent4">
                    <a:lumMod val="50000"/>
                  </a:schemeClr>
                </a:solidFill>
                <a:latin typeface="Arial" panose="020B0604020202020204" pitchFamily="34" charset="0"/>
                <a:cs typeface="Arial" panose="020B0604020202020204" pitchFamily="34" charset="0"/>
              </a:rPr>
              <a:t>the</a:t>
            </a:r>
            <a:r>
              <a:rPr lang="en-US" sz="2400" spc="25" dirty="0">
                <a:solidFill>
                  <a:schemeClr val="accent4">
                    <a:lumMod val="50000"/>
                  </a:schemeClr>
                </a:solidFill>
                <a:latin typeface="Arial" panose="020B0604020202020204" pitchFamily="34" charset="0"/>
                <a:cs typeface="Arial" panose="020B0604020202020204" pitchFamily="34" charset="0"/>
              </a:rPr>
              <a:t> </a:t>
            </a:r>
            <a:r>
              <a:rPr lang="en-US" sz="2400" spc="85" dirty="0">
                <a:solidFill>
                  <a:schemeClr val="accent4">
                    <a:lumMod val="50000"/>
                  </a:schemeClr>
                </a:solidFill>
                <a:latin typeface="Arial" panose="020B0604020202020204" pitchFamily="34" charset="0"/>
                <a:cs typeface="Arial" panose="020B0604020202020204" pitchFamily="34" charset="0"/>
              </a:rPr>
              <a:t>current</a:t>
            </a:r>
            <a:r>
              <a:rPr lang="en-US" sz="2400" spc="100" dirty="0">
                <a:solidFill>
                  <a:schemeClr val="accent4">
                    <a:lumMod val="50000"/>
                  </a:schemeClr>
                </a:solidFill>
                <a:latin typeface="Arial" panose="020B0604020202020204" pitchFamily="34" charset="0"/>
                <a:cs typeface="Arial" panose="020B0604020202020204" pitchFamily="34" charset="0"/>
              </a:rPr>
              <a:t> </a:t>
            </a:r>
            <a:r>
              <a:rPr lang="en-US" sz="2400" spc="120" dirty="0">
                <a:solidFill>
                  <a:schemeClr val="accent4">
                    <a:lumMod val="50000"/>
                  </a:schemeClr>
                </a:solidFill>
                <a:latin typeface="Arial" panose="020B0604020202020204" pitchFamily="34" charset="0"/>
                <a:cs typeface="Arial" panose="020B0604020202020204" pitchFamily="34" charset="0"/>
              </a:rPr>
              <a:t>fiscal</a:t>
            </a:r>
            <a:r>
              <a:rPr lang="en-US" sz="2400" spc="60" dirty="0">
                <a:solidFill>
                  <a:schemeClr val="accent4">
                    <a:lumMod val="50000"/>
                  </a:schemeClr>
                </a:solidFill>
                <a:latin typeface="Arial" panose="020B0604020202020204" pitchFamily="34" charset="0"/>
                <a:cs typeface="Arial" panose="020B0604020202020204" pitchFamily="34" charset="0"/>
              </a:rPr>
              <a:t> </a:t>
            </a:r>
            <a:r>
              <a:rPr lang="en-US" sz="2400" spc="75" dirty="0">
                <a:solidFill>
                  <a:schemeClr val="accent4">
                    <a:lumMod val="50000"/>
                  </a:schemeClr>
                </a:solidFill>
                <a:latin typeface="Arial" panose="020B0604020202020204" pitchFamily="34" charset="0"/>
                <a:cs typeface="Arial" panose="020B0604020202020204" pitchFamily="34" charset="0"/>
              </a:rPr>
              <a:t>period.</a:t>
            </a:r>
          </a:p>
          <a:p>
            <a:pPr algn="just"/>
            <a:endParaRPr lang="en-US" spc="75" dirty="0">
              <a:solidFill>
                <a:schemeClr val="accent4">
                  <a:lumMod val="50000"/>
                </a:schemeClr>
              </a:solidFill>
              <a:latin typeface="Arial" panose="020B0604020202020204" pitchFamily="34" charset="0"/>
              <a:cs typeface="Arial" panose="020B0604020202020204" pitchFamily="34" charset="0"/>
            </a:endParaRPr>
          </a:p>
          <a:p>
            <a:pPr algn="just"/>
            <a:endParaRPr lang="en-US" sz="2400" spc="75" dirty="0">
              <a:solidFill>
                <a:schemeClr val="accent4">
                  <a:lumMod val="50000"/>
                </a:schemeClr>
              </a:solidFill>
              <a:latin typeface="Arial" panose="020B0604020202020204" pitchFamily="34" charset="0"/>
              <a:cs typeface="Arial" panose="020B0604020202020204" pitchFamily="34" charset="0"/>
            </a:endParaRPr>
          </a:p>
          <a:p>
            <a:endParaRPr lang="en-US" spc="75" dirty="0">
              <a:solidFill>
                <a:schemeClr val="accent4">
                  <a:lumMod val="50000"/>
                </a:schemeClr>
              </a:solidFill>
              <a:latin typeface="Arial" panose="020B0604020202020204" pitchFamily="34" charset="0"/>
              <a:cs typeface="Arial" panose="020B0604020202020204" pitchFamily="34" charset="0"/>
            </a:endParaRPr>
          </a:p>
          <a:p>
            <a:r>
              <a:rPr lang="en-US" sz="2400" spc="75" dirty="0">
                <a:solidFill>
                  <a:schemeClr val="accent4">
                    <a:lumMod val="50000"/>
                  </a:schemeClr>
                </a:solidFill>
                <a:latin typeface="Arial" panose="020B0604020202020204" pitchFamily="34" charset="0"/>
                <a:cs typeface="Arial" panose="020B0604020202020204" pitchFamily="34" charset="0"/>
              </a:rPr>
              <a:t>Presented by –</a:t>
            </a:r>
          </a:p>
          <a:p>
            <a:r>
              <a:rPr lang="en-US" sz="2400" b="1" spc="75" dirty="0">
                <a:solidFill>
                  <a:schemeClr val="accent4">
                    <a:lumMod val="50000"/>
                  </a:schemeClr>
                </a:solidFill>
                <a:latin typeface="Arial" panose="020B0604020202020204" pitchFamily="34" charset="0"/>
                <a:cs typeface="Arial" panose="020B0604020202020204" pitchFamily="34" charset="0"/>
              </a:rPr>
              <a:t>Mukesh Mishra</a:t>
            </a:r>
          </a:p>
          <a:p>
            <a:r>
              <a:rPr lang="en-US" b="1" spc="75" dirty="0" err="1">
                <a:solidFill>
                  <a:schemeClr val="accent4">
                    <a:lumMod val="50000"/>
                  </a:schemeClr>
                </a:solidFill>
                <a:latin typeface="Arial" panose="020B0604020202020204" pitchFamily="34" charset="0"/>
                <a:cs typeface="Arial" panose="020B0604020202020204" pitchFamily="34" charset="0"/>
              </a:rPr>
              <a:t>Saubhagya</a:t>
            </a:r>
            <a:r>
              <a:rPr lang="en-US" b="1" spc="75" dirty="0">
                <a:solidFill>
                  <a:schemeClr val="accent4">
                    <a:lumMod val="50000"/>
                  </a:schemeClr>
                </a:solidFill>
                <a:latin typeface="Arial" panose="020B0604020202020204" pitchFamily="34" charset="0"/>
                <a:cs typeface="Arial" panose="020B0604020202020204" pitchFamily="34" charset="0"/>
              </a:rPr>
              <a:t> </a:t>
            </a:r>
            <a:r>
              <a:rPr lang="en-US" b="1" spc="75" dirty="0" err="1">
                <a:solidFill>
                  <a:schemeClr val="accent4">
                    <a:lumMod val="50000"/>
                  </a:schemeClr>
                </a:solidFill>
                <a:latin typeface="Arial" panose="020B0604020202020204" pitchFamily="34" charset="0"/>
                <a:cs typeface="Arial" panose="020B0604020202020204" pitchFamily="34" charset="0"/>
              </a:rPr>
              <a:t>Munsi</a:t>
            </a:r>
            <a:endParaRPr lang="en-US" sz="2400" b="1" spc="75" dirty="0">
              <a:solidFill>
                <a:schemeClr val="accent4">
                  <a:lumMod val="50000"/>
                </a:schemeClr>
              </a:solidFill>
              <a:latin typeface="Arial" panose="020B0604020202020204" pitchFamily="34" charset="0"/>
              <a:cs typeface="Arial" panose="020B0604020202020204" pitchFamily="34" charset="0"/>
            </a:endParaRPr>
          </a:p>
          <a:p>
            <a:pPr algn="just"/>
            <a:endParaRPr lang="en-US" spc="75" dirty="0">
              <a:solidFill>
                <a:schemeClr val="accent4">
                  <a:lumMod val="50000"/>
                </a:schemeClr>
              </a:solidFill>
              <a:latin typeface="Arial" panose="020B0604020202020204" pitchFamily="34" charset="0"/>
              <a:cs typeface="Arial" panose="020B0604020202020204" pitchFamily="34" charset="0"/>
            </a:endParaRPr>
          </a:p>
          <a:p>
            <a:pPr algn="just"/>
            <a:endParaRPr lang="en-US" sz="2400" spc="75" dirty="0">
              <a:solidFill>
                <a:schemeClr val="accent4">
                  <a:lumMod val="50000"/>
                </a:schemeClr>
              </a:solidFill>
              <a:latin typeface="Arial" panose="020B0604020202020204" pitchFamily="34" charset="0"/>
              <a:cs typeface="Arial" panose="020B0604020202020204" pitchFamily="34" charset="0"/>
            </a:endParaRPr>
          </a:p>
          <a:p>
            <a:pPr algn="just"/>
            <a:endParaRPr lang="en-US" sz="2400" spc="75" dirty="0">
              <a:solidFill>
                <a:schemeClr val="accent4">
                  <a:lumMod val="50000"/>
                </a:schemeClr>
              </a:solidFill>
              <a:latin typeface="Arial" panose="020B0604020202020204" pitchFamily="34" charset="0"/>
              <a:cs typeface="Arial" panose="020B0604020202020204" pitchFamily="34" charset="0"/>
            </a:endParaRPr>
          </a:p>
          <a:p>
            <a:endParaRPr lang="en-IN" dirty="0">
              <a:solidFill>
                <a:schemeClr val="accent4">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66FF92F-8044-DBD6-E2BB-C2198DDF44A5}"/>
              </a:ext>
            </a:extLst>
          </p:cNvPr>
          <p:cNvPicPr>
            <a:picLocks noChangeAspect="1"/>
          </p:cNvPicPr>
          <p:nvPr/>
        </p:nvPicPr>
        <p:blipFill>
          <a:blip r:embed="rId2"/>
          <a:stretch>
            <a:fillRect/>
          </a:stretch>
        </p:blipFill>
        <p:spPr>
          <a:xfrm>
            <a:off x="10299560" y="-1608"/>
            <a:ext cx="1892440" cy="1064351"/>
          </a:xfrm>
          <a:prstGeom prst="rect">
            <a:avLst/>
          </a:prstGeom>
        </p:spPr>
      </p:pic>
      <p:pic>
        <p:nvPicPr>
          <p:cNvPr id="7" name="Picture 6">
            <a:extLst>
              <a:ext uri="{FF2B5EF4-FFF2-40B4-BE49-F238E27FC236}">
                <a16:creationId xmlns:a16="http://schemas.microsoft.com/office/drawing/2014/main" id="{562B3459-47C3-C252-EABA-3A9B7B2E4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1524000" cy="1122362"/>
          </a:xfrm>
          <a:prstGeom prst="rect">
            <a:avLst/>
          </a:prstGeom>
        </p:spPr>
      </p:pic>
    </p:spTree>
    <p:extLst>
      <p:ext uri="{BB962C8B-B14F-4D97-AF65-F5344CB8AC3E}">
        <p14:creationId xmlns:p14="http://schemas.microsoft.com/office/powerpoint/2010/main" val="710997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4F0B5-A026-3E4E-BFA2-61065A04D136}"/>
              </a:ext>
            </a:extLst>
          </p:cNvPr>
          <p:cNvSpPr>
            <a:spLocks noGrp="1"/>
          </p:cNvSpPr>
          <p:nvPr>
            <p:ph type="title"/>
          </p:nvPr>
        </p:nvSpPr>
        <p:spPr>
          <a:xfrm>
            <a:off x="838200" y="365125"/>
            <a:ext cx="10515600" cy="539227"/>
          </a:xfrm>
        </p:spPr>
        <p:txBody>
          <a:bodyPr>
            <a:normAutofit fontScale="90000"/>
          </a:bodyPr>
          <a:lstStyle/>
          <a:p>
            <a:pPr algn="ctr"/>
            <a:r>
              <a:rPr lang="en-IN" sz="3600" b="1" dirty="0"/>
              <a:t>Table of contents</a:t>
            </a:r>
          </a:p>
        </p:txBody>
      </p:sp>
      <p:graphicFrame>
        <p:nvGraphicFramePr>
          <p:cNvPr id="4" name="Content Placeholder 3">
            <a:extLst>
              <a:ext uri="{FF2B5EF4-FFF2-40B4-BE49-F238E27FC236}">
                <a16:creationId xmlns:a16="http://schemas.microsoft.com/office/drawing/2014/main" id="{8D9F4A51-1EFD-F2A9-6B31-9AA789DBC857}"/>
              </a:ext>
            </a:extLst>
          </p:cNvPr>
          <p:cNvGraphicFramePr>
            <a:graphicFrameLocks noGrp="1"/>
          </p:cNvGraphicFramePr>
          <p:nvPr>
            <p:ph idx="1"/>
            <p:extLst>
              <p:ext uri="{D42A27DB-BD31-4B8C-83A1-F6EECF244321}">
                <p14:modId xmlns:p14="http://schemas.microsoft.com/office/powerpoint/2010/main" val="232436774"/>
              </p:ext>
            </p:extLst>
          </p:nvPr>
        </p:nvGraphicFramePr>
        <p:xfrm>
          <a:off x="838200" y="984740"/>
          <a:ext cx="10515600" cy="527539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94524252"/>
                    </a:ext>
                  </a:extLst>
                </a:gridCol>
                <a:gridCol w="5257800">
                  <a:extLst>
                    <a:ext uri="{9D8B030D-6E8A-4147-A177-3AD203B41FA5}">
                      <a16:colId xmlns:a16="http://schemas.microsoft.com/office/drawing/2014/main" val="67235800"/>
                    </a:ext>
                  </a:extLst>
                </a:gridCol>
              </a:tblGrid>
              <a:tr h="390717">
                <a:tc>
                  <a:txBody>
                    <a:bodyPr/>
                    <a:lstStyle/>
                    <a:p>
                      <a:pPr algn="ctr"/>
                      <a:r>
                        <a:rPr lang="en-IN" dirty="0">
                          <a:solidFill>
                            <a:schemeClr val="bg2"/>
                          </a:solidFill>
                        </a:rPr>
                        <a:t>Slide Name</a:t>
                      </a:r>
                    </a:p>
                  </a:txBody>
                  <a:tcPr/>
                </a:tc>
                <a:tc>
                  <a:txBody>
                    <a:bodyPr/>
                    <a:lstStyle/>
                    <a:p>
                      <a:r>
                        <a:rPr lang="en-IN" dirty="0"/>
                        <a:t>Slide Number</a:t>
                      </a:r>
                    </a:p>
                  </a:txBody>
                  <a:tcPr/>
                </a:tc>
                <a:extLst>
                  <a:ext uri="{0D108BD9-81ED-4DB2-BD59-A6C34878D82A}">
                    <a16:rowId xmlns:a16="http://schemas.microsoft.com/office/drawing/2014/main" val="2471883327"/>
                  </a:ext>
                </a:extLst>
              </a:tr>
              <a:tr h="390717">
                <a:tc>
                  <a:txBody>
                    <a:bodyPr/>
                    <a:lstStyle/>
                    <a:p>
                      <a:r>
                        <a:rPr lang="en-IN" dirty="0"/>
                        <a:t>Front page</a:t>
                      </a:r>
                    </a:p>
                  </a:txBody>
                  <a:tcPr/>
                </a:tc>
                <a:tc>
                  <a:txBody>
                    <a:bodyPr/>
                    <a:lstStyle/>
                    <a:p>
                      <a:r>
                        <a:rPr lang="en-IN" dirty="0"/>
                        <a:t>1</a:t>
                      </a:r>
                    </a:p>
                  </a:txBody>
                  <a:tcPr/>
                </a:tc>
                <a:extLst>
                  <a:ext uri="{0D108BD9-81ED-4DB2-BD59-A6C34878D82A}">
                    <a16:rowId xmlns:a16="http://schemas.microsoft.com/office/drawing/2014/main" val="4137114337"/>
                  </a:ext>
                </a:extLst>
              </a:tr>
              <a:tr h="390717">
                <a:tc>
                  <a:txBody>
                    <a:bodyPr/>
                    <a:lstStyle/>
                    <a:p>
                      <a:r>
                        <a:rPr lang="en-IN" dirty="0"/>
                        <a:t>Table of contents</a:t>
                      </a:r>
                    </a:p>
                  </a:txBody>
                  <a:tcPr/>
                </a:tc>
                <a:tc>
                  <a:txBody>
                    <a:bodyPr/>
                    <a:lstStyle/>
                    <a:p>
                      <a:r>
                        <a:rPr lang="en-IN" dirty="0"/>
                        <a:t>2</a:t>
                      </a:r>
                    </a:p>
                  </a:txBody>
                  <a:tcPr/>
                </a:tc>
                <a:extLst>
                  <a:ext uri="{0D108BD9-81ED-4DB2-BD59-A6C34878D82A}">
                    <a16:rowId xmlns:a16="http://schemas.microsoft.com/office/drawing/2014/main" val="292205295"/>
                  </a:ext>
                </a:extLst>
              </a:tr>
              <a:tr h="390717">
                <a:tc>
                  <a:txBody>
                    <a:bodyPr/>
                    <a:lstStyle/>
                    <a:p>
                      <a:r>
                        <a:rPr lang="en-IN" dirty="0"/>
                        <a:t>Features of the project</a:t>
                      </a:r>
                    </a:p>
                  </a:txBody>
                  <a:tcPr/>
                </a:tc>
                <a:tc>
                  <a:txBody>
                    <a:bodyPr/>
                    <a:lstStyle/>
                    <a:p>
                      <a:r>
                        <a:rPr lang="en-IN" dirty="0"/>
                        <a:t>3</a:t>
                      </a:r>
                    </a:p>
                  </a:txBody>
                  <a:tcPr/>
                </a:tc>
                <a:extLst>
                  <a:ext uri="{0D108BD9-81ED-4DB2-BD59-A6C34878D82A}">
                    <a16:rowId xmlns:a16="http://schemas.microsoft.com/office/drawing/2014/main" val="1449957456"/>
                  </a:ext>
                </a:extLst>
              </a:tr>
              <a:tr h="586786">
                <a:tc>
                  <a:txBody>
                    <a:bodyPr/>
                    <a:lstStyle/>
                    <a:p>
                      <a:r>
                        <a:rPr lang="en-IN" dirty="0"/>
                        <a:t>Project Structure</a:t>
                      </a:r>
                    </a:p>
                  </a:txBody>
                  <a:tcPr/>
                </a:tc>
                <a:tc>
                  <a:txBody>
                    <a:bodyPr/>
                    <a:lstStyle/>
                    <a:p>
                      <a:r>
                        <a:rPr lang="en-IN" dirty="0"/>
                        <a:t>4</a:t>
                      </a:r>
                    </a:p>
                  </a:txBody>
                  <a:tcPr/>
                </a:tc>
                <a:extLst>
                  <a:ext uri="{0D108BD9-81ED-4DB2-BD59-A6C34878D82A}">
                    <a16:rowId xmlns:a16="http://schemas.microsoft.com/office/drawing/2014/main" val="2221372175"/>
                  </a:ext>
                </a:extLst>
              </a:tr>
              <a:tr h="390717">
                <a:tc>
                  <a:txBody>
                    <a:bodyPr/>
                    <a:lstStyle/>
                    <a:p>
                      <a:r>
                        <a:rPr lang="en-IN" dirty="0"/>
                        <a:t>Tech stacks and tools</a:t>
                      </a:r>
                    </a:p>
                  </a:txBody>
                  <a:tcPr/>
                </a:tc>
                <a:tc>
                  <a:txBody>
                    <a:bodyPr/>
                    <a:lstStyle/>
                    <a:p>
                      <a:r>
                        <a:rPr lang="en-IN" dirty="0"/>
                        <a:t>5</a:t>
                      </a:r>
                    </a:p>
                  </a:txBody>
                  <a:tcPr/>
                </a:tc>
                <a:extLst>
                  <a:ext uri="{0D108BD9-81ED-4DB2-BD59-A6C34878D82A}">
                    <a16:rowId xmlns:a16="http://schemas.microsoft.com/office/drawing/2014/main" val="3036075155"/>
                  </a:ext>
                </a:extLst>
              </a:tr>
              <a:tr h="390717">
                <a:tc>
                  <a:txBody>
                    <a:bodyPr/>
                    <a:lstStyle/>
                    <a:p>
                      <a:r>
                        <a:rPr lang="en-IN" dirty="0"/>
                        <a:t>Different types of techniques to be followed</a:t>
                      </a:r>
                    </a:p>
                  </a:txBody>
                  <a:tcPr/>
                </a:tc>
                <a:tc>
                  <a:txBody>
                    <a:bodyPr/>
                    <a:lstStyle/>
                    <a:p>
                      <a:r>
                        <a:rPr lang="en-IN" dirty="0"/>
                        <a:t>6</a:t>
                      </a:r>
                    </a:p>
                  </a:txBody>
                  <a:tcPr/>
                </a:tc>
                <a:extLst>
                  <a:ext uri="{0D108BD9-81ED-4DB2-BD59-A6C34878D82A}">
                    <a16:rowId xmlns:a16="http://schemas.microsoft.com/office/drawing/2014/main" val="413118527"/>
                  </a:ext>
                </a:extLst>
              </a:tr>
              <a:tr h="390717">
                <a:tc>
                  <a:txBody>
                    <a:bodyPr/>
                    <a:lstStyle/>
                    <a:p>
                      <a:r>
                        <a:rPr lang="en-IN" dirty="0"/>
                        <a:t>Dashboard</a:t>
                      </a:r>
                    </a:p>
                  </a:txBody>
                  <a:tcPr/>
                </a:tc>
                <a:tc>
                  <a:txBody>
                    <a:bodyPr/>
                    <a:lstStyle/>
                    <a:p>
                      <a:r>
                        <a:rPr lang="en-IN" dirty="0"/>
                        <a:t>7</a:t>
                      </a:r>
                    </a:p>
                  </a:txBody>
                  <a:tcPr/>
                </a:tc>
                <a:extLst>
                  <a:ext uri="{0D108BD9-81ED-4DB2-BD59-A6C34878D82A}">
                    <a16:rowId xmlns:a16="http://schemas.microsoft.com/office/drawing/2014/main" val="3240989226"/>
                  </a:ext>
                </a:extLst>
              </a:tr>
              <a:tr h="390717">
                <a:tc>
                  <a:txBody>
                    <a:bodyPr/>
                    <a:lstStyle/>
                    <a:p>
                      <a:r>
                        <a:rPr lang="en-IN" dirty="0"/>
                        <a:t>Various formulas used here</a:t>
                      </a:r>
                    </a:p>
                  </a:txBody>
                  <a:tcPr/>
                </a:tc>
                <a:tc>
                  <a:txBody>
                    <a:bodyPr/>
                    <a:lstStyle/>
                    <a:p>
                      <a:r>
                        <a:rPr lang="en-IN" dirty="0"/>
                        <a:t>8</a:t>
                      </a:r>
                    </a:p>
                  </a:txBody>
                  <a:tcPr/>
                </a:tc>
                <a:extLst>
                  <a:ext uri="{0D108BD9-81ED-4DB2-BD59-A6C34878D82A}">
                    <a16:rowId xmlns:a16="http://schemas.microsoft.com/office/drawing/2014/main" val="1848745350"/>
                  </a:ext>
                </a:extLst>
              </a:tr>
              <a:tr h="390717">
                <a:tc>
                  <a:txBody>
                    <a:bodyPr/>
                    <a:lstStyle/>
                    <a:p>
                      <a:r>
                        <a:rPr lang="en-IN" dirty="0"/>
                        <a:t>Work segment</a:t>
                      </a:r>
                    </a:p>
                  </a:txBody>
                  <a:tcPr/>
                </a:tc>
                <a:tc>
                  <a:txBody>
                    <a:bodyPr/>
                    <a:lstStyle/>
                    <a:p>
                      <a:r>
                        <a:rPr lang="en-IN" dirty="0"/>
                        <a:t>9</a:t>
                      </a:r>
                    </a:p>
                  </a:txBody>
                  <a:tcPr/>
                </a:tc>
                <a:extLst>
                  <a:ext uri="{0D108BD9-81ED-4DB2-BD59-A6C34878D82A}">
                    <a16:rowId xmlns:a16="http://schemas.microsoft.com/office/drawing/2014/main" val="3597611686"/>
                  </a:ext>
                </a:extLst>
              </a:tr>
              <a:tr h="390717">
                <a:tc>
                  <a:txBody>
                    <a:bodyPr/>
                    <a:lstStyle/>
                    <a:p>
                      <a:r>
                        <a:rPr lang="en-IN" dirty="0"/>
                        <a:t>Acceptability of this project</a:t>
                      </a:r>
                    </a:p>
                  </a:txBody>
                  <a:tcPr/>
                </a:tc>
                <a:tc>
                  <a:txBody>
                    <a:bodyPr/>
                    <a:lstStyle/>
                    <a:p>
                      <a:r>
                        <a:rPr lang="en-IN" dirty="0"/>
                        <a:t>10</a:t>
                      </a:r>
                    </a:p>
                  </a:txBody>
                  <a:tcPr/>
                </a:tc>
                <a:extLst>
                  <a:ext uri="{0D108BD9-81ED-4DB2-BD59-A6C34878D82A}">
                    <a16:rowId xmlns:a16="http://schemas.microsoft.com/office/drawing/2014/main" val="1953991630"/>
                  </a:ext>
                </a:extLst>
              </a:tr>
              <a:tr h="390717">
                <a:tc>
                  <a:txBody>
                    <a:bodyPr/>
                    <a:lstStyle/>
                    <a:p>
                      <a:r>
                        <a:rPr lang="en-IN" dirty="0"/>
                        <a:t>Project at a glance</a:t>
                      </a:r>
                    </a:p>
                  </a:txBody>
                  <a:tcPr/>
                </a:tc>
                <a:tc>
                  <a:txBody>
                    <a:bodyPr/>
                    <a:lstStyle/>
                    <a:p>
                      <a:r>
                        <a:rPr lang="en-IN" dirty="0"/>
                        <a:t>11</a:t>
                      </a:r>
                    </a:p>
                  </a:txBody>
                  <a:tcPr/>
                </a:tc>
                <a:extLst>
                  <a:ext uri="{0D108BD9-81ED-4DB2-BD59-A6C34878D82A}">
                    <a16:rowId xmlns:a16="http://schemas.microsoft.com/office/drawing/2014/main" val="2623353624"/>
                  </a:ext>
                </a:extLst>
              </a:tr>
              <a:tr h="390717">
                <a:tc>
                  <a:txBody>
                    <a:bodyPr/>
                    <a:lstStyle/>
                    <a:p>
                      <a:r>
                        <a:rPr lang="en-IN" dirty="0"/>
                        <a:t>Project summary</a:t>
                      </a:r>
                    </a:p>
                  </a:txBody>
                  <a:tcPr/>
                </a:tc>
                <a:tc>
                  <a:txBody>
                    <a:bodyPr/>
                    <a:lstStyle/>
                    <a:p>
                      <a:r>
                        <a:rPr lang="en-IN" dirty="0"/>
                        <a:t>12</a:t>
                      </a:r>
                    </a:p>
                  </a:txBody>
                  <a:tcPr/>
                </a:tc>
                <a:extLst>
                  <a:ext uri="{0D108BD9-81ED-4DB2-BD59-A6C34878D82A}">
                    <a16:rowId xmlns:a16="http://schemas.microsoft.com/office/drawing/2014/main" val="596312129"/>
                  </a:ext>
                </a:extLst>
              </a:tr>
            </a:tbl>
          </a:graphicData>
        </a:graphic>
      </p:graphicFrame>
    </p:spTree>
    <p:extLst>
      <p:ext uri="{BB962C8B-B14F-4D97-AF65-F5344CB8AC3E}">
        <p14:creationId xmlns:p14="http://schemas.microsoft.com/office/powerpoint/2010/main" val="3626544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82FCA-66A0-97ED-D2C2-DC33FA96EBDC}"/>
              </a:ext>
            </a:extLst>
          </p:cNvPr>
          <p:cNvSpPr>
            <a:spLocks noGrp="1"/>
          </p:cNvSpPr>
          <p:nvPr>
            <p:ph type="title"/>
          </p:nvPr>
        </p:nvSpPr>
        <p:spPr>
          <a:xfrm>
            <a:off x="838200" y="365125"/>
            <a:ext cx="10515600" cy="780387"/>
          </a:xfrm>
        </p:spPr>
        <p:txBody>
          <a:bodyPr>
            <a:normAutofit/>
          </a:bodyPr>
          <a:lstStyle/>
          <a:p>
            <a:pPr algn="ctr"/>
            <a:r>
              <a:rPr lang="en-IN" sz="3200" b="1" u="sng" dirty="0">
                <a:latin typeface="Times New Roman" panose="02020603050405020304" pitchFamily="18" charset="0"/>
                <a:cs typeface="Times New Roman" panose="02020603050405020304" pitchFamily="18" charset="0"/>
              </a:rPr>
              <a:t>Features of the project</a:t>
            </a:r>
          </a:p>
        </p:txBody>
      </p:sp>
      <p:sp>
        <p:nvSpPr>
          <p:cNvPr id="3" name="Content Placeholder 2">
            <a:extLst>
              <a:ext uri="{FF2B5EF4-FFF2-40B4-BE49-F238E27FC236}">
                <a16:creationId xmlns:a16="http://schemas.microsoft.com/office/drawing/2014/main" id="{AEDA9C2A-E2CF-1E29-8B07-B072F9108B01}"/>
              </a:ext>
            </a:extLst>
          </p:cNvPr>
          <p:cNvSpPr>
            <a:spLocks noGrp="1"/>
          </p:cNvSpPr>
          <p:nvPr>
            <p:ph idx="1"/>
          </p:nvPr>
        </p:nvSpPr>
        <p:spPr>
          <a:xfrm>
            <a:off x="838200" y="2039815"/>
            <a:ext cx="10515600" cy="4137148"/>
          </a:xfrm>
        </p:spPr>
        <p:txBody>
          <a:bodyPr>
            <a:normAutofit/>
          </a:bodyPr>
          <a:lstStyle/>
          <a:p>
            <a:r>
              <a:rPr lang="en-US" sz="2400" dirty="0">
                <a:latin typeface="Arial" panose="020B0604020202020204" pitchFamily="34" charset="0"/>
                <a:cs typeface="Arial" panose="020B0604020202020204" pitchFamily="34" charset="0"/>
              </a:rPr>
              <a:t>Interactive KPI dashboard for instant business performance monitoring.</a:t>
            </a:r>
          </a:p>
          <a:p>
            <a:r>
              <a:rPr lang="en-US" sz="2400" dirty="0">
                <a:latin typeface="Arial" panose="020B0604020202020204" pitchFamily="34" charset="0"/>
                <a:cs typeface="Arial" panose="020B0604020202020204" pitchFamily="34" charset="0"/>
              </a:rPr>
              <a:t>Dynamic slicer-based filtering for customized business analysis.</a:t>
            </a:r>
          </a:p>
          <a:p>
            <a:r>
              <a:rPr lang="en-US" sz="2400" dirty="0">
                <a:latin typeface="Arial" panose="020B0604020202020204" pitchFamily="34" charset="0"/>
                <a:cs typeface="Arial" panose="020B0604020202020204" pitchFamily="34" charset="0"/>
              </a:rPr>
              <a:t>Comprehensive sales performance analysis across time and geography.</a:t>
            </a:r>
          </a:p>
          <a:p>
            <a:r>
              <a:rPr lang="en-US" sz="2400" dirty="0">
                <a:latin typeface="Arial" panose="020B0604020202020204" pitchFamily="34" charset="0"/>
                <a:cs typeface="Arial" panose="020B0604020202020204" pitchFamily="34" charset="0"/>
              </a:rPr>
              <a:t>Automated top performer identification for decision-making support.</a:t>
            </a:r>
          </a:p>
          <a:p>
            <a:r>
              <a:rPr lang="en-US" sz="2400" dirty="0">
                <a:latin typeface="Arial" panose="020B0604020202020204" pitchFamily="34" charset="0"/>
                <a:cs typeface="Arial" panose="020B0604020202020204" pitchFamily="34" charset="0"/>
              </a:rPr>
              <a:t>Target achievement tracking for performance evaluation.</a:t>
            </a:r>
          </a:p>
          <a:p>
            <a:r>
              <a:rPr lang="en-US" sz="2400" dirty="0">
                <a:latin typeface="Arial" panose="020B0604020202020204" pitchFamily="34" charset="0"/>
                <a:cs typeface="Arial" panose="020B0604020202020204" pitchFamily="34" charset="0"/>
              </a:rPr>
              <a:t>Order lifecycle monitoring for operational visibility.</a:t>
            </a:r>
          </a:p>
          <a:p>
            <a:r>
              <a:rPr lang="en-US" sz="2400" dirty="0">
                <a:latin typeface="Arial" panose="020B0604020202020204" pitchFamily="34" charset="0"/>
                <a:cs typeface="Arial" panose="020B0604020202020204" pitchFamily="34" charset="0"/>
              </a:rPr>
              <a:t>Supports strategic decision-making through actionable business insights.</a:t>
            </a:r>
          </a:p>
          <a:p>
            <a:pPr marL="0" indent="0">
              <a:buNone/>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3832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C77E-FE47-3D56-1AC5-A68CD34C0EF5}"/>
              </a:ext>
            </a:extLst>
          </p:cNvPr>
          <p:cNvSpPr>
            <a:spLocks noGrp="1"/>
          </p:cNvSpPr>
          <p:nvPr>
            <p:ph type="title"/>
          </p:nvPr>
        </p:nvSpPr>
        <p:spPr>
          <a:xfrm>
            <a:off x="838200" y="365125"/>
            <a:ext cx="10515600" cy="649759"/>
          </a:xfrm>
        </p:spPr>
        <p:txBody>
          <a:bodyPr>
            <a:normAutofit/>
          </a:bodyPr>
          <a:lstStyle/>
          <a:p>
            <a:pPr algn="ctr"/>
            <a:r>
              <a:rPr lang="en-IN" sz="3200" b="1" dirty="0">
                <a:latin typeface="Times New Roman" panose="02020603050405020304" pitchFamily="18" charset="0"/>
                <a:cs typeface="Times New Roman" panose="02020603050405020304" pitchFamily="18" charset="0"/>
              </a:rPr>
              <a:t>📁</a:t>
            </a:r>
            <a:r>
              <a:rPr lang="en-IN" sz="3200" b="1" u="sng" dirty="0">
                <a:latin typeface="Times New Roman" panose="02020603050405020304" pitchFamily="18" charset="0"/>
                <a:cs typeface="Times New Roman" panose="02020603050405020304" pitchFamily="18" charset="0"/>
              </a:rPr>
              <a:t>Project Structure</a:t>
            </a:r>
          </a:p>
        </p:txBody>
      </p:sp>
      <p:sp>
        <p:nvSpPr>
          <p:cNvPr id="3" name="Content Placeholder 2">
            <a:extLst>
              <a:ext uri="{FF2B5EF4-FFF2-40B4-BE49-F238E27FC236}">
                <a16:creationId xmlns:a16="http://schemas.microsoft.com/office/drawing/2014/main" id="{43B1E74D-07E3-4019-7268-94DF7F18387D}"/>
              </a:ext>
            </a:extLst>
          </p:cNvPr>
          <p:cNvSpPr>
            <a:spLocks noGrp="1"/>
          </p:cNvSpPr>
          <p:nvPr>
            <p:ph idx="1"/>
          </p:nvPr>
        </p:nvSpPr>
        <p:spPr>
          <a:xfrm>
            <a:off x="838200" y="1316334"/>
            <a:ext cx="10515600" cy="5325626"/>
          </a:xfrm>
        </p:spPr>
        <p:txBody>
          <a:bodyPr>
            <a:normAutofit/>
          </a:bodyPr>
          <a:lstStyle/>
          <a:p>
            <a:r>
              <a:rPr lang="en-IN" sz="2400" dirty="0"/>
              <a:t>Raw Data</a:t>
            </a:r>
          </a:p>
          <a:p>
            <a:r>
              <a:rPr lang="en-IN" sz="2400" dirty="0"/>
              <a:t>Clean Data</a:t>
            </a:r>
          </a:p>
          <a:p>
            <a:r>
              <a:rPr lang="en-IN" sz="2400" dirty="0"/>
              <a:t>Data Cleaning Instructions</a:t>
            </a:r>
          </a:p>
          <a:p>
            <a:r>
              <a:rPr lang="en-IN" sz="2400" dirty="0" err="1">
                <a:highlight>
                  <a:srgbClr val="FFFF00"/>
                </a:highlight>
              </a:rPr>
              <a:t>SalesPerson</a:t>
            </a:r>
            <a:r>
              <a:rPr lang="en-IN" sz="2400" dirty="0">
                <a:highlight>
                  <a:srgbClr val="FFFF00"/>
                </a:highlight>
              </a:rPr>
              <a:t> performance Analysis </a:t>
            </a:r>
          </a:p>
          <a:p>
            <a:r>
              <a:rPr lang="en-IN" sz="2400" dirty="0">
                <a:highlight>
                  <a:srgbClr val="FFFF00"/>
                </a:highlight>
              </a:rPr>
              <a:t>Revenue vs Category Analysis</a:t>
            </a:r>
          </a:p>
          <a:p>
            <a:r>
              <a:rPr lang="en-IN" sz="2400" dirty="0">
                <a:highlight>
                  <a:srgbClr val="FFFF00"/>
                </a:highlight>
              </a:rPr>
              <a:t>Delivery Status ( Category wise ) Analysis</a:t>
            </a:r>
          </a:p>
          <a:p>
            <a:r>
              <a:rPr lang="en-IN" sz="2400" dirty="0">
                <a:highlight>
                  <a:srgbClr val="FFFF00"/>
                </a:highlight>
              </a:rPr>
              <a:t>Regional Analysis </a:t>
            </a:r>
          </a:p>
          <a:p>
            <a:r>
              <a:rPr lang="en-IN" sz="2400" dirty="0"/>
              <a:t>KPI Calculation Sheet</a:t>
            </a:r>
          </a:p>
          <a:p>
            <a:r>
              <a:rPr lang="en-IN" sz="2400" dirty="0"/>
              <a:t>Executive Dashboard</a:t>
            </a:r>
          </a:p>
          <a:p>
            <a:r>
              <a:rPr lang="en-IN" sz="2400" dirty="0"/>
              <a:t>Home page</a:t>
            </a:r>
          </a:p>
          <a:p>
            <a:pPr marL="0" indent="0">
              <a:buNone/>
            </a:pPr>
            <a:r>
              <a:rPr lang="en-IN" sz="2400" dirty="0"/>
              <a:t>	*Note:- The highlighted sheets are hided from workbook</a:t>
            </a:r>
          </a:p>
        </p:txBody>
      </p:sp>
    </p:spTree>
    <p:extLst>
      <p:ext uri="{BB962C8B-B14F-4D97-AF65-F5344CB8AC3E}">
        <p14:creationId xmlns:p14="http://schemas.microsoft.com/office/powerpoint/2010/main" val="280490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138C8-ACCF-5735-5C22-9D47A4551B15}"/>
              </a:ext>
            </a:extLst>
          </p:cNvPr>
          <p:cNvSpPr>
            <a:spLocks noGrp="1"/>
          </p:cNvSpPr>
          <p:nvPr>
            <p:ph type="title"/>
          </p:nvPr>
        </p:nvSpPr>
        <p:spPr>
          <a:xfrm>
            <a:off x="838200" y="365126"/>
            <a:ext cx="10515600" cy="711200"/>
          </a:xfrm>
        </p:spPr>
        <p:txBody>
          <a:bodyPr>
            <a:normAutofit/>
          </a:bodyPr>
          <a:lstStyle/>
          <a:p>
            <a:pPr algn="ctr"/>
            <a:r>
              <a:rPr lang="en-IN" sz="3200" b="1" u="sng" dirty="0">
                <a:latin typeface="Times New Roman" panose="02020603050405020304" pitchFamily="18" charset="0"/>
                <a:cs typeface="Times New Roman" panose="02020603050405020304" pitchFamily="18" charset="0"/>
              </a:rPr>
              <a:t>🛠️Tools &amp; 💻Tech Stack |🌐Data Source</a:t>
            </a:r>
          </a:p>
        </p:txBody>
      </p:sp>
      <p:sp>
        <p:nvSpPr>
          <p:cNvPr id="3" name="Content Placeholder 2">
            <a:extLst>
              <a:ext uri="{FF2B5EF4-FFF2-40B4-BE49-F238E27FC236}">
                <a16:creationId xmlns:a16="http://schemas.microsoft.com/office/drawing/2014/main" id="{6DC51B36-CCB4-ABF6-381B-A18782F65E7F}"/>
              </a:ext>
            </a:extLst>
          </p:cNvPr>
          <p:cNvSpPr>
            <a:spLocks noGrp="1"/>
          </p:cNvSpPr>
          <p:nvPr>
            <p:ph idx="1"/>
          </p:nvPr>
        </p:nvSpPr>
        <p:spPr>
          <a:xfrm>
            <a:off x="838200" y="2124075"/>
            <a:ext cx="10515600" cy="4052888"/>
          </a:xfrm>
        </p:spPr>
        <p:txBody>
          <a:bodyPr/>
          <a:lstStyle/>
          <a:p>
            <a:r>
              <a:rPr lang="en-IN" dirty="0"/>
              <a:t>Tools: Microsoft Excel, Pivot Tables, Pivot Charts, Slicers, Conditional Formatting, Advanced Excel Functions, Data Validation, Excel Tables, KPI Dashboard Design.</a:t>
            </a:r>
          </a:p>
          <a:p>
            <a:pPr marL="0" indent="0">
              <a:buNone/>
            </a:pPr>
            <a:endParaRPr lang="en-IN" dirty="0"/>
          </a:p>
          <a:p>
            <a:r>
              <a:rPr lang="en-IN" dirty="0"/>
              <a:t>Data Source: </a:t>
            </a:r>
            <a:r>
              <a:rPr lang="en-IN" dirty="0">
                <a:hlinkClick r:id="rId2"/>
              </a:rPr>
              <a:t>Kaggle</a:t>
            </a:r>
            <a:endParaRPr lang="en-IN" dirty="0"/>
          </a:p>
          <a:p>
            <a:endParaRPr lang="en-IN" dirty="0"/>
          </a:p>
          <a:p>
            <a:r>
              <a:rPr lang="en-IN" dirty="0"/>
              <a:t>GitHub: </a:t>
            </a:r>
            <a:r>
              <a:rPr lang="en-IN" dirty="0">
                <a:hlinkClick r:id="rId3"/>
              </a:rPr>
              <a:t>Link</a:t>
            </a:r>
            <a:endParaRPr lang="en-IN" dirty="0"/>
          </a:p>
        </p:txBody>
      </p:sp>
    </p:spTree>
    <p:extLst>
      <p:ext uri="{BB962C8B-B14F-4D97-AF65-F5344CB8AC3E}">
        <p14:creationId xmlns:p14="http://schemas.microsoft.com/office/powerpoint/2010/main" val="2438178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8C9B-EA5D-C490-2748-224E6FFA1F14}"/>
              </a:ext>
            </a:extLst>
          </p:cNvPr>
          <p:cNvSpPr>
            <a:spLocks noGrp="1"/>
          </p:cNvSpPr>
          <p:nvPr>
            <p:ph type="title"/>
          </p:nvPr>
        </p:nvSpPr>
        <p:spPr>
          <a:xfrm>
            <a:off x="838200" y="355600"/>
            <a:ext cx="10515600" cy="835025"/>
          </a:xfrm>
        </p:spPr>
        <p:txBody>
          <a:bodyPr>
            <a:normAutofit/>
          </a:bodyPr>
          <a:lstStyle/>
          <a:p>
            <a:pPr algn="ctr"/>
            <a:r>
              <a:rPr lang="en-IN" sz="3200" b="1" u="sng" dirty="0">
                <a:latin typeface="Times New Roman" panose="02020603050405020304" pitchFamily="18" charset="0"/>
                <a:cs typeface="Times New Roman" panose="02020603050405020304" pitchFamily="18" charset="0"/>
              </a:rPr>
              <a:t>Data Cleaning techniques</a:t>
            </a:r>
          </a:p>
        </p:txBody>
      </p:sp>
      <p:pic>
        <p:nvPicPr>
          <p:cNvPr id="5" name="Content Placeholder 4">
            <a:extLst>
              <a:ext uri="{FF2B5EF4-FFF2-40B4-BE49-F238E27FC236}">
                <a16:creationId xmlns:a16="http://schemas.microsoft.com/office/drawing/2014/main" id="{994435EE-DA1B-7FF8-A7B6-DAAFD25BE1E6}"/>
              </a:ext>
            </a:extLst>
          </p:cNvPr>
          <p:cNvPicPr>
            <a:picLocks noGrp="1" noChangeAspect="1"/>
          </p:cNvPicPr>
          <p:nvPr>
            <p:ph idx="1"/>
          </p:nvPr>
        </p:nvPicPr>
        <p:blipFill>
          <a:blip r:embed="rId2"/>
          <a:stretch>
            <a:fillRect/>
          </a:stretch>
        </p:blipFill>
        <p:spPr>
          <a:xfrm>
            <a:off x="1000124" y="1123950"/>
            <a:ext cx="10353675" cy="4952999"/>
          </a:xfrm>
        </p:spPr>
      </p:pic>
    </p:spTree>
    <p:extLst>
      <p:ext uri="{BB962C8B-B14F-4D97-AF65-F5344CB8AC3E}">
        <p14:creationId xmlns:p14="http://schemas.microsoft.com/office/powerpoint/2010/main" val="715470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500A-ED2F-B5C6-FA16-F1327A1ADA05}"/>
              </a:ext>
            </a:extLst>
          </p:cNvPr>
          <p:cNvSpPr>
            <a:spLocks noGrp="1"/>
          </p:cNvSpPr>
          <p:nvPr>
            <p:ph type="title"/>
          </p:nvPr>
        </p:nvSpPr>
        <p:spPr>
          <a:xfrm>
            <a:off x="838200" y="80387"/>
            <a:ext cx="10515600" cy="653143"/>
          </a:xfrm>
        </p:spPr>
        <p:txBody>
          <a:bodyPr>
            <a:normAutofit/>
          </a:bodyPr>
          <a:lstStyle/>
          <a:p>
            <a:pPr algn="ctr"/>
            <a:r>
              <a:rPr lang="en-IN" sz="3200" b="1" u="sng" dirty="0">
                <a:latin typeface="Times New Roman" panose="02020603050405020304" pitchFamily="18" charset="0"/>
                <a:cs typeface="Times New Roman" panose="02020603050405020304" pitchFamily="18" charset="0"/>
              </a:rPr>
              <a:t>Dashboard</a:t>
            </a:r>
          </a:p>
        </p:txBody>
      </p:sp>
      <p:pic>
        <p:nvPicPr>
          <p:cNvPr id="9" name="Content Placeholder 8">
            <a:extLst>
              <a:ext uri="{FF2B5EF4-FFF2-40B4-BE49-F238E27FC236}">
                <a16:creationId xmlns:a16="http://schemas.microsoft.com/office/drawing/2014/main" id="{9FDFF948-B208-3229-A680-60C7A762A0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575" y="733530"/>
            <a:ext cx="11449050" cy="5759345"/>
          </a:xfrm>
        </p:spPr>
      </p:pic>
    </p:spTree>
    <p:extLst>
      <p:ext uri="{BB962C8B-B14F-4D97-AF65-F5344CB8AC3E}">
        <p14:creationId xmlns:p14="http://schemas.microsoft.com/office/powerpoint/2010/main" val="3708729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1F359-2292-32A4-60BD-2A2D52B62716}"/>
              </a:ext>
            </a:extLst>
          </p:cNvPr>
          <p:cNvSpPr>
            <a:spLocks noGrp="1"/>
          </p:cNvSpPr>
          <p:nvPr>
            <p:ph type="title"/>
          </p:nvPr>
        </p:nvSpPr>
        <p:spPr>
          <a:xfrm>
            <a:off x="838200" y="365125"/>
            <a:ext cx="10515600" cy="682625"/>
          </a:xfrm>
        </p:spPr>
        <p:txBody>
          <a:bodyPr>
            <a:normAutofit/>
          </a:bodyPr>
          <a:lstStyle/>
          <a:p>
            <a:pPr algn="ctr"/>
            <a:r>
              <a:rPr lang="en-IN" sz="3200" b="1" u="sng" dirty="0">
                <a:latin typeface="Times New Roman" panose="02020603050405020304" pitchFamily="18" charset="0"/>
                <a:cs typeface="Times New Roman" panose="02020603050405020304" pitchFamily="18" charset="0"/>
              </a:rPr>
              <a:t>Used Formulas and functions</a:t>
            </a:r>
          </a:p>
        </p:txBody>
      </p:sp>
      <p:pic>
        <p:nvPicPr>
          <p:cNvPr id="10" name="Content Placeholder 9">
            <a:extLst>
              <a:ext uri="{FF2B5EF4-FFF2-40B4-BE49-F238E27FC236}">
                <a16:creationId xmlns:a16="http://schemas.microsoft.com/office/drawing/2014/main" id="{F4D43672-8837-D3B3-DF3C-EF5346E6A5AC}"/>
              </a:ext>
            </a:extLst>
          </p:cNvPr>
          <p:cNvPicPr>
            <a:picLocks noGrp="1" noChangeAspect="1"/>
          </p:cNvPicPr>
          <p:nvPr>
            <p:ph idx="1"/>
          </p:nvPr>
        </p:nvPicPr>
        <p:blipFill>
          <a:blip r:embed="rId2"/>
          <a:stretch>
            <a:fillRect/>
          </a:stretch>
        </p:blipFill>
        <p:spPr>
          <a:xfrm>
            <a:off x="3185327" y="1114425"/>
            <a:ext cx="5787851" cy="5010150"/>
          </a:xfrm>
          <a:prstGeom prst="rect">
            <a:avLst/>
          </a:prstGeom>
        </p:spPr>
      </p:pic>
    </p:spTree>
    <p:extLst>
      <p:ext uri="{BB962C8B-B14F-4D97-AF65-F5344CB8AC3E}">
        <p14:creationId xmlns:p14="http://schemas.microsoft.com/office/powerpoint/2010/main" val="1367174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69B2E73-3626-8115-36B4-6B81AC986A5B}"/>
              </a:ext>
            </a:extLst>
          </p:cNvPr>
          <p:cNvGraphicFramePr/>
          <p:nvPr>
            <p:extLst>
              <p:ext uri="{D42A27DB-BD31-4B8C-83A1-F6EECF244321}">
                <p14:modId xmlns:p14="http://schemas.microsoft.com/office/powerpoint/2010/main" val="2988011129"/>
              </p:ext>
            </p:extLst>
          </p:nvPr>
        </p:nvGraphicFramePr>
        <p:xfrm>
          <a:off x="838200" y="365125"/>
          <a:ext cx="10515600" cy="55332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75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F1BBC-F304-5B88-2176-228C325F5489}"/>
              </a:ext>
            </a:extLst>
          </p:cNvPr>
          <p:cNvSpPr>
            <a:spLocks noGrp="1"/>
          </p:cNvSpPr>
          <p:nvPr>
            <p:ph type="title"/>
          </p:nvPr>
        </p:nvSpPr>
        <p:spPr>
          <a:xfrm>
            <a:off x="838200" y="365125"/>
            <a:ext cx="10515600" cy="659807"/>
          </a:xfrm>
        </p:spPr>
        <p:txBody>
          <a:bodyPr>
            <a:normAutofit fontScale="90000"/>
          </a:bodyPr>
          <a:lstStyle/>
          <a:p>
            <a:pPr algn="ctr"/>
            <a:r>
              <a:rPr lang="en-US" b="1" dirty="0"/>
              <a:t>Why Is This Project Acceptable?</a:t>
            </a:r>
            <a:endParaRPr lang="en-IN" b="1" dirty="0"/>
          </a:p>
        </p:txBody>
      </p:sp>
      <p:sp>
        <p:nvSpPr>
          <p:cNvPr id="3" name="Content Placeholder 2">
            <a:extLst>
              <a:ext uri="{FF2B5EF4-FFF2-40B4-BE49-F238E27FC236}">
                <a16:creationId xmlns:a16="http://schemas.microsoft.com/office/drawing/2014/main" id="{EC99D9A2-D7D4-A0C7-C94B-D3B1613A4113}"/>
              </a:ext>
            </a:extLst>
          </p:cNvPr>
          <p:cNvSpPr>
            <a:spLocks noGrp="1"/>
          </p:cNvSpPr>
          <p:nvPr>
            <p:ph idx="1"/>
          </p:nvPr>
        </p:nvSpPr>
        <p:spPr>
          <a:xfrm>
            <a:off x="838200" y="1617785"/>
            <a:ext cx="10515600" cy="4559178"/>
          </a:xfrm>
        </p:spPr>
        <p:txBody>
          <a:bodyPr/>
          <a:lstStyle/>
          <a:p>
            <a:pPr marL="514350" indent="-514350">
              <a:buAutoNum type="arabicPeriod"/>
            </a:pPr>
            <a:r>
              <a:rPr lang="en-US" dirty="0"/>
              <a:t>Solves a Real Business Problem</a:t>
            </a:r>
          </a:p>
          <a:p>
            <a:pPr marL="514350" indent="-514350">
              <a:buAutoNum type="arabicPeriod"/>
            </a:pPr>
            <a:r>
              <a:rPr lang="en-IN" dirty="0"/>
              <a:t>Uses Data-Driven Decision Making</a:t>
            </a:r>
            <a:endParaRPr lang="en-US" dirty="0"/>
          </a:p>
          <a:p>
            <a:pPr marL="514350" indent="-514350">
              <a:buAutoNum type="arabicPeriod"/>
            </a:pPr>
            <a:r>
              <a:rPr lang="en-US" dirty="0"/>
              <a:t>Shows analytical skills</a:t>
            </a:r>
          </a:p>
          <a:p>
            <a:pPr marL="514350" indent="-514350">
              <a:buAutoNum type="arabicPeriod"/>
            </a:pPr>
            <a:r>
              <a:rPr lang="en-IN" dirty="0"/>
              <a:t>Uses Industry-Relevant Excel Features</a:t>
            </a:r>
            <a:endParaRPr lang="en-US" dirty="0"/>
          </a:p>
          <a:p>
            <a:pPr marL="514350" indent="-514350">
              <a:buAutoNum type="arabicPeriod"/>
            </a:pPr>
            <a:r>
              <a:rPr lang="en-IN" dirty="0"/>
              <a:t>Provides Interactive Reporting</a:t>
            </a:r>
            <a:endParaRPr lang="en-US" dirty="0"/>
          </a:p>
          <a:p>
            <a:pPr marL="514350" indent="-514350">
              <a:buAutoNum type="arabicPeriod"/>
            </a:pPr>
            <a:r>
              <a:rPr lang="en-IN" dirty="0"/>
              <a:t>Includes Performance Monitoring</a:t>
            </a:r>
            <a:endParaRPr lang="en-US" dirty="0"/>
          </a:p>
          <a:p>
            <a:pPr marL="514350" indent="-514350">
              <a:buAutoNum type="arabicPeriod"/>
            </a:pPr>
            <a:r>
              <a:rPr lang="en-US" dirty="0"/>
              <a:t>Easy to Understand and Scalable</a:t>
            </a:r>
          </a:p>
          <a:p>
            <a:pPr marL="514350" indent="-514350">
              <a:buAutoNum type="arabicPeriod"/>
            </a:pPr>
            <a:r>
              <a:rPr lang="en-IN" dirty="0"/>
              <a:t>Demonstrates End-to-End Workflow</a:t>
            </a:r>
          </a:p>
        </p:txBody>
      </p:sp>
    </p:spTree>
    <p:extLst>
      <p:ext uri="{BB962C8B-B14F-4D97-AF65-F5344CB8AC3E}">
        <p14:creationId xmlns:p14="http://schemas.microsoft.com/office/powerpoint/2010/main" val="87015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9F5F-DBA0-7A3F-29C2-997196600134}"/>
              </a:ext>
            </a:extLst>
          </p:cNvPr>
          <p:cNvSpPr>
            <a:spLocks noGrp="1"/>
          </p:cNvSpPr>
          <p:nvPr>
            <p:ph type="title"/>
          </p:nvPr>
        </p:nvSpPr>
        <p:spPr>
          <a:xfrm>
            <a:off x="838200" y="365126"/>
            <a:ext cx="10515600" cy="589468"/>
          </a:xfrm>
        </p:spPr>
        <p:txBody>
          <a:bodyPr>
            <a:noAutofit/>
          </a:bodyPr>
          <a:lstStyle/>
          <a:p>
            <a:pPr algn="ctr"/>
            <a:r>
              <a:rPr lang="en-IN" sz="4000" b="1" dirty="0"/>
              <a:t>At a glance</a:t>
            </a:r>
          </a:p>
        </p:txBody>
      </p:sp>
      <p:pic>
        <p:nvPicPr>
          <p:cNvPr id="5" name="Picture 4">
            <a:extLst>
              <a:ext uri="{FF2B5EF4-FFF2-40B4-BE49-F238E27FC236}">
                <a16:creationId xmlns:a16="http://schemas.microsoft.com/office/drawing/2014/main" id="{82C2FC97-1AE5-138E-EC83-11CF41021E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489559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999E3-8A23-FD94-42C0-7C220DF60241}"/>
              </a:ext>
            </a:extLst>
          </p:cNvPr>
          <p:cNvSpPr>
            <a:spLocks noGrp="1"/>
          </p:cNvSpPr>
          <p:nvPr>
            <p:ph type="title"/>
          </p:nvPr>
        </p:nvSpPr>
        <p:spPr>
          <a:xfrm>
            <a:off x="838200" y="365125"/>
            <a:ext cx="10515600" cy="5683983"/>
          </a:xfrm>
        </p:spPr>
        <p:txBody>
          <a:bodyPr>
            <a:normAutofit/>
          </a:bodyPr>
          <a:lstStyle/>
          <a:p>
            <a:pPr algn="ctr"/>
            <a:r>
              <a:rPr lang="en-US" sz="3200" b="1" dirty="0"/>
              <a:t>Project Summary</a:t>
            </a:r>
            <a:br>
              <a:rPr lang="en-US" sz="3200" b="1" dirty="0"/>
            </a:br>
            <a:br>
              <a:rPr lang="en-US" sz="3200" b="1" dirty="0"/>
            </a:br>
            <a:br>
              <a:rPr lang="en-US" sz="3200" b="1" dirty="0"/>
            </a:br>
            <a:br>
              <a:rPr lang="en-US" sz="2400" dirty="0"/>
            </a:br>
            <a:r>
              <a:rPr lang="en-US" sz="2400" dirty="0"/>
              <a:t>The Sales Revenue Tracker KPI Dashboard is an interactive Excel-based business analytics project designed to monitor sales performance, profitability, customer orders, and business growth. The dashboard transforms raw sales data into meaningful insights using KPIs, charts, slicers, and trend analysis, enabling management to make efficient data-driven decisions.</a:t>
            </a:r>
            <a:br>
              <a:rPr lang="en-US" sz="2400" dirty="0"/>
            </a:br>
            <a:endParaRPr lang="en-IN" sz="2400" dirty="0"/>
          </a:p>
        </p:txBody>
      </p:sp>
    </p:spTree>
    <p:extLst>
      <p:ext uri="{BB962C8B-B14F-4D97-AF65-F5344CB8AC3E}">
        <p14:creationId xmlns:p14="http://schemas.microsoft.com/office/powerpoint/2010/main" val="379626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4E5AB-69FC-30D0-BCC6-EC5668F1A14D}"/>
              </a:ext>
            </a:extLst>
          </p:cNvPr>
          <p:cNvSpPr>
            <a:spLocks noGrp="1"/>
          </p:cNvSpPr>
          <p:nvPr>
            <p:ph type="title"/>
          </p:nvPr>
        </p:nvSpPr>
        <p:spPr>
          <a:xfrm>
            <a:off x="838200" y="365125"/>
            <a:ext cx="10515600" cy="6266787"/>
          </a:xfrm>
        </p:spPr>
        <p:txBody>
          <a:bodyPr>
            <a:normAutofit/>
          </a:bodyPr>
          <a:lstStyle/>
          <a:p>
            <a:pPr algn="ctr"/>
            <a:r>
              <a:rPr lang="en-IN" sz="8000" b="1" dirty="0">
                <a:solidFill>
                  <a:srgbClr val="002060"/>
                </a:solidFill>
              </a:rPr>
              <a:t>Thank You</a:t>
            </a:r>
          </a:p>
        </p:txBody>
      </p:sp>
    </p:spTree>
    <p:extLst>
      <p:ext uri="{BB962C8B-B14F-4D97-AF65-F5344CB8AC3E}">
        <p14:creationId xmlns:p14="http://schemas.microsoft.com/office/powerpoint/2010/main" val="3562116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583</TotalTime>
  <Words>379</Words>
  <Application>Microsoft Office PowerPoint</Application>
  <PresentationFormat>Widescreen</PresentationFormat>
  <Paragraphs>85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Times New Roman</vt:lpstr>
      <vt:lpstr>Office Theme</vt:lpstr>
      <vt:lpstr>Sales Revenue Dashboard with KPI Tracker</vt:lpstr>
      <vt:lpstr>Table of contents</vt:lpstr>
      <vt:lpstr>Features of the project</vt:lpstr>
      <vt:lpstr>📁Project Structure</vt:lpstr>
      <vt:lpstr>🛠️Tools &amp; 💻Tech Stack |🌐Data Source</vt:lpstr>
      <vt:lpstr>Data Cleaning techniques</vt:lpstr>
      <vt:lpstr>Dashboard</vt:lpstr>
      <vt:lpstr>Used Formulas and functions</vt:lpstr>
      <vt:lpstr>PowerPoint Presentation</vt:lpstr>
      <vt:lpstr>Why Is This Project Acceptable?</vt:lpstr>
      <vt:lpstr>At a glance</vt:lpstr>
      <vt:lpstr>Project Summary    The Sales Revenue Tracker KPI Dashboard is an interactive Excel-based business analytics project designed to monitor sales performance, profitability, customer orders, and business growth. The dashboard transforms raw sales data into meaningful insights using KPIs, charts, slicers, and trend analysis, enabling management to make efficient data-driven decisions.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SAUBHAGYA MUNSI</dc:creator>
  <cp:lastModifiedBy>SAUBHAGYA MUNSI</cp:lastModifiedBy>
  <cp:revision>14</cp:revision>
  <dcterms:created xsi:type="dcterms:W3CDTF">2026-05-27T03:39:53Z</dcterms:created>
  <dcterms:modified xsi:type="dcterms:W3CDTF">2026-05-28T20:08:15Z</dcterms:modified>
</cp:coreProperties>
</file>