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media/image3.jpg" ContentType="image/jpg"/>
  <Override PartName="/ppt/media/image6.jpg" ContentType="image/jpg"/>
  <Override PartName="/ppt/media/image7.jpg" ContentType="image/jpg"/>
  <Override PartName="/ppt/media/image8.jpg" ContentType="image/jpg"/>
  <Override PartName="/ppt/media/image9.jpg" ContentType="image/jpg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85" r:id="rId1"/>
  </p:sldMasterIdLst>
  <p:sldIdLst>
    <p:sldId id="256" r:id="rId2"/>
    <p:sldId id="259" r:id="rId3"/>
    <p:sldId id="269" r:id="rId4"/>
    <p:sldId id="270" r:id="rId5"/>
    <p:sldId id="257" r:id="rId6"/>
    <p:sldId id="260" r:id="rId7"/>
    <p:sldId id="262" r:id="rId8"/>
    <p:sldId id="263" r:id="rId9"/>
    <p:sldId id="264" r:id="rId10"/>
    <p:sldId id="265" r:id="rId11"/>
    <p:sldId id="266" r:id="rId12"/>
    <p:sldId id="267" r:id="rId13"/>
  </p:sldIdLst>
  <p:sldSz cx="20104100" cy="11309350"/>
  <p:notesSz cx="20104100" cy="1130935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7B0083-AE11-48B8-BF16-0E58EC624360}" v="11" dt="2026-05-19T21:02:09.537"/>
    <p1510:client id="{B5A37B5A-B1BB-434A-B8E7-AD7F6D4B6A0E}" v="13" dt="2026-05-19T20:58:49.623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8" d="100"/>
          <a:sy n="48" d="100"/>
        </p:scale>
        <p:origin x="821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kesh Mishra" userId="1ad70931-df4a-4af3-97a2-c08e9a46f110" providerId="ADAL" clId="{20540324-B17E-4273-A747-B3C73AEE9E63}"/>
    <pc:docChg chg="modSld">
      <pc:chgData name="Mukesh Mishra" userId="1ad70931-df4a-4af3-97a2-c08e9a46f110" providerId="ADAL" clId="{20540324-B17E-4273-A747-B3C73AEE9E63}" dt="2026-05-19T21:02:09.537" v="10"/>
      <pc:docMkLst>
        <pc:docMk/>
      </pc:docMkLst>
      <pc:sldChg chg="setBg">
        <pc:chgData name="Mukesh Mishra" userId="1ad70931-df4a-4af3-97a2-c08e9a46f110" providerId="ADAL" clId="{20540324-B17E-4273-A747-B3C73AEE9E63}" dt="2026-05-19T21:02:09.537" v="10"/>
        <pc:sldMkLst>
          <pc:docMk/>
          <pc:sldMk cId="0" sldId="263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9T20:55:52.6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9T20:55:53.1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9T20:55:54.5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9T20:55:54.7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9T20:55:56.0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86818" y="1323050"/>
            <a:ext cx="14242173" cy="4191008"/>
          </a:xfrm>
        </p:spPr>
        <p:txBody>
          <a:bodyPr bIns="0" anchor="b">
            <a:normAutofit/>
          </a:bodyPr>
          <a:lstStyle>
            <a:lvl1pPr algn="l">
              <a:defRPr sz="1088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86818" y="5823218"/>
            <a:ext cx="14242172" cy="1612169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2968" b="0" cap="all" baseline="0">
                <a:solidFill>
                  <a:schemeClr val="tx1"/>
                </a:solidFill>
              </a:defRPr>
            </a:lvl1pPr>
            <a:lvl2pPr marL="753923" indent="0" algn="ctr">
              <a:buNone/>
              <a:defRPr sz="2968"/>
            </a:lvl2pPr>
            <a:lvl3pPr marL="1507846" indent="0" algn="ctr">
              <a:buNone/>
              <a:defRPr sz="2968"/>
            </a:lvl3pPr>
            <a:lvl4pPr marL="2261768" indent="0" algn="ctr">
              <a:buNone/>
              <a:defRPr sz="2638"/>
            </a:lvl4pPr>
            <a:lvl5pPr marL="3015691" indent="0" algn="ctr">
              <a:buNone/>
              <a:defRPr sz="2638"/>
            </a:lvl5pPr>
            <a:lvl6pPr marL="3769614" indent="0" algn="ctr">
              <a:buNone/>
              <a:defRPr sz="2638"/>
            </a:lvl6pPr>
            <a:lvl7pPr marL="4523537" indent="0" algn="ctr">
              <a:buNone/>
              <a:defRPr sz="2638"/>
            </a:lvl7pPr>
            <a:lvl8pPr marL="5277460" indent="0" algn="ctr">
              <a:buNone/>
              <a:defRPr sz="2638"/>
            </a:lvl8pPr>
            <a:lvl9pPr marL="6031382" indent="0" algn="ctr">
              <a:buNone/>
              <a:defRPr sz="2638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84708" y="543053"/>
            <a:ext cx="8201779" cy="50989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370649" y="1317566"/>
            <a:ext cx="1337337" cy="830437"/>
          </a:xfrm>
        </p:spPr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3986818" y="5818827"/>
            <a:ext cx="142421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70878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2397414" y="3045985"/>
            <a:ext cx="1584240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15401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97979" y="2895989"/>
            <a:ext cx="14252201" cy="3113369"/>
          </a:xfrm>
        </p:spPr>
        <p:txBody>
          <a:bodyPr anchor="b">
            <a:normAutofit/>
          </a:bodyPr>
          <a:lstStyle>
            <a:lvl1pPr algn="l">
              <a:defRPr sz="593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97979" y="6276698"/>
            <a:ext cx="14231246" cy="1670395"/>
          </a:xfrm>
        </p:spPr>
        <p:txBody>
          <a:bodyPr tIns="91440">
            <a:normAutofit/>
          </a:bodyPr>
          <a:lstStyle>
            <a:lvl1pPr marL="0" indent="0" algn="l">
              <a:buNone/>
              <a:defRPr sz="2968">
                <a:solidFill>
                  <a:schemeClr val="tx1"/>
                </a:solidFill>
              </a:defRPr>
            </a:lvl1pPr>
            <a:lvl2pPr marL="753923" indent="0">
              <a:buNone/>
              <a:defRPr sz="2968">
                <a:solidFill>
                  <a:schemeClr val="tx1">
                    <a:tint val="75000"/>
                  </a:schemeClr>
                </a:solidFill>
              </a:defRPr>
            </a:lvl2pPr>
            <a:lvl3pPr marL="1507846" indent="0">
              <a:buNone/>
              <a:defRPr sz="2968">
                <a:solidFill>
                  <a:schemeClr val="tx1">
                    <a:tint val="75000"/>
                  </a:schemeClr>
                </a:solidFill>
              </a:defRPr>
            </a:lvl3pPr>
            <a:lvl4pPr marL="2261768" indent="0">
              <a:buNone/>
              <a:defRPr sz="2638">
                <a:solidFill>
                  <a:schemeClr val="tx1">
                    <a:tint val="75000"/>
                  </a:schemeClr>
                </a:solidFill>
              </a:defRPr>
            </a:lvl4pPr>
            <a:lvl5pPr marL="3015691" indent="0">
              <a:buNone/>
              <a:defRPr sz="2638">
                <a:solidFill>
                  <a:schemeClr val="tx1">
                    <a:tint val="75000"/>
                  </a:schemeClr>
                </a:solidFill>
              </a:defRPr>
            </a:lvl5pPr>
            <a:lvl6pPr marL="3769614" indent="0">
              <a:buNone/>
              <a:defRPr sz="2638">
                <a:solidFill>
                  <a:schemeClr val="tx1">
                    <a:tint val="75000"/>
                  </a:schemeClr>
                </a:solidFill>
              </a:defRPr>
            </a:lvl6pPr>
            <a:lvl7pPr marL="4523537" indent="0">
              <a:buNone/>
              <a:defRPr sz="2638">
                <a:solidFill>
                  <a:schemeClr val="tx1">
                    <a:tint val="75000"/>
                  </a:schemeClr>
                </a:solidFill>
              </a:defRPr>
            </a:lvl7pPr>
            <a:lvl8pPr marL="5277460" indent="0">
              <a:buNone/>
              <a:defRPr sz="2638">
                <a:solidFill>
                  <a:schemeClr val="tx1">
                    <a:tint val="75000"/>
                  </a:schemeClr>
                </a:solidFill>
              </a:defRPr>
            </a:lvl8pPr>
            <a:lvl9pPr marL="6031382" indent="0">
              <a:buNone/>
              <a:defRPr sz="26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7979" y="6274702"/>
            <a:ext cx="142312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17579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99" y="1327323"/>
            <a:ext cx="15839292" cy="1746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386589" y="3316087"/>
            <a:ext cx="7659662" cy="56869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576041" y="3326748"/>
            <a:ext cx="7659662" cy="56753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2397414" y="3045985"/>
            <a:ext cx="1584240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15558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6358" y="1326125"/>
            <a:ext cx="15842633" cy="17419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86358" y="3330387"/>
            <a:ext cx="7659662" cy="132246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3628" b="0" cap="all" baseline="0">
                <a:solidFill>
                  <a:schemeClr val="accent1"/>
                </a:solidFill>
              </a:defRPr>
            </a:lvl1pPr>
            <a:lvl2pPr marL="753923" indent="0">
              <a:buNone/>
              <a:defRPr sz="3298" b="1"/>
            </a:lvl2pPr>
            <a:lvl3pPr marL="1507846" indent="0">
              <a:buNone/>
              <a:defRPr sz="2968" b="1"/>
            </a:lvl3pPr>
            <a:lvl4pPr marL="2261768" indent="0">
              <a:buNone/>
              <a:defRPr sz="2638" b="1"/>
            </a:lvl4pPr>
            <a:lvl5pPr marL="3015691" indent="0">
              <a:buNone/>
              <a:defRPr sz="2638" b="1"/>
            </a:lvl5pPr>
            <a:lvl6pPr marL="3769614" indent="0">
              <a:buNone/>
              <a:defRPr sz="2638" b="1"/>
            </a:lvl6pPr>
            <a:lvl7pPr marL="4523537" indent="0">
              <a:buNone/>
              <a:defRPr sz="2638" b="1"/>
            </a:lvl7pPr>
            <a:lvl8pPr marL="5277460" indent="0">
              <a:buNone/>
              <a:defRPr sz="2638" b="1"/>
            </a:lvl8pPr>
            <a:lvl9pPr marL="6031382" indent="0">
              <a:buNone/>
              <a:defRPr sz="263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86358" y="4657430"/>
            <a:ext cx="7659662" cy="43609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573718" y="3336083"/>
            <a:ext cx="7659662" cy="1322948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3628" b="0" cap="all" baseline="0">
                <a:solidFill>
                  <a:schemeClr val="accent1"/>
                </a:solidFill>
              </a:defRPr>
            </a:lvl1pPr>
            <a:lvl2pPr marL="753923" indent="0">
              <a:buNone/>
              <a:defRPr sz="3298" b="1"/>
            </a:lvl2pPr>
            <a:lvl3pPr marL="1507846" indent="0">
              <a:buNone/>
              <a:defRPr sz="2968" b="1"/>
            </a:lvl3pPr>
            <a:lvl4pPr marL="2261768" indent="0">
              <a:buNone/>
              <a:defRPr sz="2638" b="1"/>
            </a:lvl4pPr>
            <a:lvl5pPr marL="3015691" indent="0">
              <a:buNone/>
              <a:defRPr sz="2638" b="1"/>
            </a:lvl5pPr>
            <a:lvl6pPr marL="3769614" indent="0">
              <a:buNone/>
              <a:defRPr sz="2638" b="1"/>
            </a:lvl6pPr>
            <a:lvl7pPr marL="4523537" indent="0">
              <a:buNone/>
              <a:defRPr sz="2638" b="1"/>
            </a:lvl7pPr>
            <a:lvl8pPr marL="5277460" indent="0">
              <a:buNone/>
              <a:defRPr sz="2638" b="1"/>
            </a:lvl8pPr>
            <a:lvl9pPr marL="6031382" indent="0">
              <a:buNone/>
              <a:defRPr sz="263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573718" y="4652849"/>
            <a:ext cx="7659662" cy="4349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2397414" y="3045985"/>
            <a:ext cx="1584240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14006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2397414" y="3045985"/>
            <a:ext cx="1584240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5601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39330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2203" y="1317567"/>
            <a:ext cx="5397204" cy="3705662"/>
          </a:xfrm>
        </p:spPr>
        <p:txBody>
          <a:bodyPr anchor="b">
            <a:normAutofit/>
          </a:bodyPr>
          <a:lstStyle>
            <a:lvl1pPr algn="l">
              <a:defRPr sz="395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16874" y="1317567"/>
            <a:ext cx="9914313" cy="7682749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2203" y="5286093"/>
            <a:ext cx="5400360" cy="3707417"/>
          </a:xfrm>
        </p:spPr>
        <p:txBody>
          <a:bodyPr/>
          <a:lstStyle>
            <a:lvl1pPr marL="0" indent="0" algn="l">
              <a:buNone/>
              <a:defRPr sz="2638"/>
            </a:lvl1pPr>
            <a:lvl2pPr marL="753923" indent="0">
              <a:buNone/>
              <a:defRPr sz="2309"/>
            </a:lvl2pPr>
            <a:lvl3pPr marL="1507846" indent="0">
              <a:buNone/>
              <a:defRPr sz="1979"/>
            </a:lvl3pPr>
            <a:lvl4pPr marL="2261768" indent="0">
              <a:buNone/>
              <a:defRPr sz="1649"/>
            </a:lvl4pPr>
            <a:lvl5pPr marL="3015691" indent="0">
              <a:buNone/>
              <a:defRPr sz="1649"/>
            </a:lvl5pPr>
            <a:lvl6pPr marL="3769614" indent="0">
              <a:buNone/>
              <a:defRPr sz="1649"/>
            </a:lvl6pPr>
            <a:lvl7pPr marL="4523537" indent="0">
              <a:buNone/>
              <a:defRPr sz="1649"/>
            </a:lvl7pPr>
            <a:lvl8pPr marL="5277460" indent="0">
              <a:buNone/>
              <a:defRPr sz="1649"/>
            </a:lvl8pPr>
            <a:lvl9pPr marL="6031382" indent="0">
              <a:buNone/>
              <a:defRPr sz="164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2388153" y="5286092"/>
            <a:ext cx="539125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1246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12329901" y="795135"/>
            <a:ext cx="6718735" cy="8491249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92978" y="1862650"/>
            <a:ext cx="9122578" cy="3018769"/>
          </a:xfrm>
        </p:spPr>
        <p:txBody>
          <a:bodyPr anchor="b">
            <a:normAutofit/>
          </a:bodyPr>
          <a:lstStyle>
            <a:lvl1pPr>
              <a:defRPr sz="527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396780" y="1851156"/>
            <a:ext cx="4602525" cy="6375860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5277"/>
            </a:lvl1pPr>
            <a:lvl2pPr marL="753923" indent="0">
              <a:buNone/>
              <a:defRPr sz="4617"/>
            </a:lvl2pPr>
            <a:lvl3pPr marL="1507846" indent="0">
              <a:buNone/>
              <a:defRPr sz="3958"/>
            </a:lvl3pPr>
            <a:lvl4pPr marL="2261768" indent="0">
              <a:buNone/>
              <a:defRPr sz="3298"/>
            </a:lvl4pPr>
            <a:lvl5pPr marL="3015691" indent="0">
              <a:buNone/>
              <a:defRPr sz="3298"/>
            </a:lvl5pPr>
            <a:lvl6pPr marL="3769614" indent="0">
              <a:buNone/>
              <a:defRPr sz="3298"/>
            </a:lvl6pPr>
            <a:lvl7pPr marL="4523537" indent="0">
              <a:buNone/>
              <a:defRPr sz="3298"/>
            </a:lvl7pPr>
            <a:lvl8pPr marL="5277460" indent="0">
              <a:buNone/>
              <a:defRPr sz="3298"/>
            </a:lvl8pPr>
            <a:lvl9pPr marL="6031382" indent="0">
              <a:buNone/>
              <a:defRPr sz="3298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91532" y="5187974"/>
            <a:ext cx="9109512" cy="3304319"/>
          </a:xfrm>
        </p:spPr>
        <p:txBody>
          <a:bodyPr>
            <a:normAutofit/>
          </a:bodyPr>
          <a:lstStyle>
            <a:lvl1pPr marL="0" indent="0" algn="l">
              <a:buNone/>
              <a:defRPr sz="2968"/>
            </a:lvl1pPr>
            <a:lvl2pPr marL="753923" indent="0">
              <a:buNone/>
              <a:defRPr sz="2309"/>
            </a:lvl2pPr>
            <a:lvl3pPr marL="1507846" indent="0">
              <a:buNone/>
              <a:defRPr sz="1979"/>
            </a:lvl3pPr>
            <a:lvl4pPr marL="2261768" indent="0">
              <a:buNone/>
              <a:defRPr sz="1649"/>
            </a:lvl4pPr>
            <a:lvl5pPr marL="3015691" indent="0">
              <a:buNone/>
              <a:defRPr sz="1649"/>
            </a:lvl5pPr>
            <a:lvl6pPr marL="3769614" indent="0">
              <a:buNone/>
              <a:defRPr sz="1649"/>
            </a:lvl6pPr>
            <a:lvl7pPr marL="4523537" indent="0">
              <a:buNone/>
              <a:defRPr sz="1649"/>
            </a:lvl7pPr>
            <a:lvl8pPr marL="5277460" indent="0">
              <a:buNone/>
              <a:defRPr sz="1649"/>
            </a:lvl8pPr>
            <a:lvl9pPr marL="6031382" indent="0">
              <a:buNone/>
              <a:defRPr sz="164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386674" y="9020198"/>
            <a:ext cx="9114371" cy="527907"/>
          </a:xfrm>
        </p:spPr>
        <p:txBody>
          <a:bodyPr/>
          <a:lstStyle>
            <a:lvl1pPr algn="l">
              <a:defRPr/>
            </a:lvl1pPr>
          </a:lstStyle>
          <a:p>
            <a:fld id="{1D8BD707-D9CF-40AE-B4C6-C98DA3205C09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386672" y="525462"/>
            <a:ext cx="9136885" cy="529239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2386674" y="5184038"/>
            <a:ext cx="911437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6750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2397414" y="3045985"/>
            <a:ext cx="1584240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3537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564701" y="1317567"/>
            <a:ext cx="2664291" cy="7684502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382204" y="1317567"/>
            <a:ext cx="12909414" cy="768450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5564701" y="1317567"/>
            <a:ext cx="0" cy="7684502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6967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blackGray"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330266"/>
            <a:ext cx="20104100" cy="677100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10103019"/>
            <a:ext cx="20104100" cy="122518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393594" y="1326712"/>
            <a:ext cx="15835400" cy="173026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93594" y="3324092"/>
            <a:ext cx="15835400" cy="5690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456460" y="544806"/>
            <a:ext cx="5772533" cy="509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4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93593" y="543053"/>
            <a:ext cx="9792893" cy="509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4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1600" y="1317566"/>
            <a:ext cx="1337337" cy="830437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4617">
                <a:solidFill>
                  <a:schemeClr val="accent1"/>
                </a:solidFill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10106207"/>
            <a:ext cx="201041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8147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xStyles>
    <p:titleStyle>
      <a:lvl1pPr algn="l" defTabSz="1507846" rtl="0" eaLnBrk="1" latinLnBrk="0" hangingPunct="1">
        <a:lnSpc>
          <a:spcPct val="90000"/>
        </a:lnSpc>
        <a:spcBef>
          <a:spcPct val="0"/>
        </a:spcBef>
        <a:buNone/>
        <a:defRPr sz="5277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76961" indent="-376961" algn="l" defTabSz="1507846" rtl="0" eaLnBrk="1" latinLnBrk="0" hangingPunct="1">
        <a:lnSpc>
          <a:spcPct val="120000"/>
        </a:lnSpc>
        <a:spcBef>
          <a:spcPts val="1649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3298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1130884" indent="-376961" algn="l" defTabSz="1507846" rtl="0" eaLnBrk="1" latinLnBrk="0" hangingPunct="1">
        <a:lnSpc>
          <a:spcPct val="120000"/>
        </a:lnSpc>
        <a:spcBef>
          <a:spcPts val="824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968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884807" indent="-376961" algn="l" defTabSz="1507846" rtl="0" eaLnBrk="1" latinLnBrk="0" hangingPunct="1">
        <a:lnSpc>
          <a:spcPct val="120000"/>
        </a:lnSpc>
        <a:spcBef>
          <a:spcPts val="824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638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2638730" indent="-376961" algn="l" defTabSz="1507846" rtl="0" eaLnBrk="1" latinLnBrk="0" hangingPunct="1">
        <a:lnSpc>
          <a:spcPct val="120000"/>
        </a:lnSpc>
        <a:spcBef>
          <a:spcPts val="824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309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3392653" indent="-376961" algn="l" defTabSz="1507846" rtl="0" eaLnBrk="1" latinLnBrk="0" hangingPunct="1">
        <a:lnSpc>
          <a:spcPct val="120000"/>
        </a:lnSpc>
        <a:spcBef>
          <a:spcPts val="824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979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4146575" indent="-376961" algn="l" defTabSz="1507846" rtl="0" eaLnBrk="1" latinLnBrk="0" hangingPunct="1">
        <a:lnSpc>
          <a:spcPct val="120000"/>
        </a:lnSpc>
        <a:spcBef>
          <a:spcPts val="824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979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4900498" indent="-376961" algn="l" defTabSz="1507846" rtl="0" eaLnBrk="1" latinLnBrk="0" hangingPunct="1">
        <a:lnSpc>
          <a:spcPct val="120000"/>
        </a:lnSpc>
        <a:spcBef>
          <a:spcPts val="824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979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5654421" indent="-376961" algn="l" defTabSz="1507846" rtl="0" eaLnBrk="1" latinLnBrk="0" hangingPunct="1">
        <a:lnSpc>
          <a:spcPct val="120000"/>
        </a:lnSpc>
        <a:spcBef>
          <a:spcPts val="824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979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6408344" indent="-376961" algn="l" defTabSz="1507846" rtl="0" eaLnBrk="1" latinLnBrk="0" hangingPunct="1">
        <a:lnSpc>
          <a:spcPct val="120000"/>
        </a:lnSpc>
        <a:spcBef>
          <a:spcPts val="824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979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1pPr>
      <a:lvl2pPr marL="753923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2pPr>
      <a:lvl3pPr marL="1507846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3pPr>
      <a:lvl4pPr marL="2261768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4pPr>
      <a:lvl5pPr marL="3015691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5pPr>
      <a:lvl6pPr marL="3769614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6pPr>
      <a:lvl7pPr marL="4523537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7pPr>
      <a:lvl8pPr marL="5277460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8pPr>
      <a:lvl9pPr marL="6031382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jp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7" Type="http://schemas.openxmlformats.org/officeDocument/2006/relationships/customXml" Target="../ink/ink5.xml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.xml"/><Relationship Id="rId5" Type="http://schemas.openxmlformats.org/officeDocument/2006/relationships/customXml" Target="../ink/ink3.xml"/><Relationship Id="rId4" Type="http://schemas.openxmlformats.org/officeDocument/2006/relationships/customXml" Target="../ink/ink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object 26"/>
          <p:cNvSpPr txBox="1"/>
          <p:nvPr/>
        </p:nvSpPr>
        <p:spPr>
          <a:xfrm>
            <a:off x="1212850" y="2149475"/>
            <a:ext cx="12136755" cy="27969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604" marR="5080" indent="-2540">
              <a:lnSpc>
                <a:spcPct val="132600"/>
              </a:lnSpc>
              <a:spcBef>
                <a:spcPts val="100"/>
              </a:spcBef>
              <a:tabLst>
                <a:tab pos="2950210" algn="l"/>
              </a:tabLst>
            </a:pPr>
            <a:r>
              <a:rPr lang="en-IN" sz="4800" b="1" u="sng" spc="45" dirty="0">
                <a:solidFill>
                  <a:srgbClr val="7989A1"/>
                </a:solidFill>
                <a:latin typeface="Arial"/>
                <a:cs typeface="Arial"/>
              </a:rPr>
              <a:t>Topic: Sales Revenue Tracking System</a:t>
            </a:r>
          </a:p>
          <a:p>
            <a:pPr marL="14604" marR="5080" indent="-2540">
              <a:lnSpc>
                <a:spcPct val="132600"/>
              </a:lnSpc>
              <a:spcBef>
                <a:spcPts val="100"/>
              </a:spcBef>
              <a:tabLst>
                <a:tab pos="2950210" algn="l"/>
              </a:tabLst>
            </a:pPr>
            <a:r>
              <a:rPr sz="3000" spc="45" dirty="0">
                <a:solidFill>
                  <a:srgbClr val="7989A1"/>
                </a:solidFill>
                <a:latin typeface="Arial"/>
                <a:cs typeface="Arial"/>
              </a:rPr>
              <a:t>Comprehensive</a:t>
            </a:r>
            <a:r>
              <a:rPr sz="3000" dirty="0">
                <a:solidFill>
                  <a:srgbClr val="7989A1"/>
                </a:solidFill>
                <a:latin typeface="Arial"/>
                <a:cs typeface="Arial"/>
              </a:rPr>
              <a:t>	Analysis</a:t>
            </a:r>
            <a:r>
              <a:rPr sz="3000" spc="300" dirty="0">
                <a:solidFill>
                  <a:srgbClr val="7989A1"/>
                </a:solidFill>
                <a:latin typeface="Arial"/>
                <a:cs typeface="Arial"/>
              </a:rPr>
              <a:t> </a:t>
            </a:r>
            <a:r>
              <a:rPr sz="3000" spc="85" dirty="0">
                <a:solidFill>
                  <a:srgbClr val="7989A1"/>
                </a:solidFill>
                <a:latin typeface="Arial"/>
                <a:cs typeface="Arial"/>
              </a:rPr>
              <a:t>of</a:t>
            </a:r>
            <a:r>
              <a:rPr sz="3000" spc="250" dirty="0">
                <a:solidFill>
                  <a:srgbClr val="7989A1"/>
                </a:solidFill>
                <a:latin typeface="Arial"/>
                <a:cs typeface="Arial"/>
              </a:rPr>
              <a:t> </a:t>
            </a:r>
            <a:r>
              <a:rPr sz="3000" dirty="0">
                <a:solidFill>
                  <a:srgbClr val="7989A1"/>
                </a:solidFill>
                <a:latin typeface="Arial"/>
                <a:cs typeface="Arial"/>
              </a:rPr>
              <a:t>Revenue</a:t>
            </a:r>
            <a:r>
              <a:rPr sz="3000" spc="310" dirty="0">
                <a:solidFill>
                  <a:srgbClr val="7989A1"/>
                </a:solidFill>
                <a:latin typeface="Arial"/>
                <a:cs typeface="Arial"/>
              </a:rPr>
              <a:t> </a:t>
            </a:r>
            <a:r>
              <a:rPr sz="3000" dirty="0">
                <a:solidFill>
                  <a:srgbClr val="7989A1"/>
                </a:solidFill>
                <a:latin typeface="Arial"/>
                <a:cs typeface="Arial"/>
              </a:rPr>
              <a:t>Streams,</a:t>
            </a:r>
            <a:r>
              <a:rPr sz="3000" spc="265" dirty="0">
                <a:solidFill>
                  <a:srgbClr val="7989A1"/>
                </a:solidFill>
                <a:latin typeface="Arial"/>
                <a:cs typeface="Arial"/>
              </a:rPr>
              <a:t> </a:t>
            </a:r>
            <a:r>
              <a:rPr sz="3000" dirty="0">
                <a:solidFill>
                  <a:srgbClr val="7989A1"/>
                </a:solidFill>
                <a:latin typeface="Arial"/>
                <a:cs typeface="Arial"/>
              </a:rPr>
              <a:t>Regional</a:t>
            </a:r>
            <a:r>
              <a:rPr sz="3000" spc="300" dirty="0">
                <a:solidFill>
                  <a:srgbClr val="7989A1"/>
                </a:solidFill>
                <a:latin typeface="Arial"/>
                <a:cs typeface="Arial"/>
              </a:rPr>
              <a:t> </a:t>
            </a:r>
            <a:r>
              <a:rPr sz="3000" spc="50" dirty="0">
                <a:solidFill>
                  <a:srgbClr val="7989A1"/>
                </a:solidFill>
                <a:latin typeface="Arial"/>
                <a:cs typeface="Arial"/>
              </a:rPr>
              <a:t>Trends,</a:t>
            </a:r>
            <a:r>
              <a:rPr sz="3000" spc="190" dirty="0">
                <a:solidFill>
                  <a:srgbClr val="7989A1"/>
                </a:solidFill>
                <a:latin typeface="Arial"/>
                <a:cs typeface="Arial"/>
              </a:rPr>
              <a:t> </a:t>
            </a:r>
            <a:r>
              <a:rPr sz="3000" spc="35" dirty="0">
                <a:solidFill>
                  <a:srgbClr val="7989A1"/>
                </a:solidFill>
                <a:latin typeface="Arial"/>
                <a:cs typeface="Arial"/>
              </a:rPr>
              <a:t>and </a:t>
            </a:r>
            <a:r>
              <a:rPr sz="3000" dirty="0">
                <a:solidFill>
                  <a:srgbClr val="7989A1"/>
                </a:solidFill>
                <a:latin typeface="Arial"/>
                <a:cs typeface="Arial"/>
              </a:rPr>
              <a:t>Team</a:t>
            </a:r>
            <a:r>
              <a:rPr sz="3000" spc="140" dirty="0">
                <a:solidFill>
                  <a:srgbClr val="7989A1"/>
                </a:solidFill>
                <a:latin typeface="Arial"/>
                <a:cs typeface="Arial"/>
              </a:rPr>
              <a:t> </a:t>
            </a:r>
            <a:r>
              <a:rPr sz="3000" spc="75" dirty="0">
                <a:solidFill>
                  <a:srgbClr val="7989A1"/>
                </a:solidFill>
                <a:latin typeface="Arial"/>
                <a:cs typeface="Arial"/>
              </a:rPr>
              <a:t>Productivity</a:t>
            </a:r>
            <a:r>
              <a:rPr sz="3000" spc="315" dirty="0">
                <a:solidFill>
                  <a:srgbClr val="7989A1"/>
                </a:solidFill>
                <a:latin typeface="Arial"/>
                <a:cs typeface="Arial"/>
              </a:rPr>
              <a:t> </a:t>
            </a:r>
            <a:r>
              <a:rPr sz="3000" spc="95" dirty="0">
                <a:solidFill>
                  <a:srgbClr val="7989A1"/>
                </a:solidFill>
                <a:latin typeface="Arial"/>
                <a:cs typeface="Arial"/>
              </a:rPr>
              <a:t>metrics</a:t>
            </a:r>
            <a:r>
              <a:rPr sz="3000" spc="180" dirty="0">
                <a:solidFill>
                  <a:srgbClr val="7989A1"/>
                </a:solidFill>
                <a:latin typeface="Arial"/>
                <a:cs typeface="Arial"/>
              </a:rPr>
              <a:t> </a:t>
            </a:r>
            <a:r>
              <a:rPr sz="3000" spc="80" dirty="0">
                <a:solidFill>
                  <a:srgbClr val="7989A1"/>
                </a:solidFill>
                <a:latin typeface="Arial"/>
                <a:cs typeface="Arial"/>
              </a:rPr>
              <a:t>for</a:t>
            </a:r>
            <a:r>
              <a:rPr sz="3000" spc="95" dirty="0">
                <a:solidFill>
                  <a:srgbClr val="7989A1"/>
                </a:solidFill>
                <a:latin typeface="Arial"/>
                <a:cs typeface="Arial"/>
              </a:rPr>
              <a:t> </a:t>
            </a:r>
            <a:r>
              <a:rPr sz="3000" spc="105" dirty="0">
                <a:solidFill>
                  <a:srgbClr val="7989A1"/>
                </a:solidFill>
                <a:latin typeface="Arial"/>
                <a:cs typeface="Arial"/>
              </a:rPr>
              <a:t>the</a:t>
            </a:r>
            <a:r>
              <a:rPr sz="3000" spc="25" dirty="0">
                <a:solidFill>
                  <a:srgbClr val="7989A1"/>
                </a:solidFill>
                <a:latin typeface="Arial"/>
                <a:cs typeface="Arial"/>
              </a:rPr>
              <a:t> </a:t>
            </a:r>
            <a:r>
              <a:rPr sz="3000" spc="85" dirty="0">
                <a:solidFill>
                  <a:srgbClr val="7989A1"/>
                </a:solidFill>
                <a:latin typeface="Arial"/>
                <a:cs typeface="Arial"/>
              </a:rPr>
              <a:t>current</a:t>
            </a:r>
            <a:r>
              <a:rPr sz="3000" spc="100" dirty="0">
                <a:solidFill>
                  <a:srgbClr val="7989A1"/>
                </a:solidFill>
                <a:latin typeface="Arial"/>
                <a:cs typeface="Arial"/>
              </a:rPr>
              <a:t> </a:t>
            </a:r>
            <a:r>
              <a:rPr sz="3000" spc="120" dirty="0">
                <a:solidFill>
                  <a:srgbClr val="7989A1"/>
                </a:solidFill>
                <a:latin typeface="Arial"/>
                <a:cs typeface="Arial"/>
              </a:rPr>
              <a:t>fiscal</a:t>
            </a:r>
            <a:r>
              <a:rPr sz="3000" spc="60" dirty="0">
                <a:solidFill>
                  <a:srgbClr val="7989A1"/>
                </a:solidFill>
                <a:latin typeface="Arial"/>
                <a:cs typeface="Arial"/>
              </a:rPr>
              <a:t> </a:t>
            </a:r>
            <a:r>
              <a:rPr sz="3000" spc="75" dirty="0">
                <a:solidFill>
                  <a:srgbClr val="7989A1"/>
                </a:solidFill>
                <a:latin typeface="Arial"/>
                <a:cs typeface="Arial"/>
              </a:rPr>
              <a:t>period.</a:t>
            </a:r>
            <a:endParaRPr lang="en-IN" sz="3000" spc="75" dirty="0">
              <a:solidFill>
                <a:srgbClr val="7989A1"/>
              </a:solidFill>
              <a:latin typeface="Arial"/>
              <a:cs typeface="Arial"/>
            </a:endParaRPr>
          </a:p>
          <a:p>
            <a:pPr marL="14604" marR="5080" indent="-2540">
              <a:lnSpc>
                <a:spcPct val="132600"/>
              </a:lnSpc>
              <a:spcBef>
                <a:spcPts val="100"/>
              </a:spcBef>
              <a:tabLst>
                <a:tab pos="2950210" algn="l"/>
              </a:tabLst>
            </a:pPr>
            <a:endParaRPr sz="3000" dirty="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929370" y="8540401"/>
            <a:ext cx="14990080" cy="15407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8800"/>
              </a:lnSpc>
              <a:spcBef>
                <a:spcPts val="100"/>
              </a:spcBef>
            </a:pPr>
            <a:r>
              <a:rPr lang="en-IN" sz="3600" b="1" dirty="0">
                <a:solidFill>
                  <a:srgbClr val="1C2131"/>
                </a:solidFill>
                <a:latin typeface="Arial"/>
                <a:cs typeface="Arial"/>
              </a:rPr>
              <a:t>Team Member : Mukesh Mishra</a:t>
            </a:r>
          </a:p>
          <a:p>
            <a:pPr marL="12700" marR="5080">
              <a:lnSpc>
                <a:spcPct val="108800"/>
              </a:lnSpc>
              <a:spcBef>
                <a:spcPts val="100"/>
              </a:spcBef>
            </a:pPr>
            <a:r>
              <a:rPr lang="en-IN" sz="3600" b="1" dirty="0">
                <a:solidFill>
                  <a:srgbClr val="1C2131"/>
                </a:solidFill>
                <a:latin typeface="Arial"/>
                <a:cs typeface="Arial"/>
              </a:rPr>
              <a:t>                           Saubhagya </a:t>
            </a:r>
            <a:r>
              <a:rPr lang="en-IN" sz="3600" b="1" dirty="0" err="1">
                <a:solidFill>
                  <a:srgbClr val="1C2131"/>
                </a:solidFill>
                <a:latin typeface="Arial"/>
                <a:cs typeface="Arial"/>
              </a:rPr>
              <a:t>Munsi</a:t>
            </a:r>
            <a:endParaRPr lang="en-IN" sz="3600" b="1" dirty="0">
              <a:solidFill>
                <a:srgbClr val="1C2131"/>
              </a:solidFill>
              <a:latin typeface="Arial"/>
              <a:cs typeface="Arial"/>
            </a:endParaRPr>
          </a:p>
          <a:p>
            <a:pPr marL="12700" marR="5080">
              <a:lnSpc>
                <a:spcPct val="108800"/>
              </a:lnSpc>
              <a:spcBef>
                <a:spcPts val="100"/>
              </a:spcBef>
            </a:pPr>
            <a:endParaRPr sz="1900" dirty="0">
              <a:latin typeface="Arial"/>
              <a:cs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AD663FF-017F-F219-63E7-65DCB29F75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14650" y="320675"/>
            <a:ext cx="3438525" cy="27969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61027" y="3638326"/>
            <a:ext cx="8730629" cy="5244735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1974850" y="948134"/>
            <a:ext cx="6934199" cy="630301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  <a:tabLst>
                <a:tab pos="1949450" algn="l"/>
              </a:tabLst>
            </a:pPr>
            <a:r>
              <a:rPr sz="4000" b="1" spc="190" dirty="0">
                <a:solidFill>
                  <a:srgbClr val="0E1A28"/>
                </a:solidFill>
              </a:rPr>
              <a:t>DATA</a:t>
            </a:r>
            <a:r>
              <a:rPr sz="4000" b="1" dirty="0">
                <a:solidFill>
                  <a:srgbClr val="0E1A28"/>
                </a:solidFill>
              </a:rPr>
              <a:t>	</a:t>
            </a:r>
            <a:r>
              <a:rPr sz="3600" b="1" spc="235" dirty="0">
                <a:solidFill>
                  <a:srgbClr val="0E1A28"/>
                </a:solidFill>
              </a:rPr>
              <a:t>ANALYSIS</a:t>
            </a:r>
            <a:endParaRPr sz="4000" b="1" spc="235" dirty="0">
              <a:solidFill>
                <a:srgbClr val="0E1A28"/>
              </a:solidFill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70650" y="948134"/>
            <a:ext cx="6713137" cy="56874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lang="en-IN" sz="3600" spc="229" dirty="0">
                <a:solidFill>
                  <a:srgbClr val="0E1A28"/>
                </a:solidFill>
                <a:latin typeface="Arial"/>
                <a:cs typeface="Arial"/>
              </a:rPr>
              <a:t> </a:t>
            </a:r>
            <a:r>
              <a:rPr lang="en-IN" sz="3600" b="1" spc="229" dirty="0">
                <a:solidFill>
                  <a:srgbClr val="0E1A28"/>
                </a:solidFill>
                <a:latin typeface="Arial"/>
                <a:cs typeface="Arial"/>
              </a:rPr>
              <a:t>&amp;</a:t>
            </a:r>
            <a:r>
              <a:rPr lang="en-IN" sz="3600" spc="229" dirty="0">
                <a:solidFill>
                  <a:srgbClr val="0E1A28"/>
                </a:solidFill>
                <a:latin typeface="Arial"/>
                <a:cs typeface="Arial"/>
              </a:rPr>
              <a:t> </a:t>
            </a:r>
            <a:r>
              <a:rPr sz="3600" b="1" spc="229" dirty="0">
                <a:solidFill>
                  <a:srgbClr val="0E1A28"/>
                </a:solidFill>
                <a:latin typeface="Arial"/>
                <a:cs typeface="Arial"/>
              </a:rPr>
              <a:t>CHALLENGES</a:t>
            </a:r>
            <a:endParaRPr sz="3600" b="1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2444" y="3908970"/>
            <a:ext cx="8420735" cy="706648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4445">
              <a:lnSpc>
                <a:spcPct val="130300"/>
              </a:lnSpc>
              <a:spcBef>
                <a:spcPts val="95"/>
              </a:spcBef>
            </a:pPr>
            <a:r>
              <a:rPr sz="2800" dirty="0">
                <a:solidFill>
                  <a:srgbClr val="44566E"/>
                </a:solidFill>
                <a:latin typeface="Arial"/>
                <a:cs typeface="Arial"/>
              </a:rPr>
              <a:t>The</a:t>
            </a:r>
            <a:r>
              <a:rPr sz="2800" spc="175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44566E"/>
                </a:solidFill>
                <a:latin typeface="Arial"/>
                <a:cs typeface="Arial"/>
              </a:rPr>
              <a:t>initial</a:t>
            </a:r>
            <a:r>
              <a:rPr sz="2800" spc="110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44566E"/>
                </a:solidFill>
                <a:latin typeface="Arial"/>
                <a:cs typeface="Arial"/>
              </a:rPr>
              <a:t>dataset</a:t>
            </a:r>
            <a:r>
              <a:rPr sz="2800" spc="315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44566E"/>
                </a:solidFill>
                <a:latin typeface="Arial"/>
                <a:cs typeface="Arial"/>
              </a:rPr>
              <a:t>was</a:t>
            </a:r>
            <a:r>
              <a:rPr sz="2800" spc="204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800" spc="45" dirty="0">
                <a:solidFill>
                  <a:srgbClr val="44566E"/>
                </a:solidFill>
                <a:latin typeface="Arial"/>
                <a:cs typeface="Arial"/>
              </a:rPr>
              <a:t>characterized</a:t>
            </a:r>
            <a:r>
              <a:rPr sz="2800" spc="270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800" spc="95" dirty="0">
                <a:solidFill>
                  <a:srgbClr val="44566E"/>
                </a:solidFill>
                <a:latin typeface="Arial"/>
                <a:cs typeface="Arial"/>
              </a:rPr>
              <a:t>by</a:t>
            </a:r>
            <a:r>
              <a:rPr sz="2800" spc="105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44566E"/>
                </a:solidFill>
                <a:latin typeface="Arial"/>
                <a:cs typeface="Arial"/>
              </a:rPr>
              <a:t>significant</a:t>
            </a:r>
            <a:r>
              <a:rPr sz="2800" spc="330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44566E"/>
                </a:solidFill>
                <a:latin typeface="Arial"/>
                <a:cs typeface="Arial"/>
              </a:rPr>
              <a:t>operational </a:t>
            </a:r>
            <a:r>
              <a:rPr sz="2800" dirty="0">
                <a:solidFill>
                  <a:srgbClr val="44566E"/>
                </a:solidFill>
                <a:latin typeface="Arial"/>
                <a:cs typeface="Arial"/>
              </a:rPr>
              <a:t>noise,</a:t>
            </a:r>
            <a:r>
              <a:rPr sz="2800" spc="90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800" spc="55" dirty="0">
                <a:solidFill>
                  <a:srgbClr val="44566E"/>
                </a:solidFill>
                <a:latin typeface="Arial"/>
                <a:cs typeface="Arial"/>
              </a:rPr>
              <a:t>requiring</a:t>
            </a:r>
            <a:r>
              <a:rPr sz="2800" spc="155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44566E"/>
                </a:solidFill>
                <a:latin typeface="Arial"/>
                <a:cs typeface="Arial"/>
              </a:rPr>
              <a:t>a</a:t>
            </a:r>
            <a:r>
              <a:rPr sz="2800" spc="45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44566E"/>
                </a:solidFill>
                <a:latin typeface="Arial"/>
                <a:cs typeface="Arial"/>
              </a:rPr>
              <a:t>multi-</a:t>
            </a:r>
            <a:r>
              <a:rPr sz="2800" spc="50" dirty="0">
                <a:solidFill>
                  <a:srgbClr val="44566E"/>
                </a:solidFill>
                <a:latin typeface="Arial"/>
                <a:cs typeface="Arial"/>
              </a:rPr>
              <a:t>stage</a:t>
            </a:r>
            <a:r>
              <a:rPr sz="2800" spc="335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44566E"/>
                </a:solidFill>
                <a:latin typeface="Arial"/>
                <a:cs typeface="Arial"/>
              </a:rPr>
              <a:t>audit</a:t>
            </a:r>
            <a:r>
              <a:rPr sz="2800" spc="165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800" spc="70" dirty="0">
                <a:solidFill>
                  <a:srgbClr val="44566E"/>
                </a:solidFill>
                <a:latin typeface="Arial"/>
                <a:cs typeface="Arial"/>
              </a:rPr>
              <a:t>before</a:t>
            </a:r>
            <a:r>
              <a:rPr sz="2800" spc="250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44566E"/>
                </a:solidFill>
                <a:latin typeface="Arial"/>
                <a:cs typeface="Arial"/>
              </a:rPr>
              <a:t>visualization</a:t>
            </a:r>
            <a:r>
              <a:rPr sz="2800" spc="280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800" spc="50" dirty="0">
                <a:solidFill>
                  <a:srgbClr val="44566E"/>
                </a:solidFill>
                <a:latin typeface="Arial"/>
                <a:cs typeface="Arial"/>
              </a:rPr>
              <a:t>could </a:t>
            </a:r>
            <a:r>
              <a:rPr sz="2800" spc="45" dirty="0">
                <a:solidFill>
                  <a:srgbClr val="44566E"/>
                </a:solidFill>
                <a:latin typeface="Arial"/>
                <a:cs typeface="Arial"/>
              </a:rPr>
              <a:t>occur.</a:t>
            </a:r>
            <a:endParaRPr sz="2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939"/>
              </a:spcBef>
            </a:pPr>
            <a:endParaRPr sz="2800" dirty="0">
              <a:latin typeface="Arial"/>
              <a:cs typeface="Arial"/>
            </a:endParaRPr>
          </a:p>
          <a:p>
            <a:pPr marL="638175" marR="658495" indent="-291465">
              <a:lnSpc>
                <a:spcPct val="130300"/>
              </a:lnSpc>
              <a:spcBef>
                <a:spcPts val="5"/>
              </a:spcBef>
              <a:buChar char="•"/>
              <a:tabLst>
                <a:tab pos="638175" algn="l"/>
                <a:tab pos="641985" algn="l"/>
              </a:tabLst>
            </a:pPr>
            <a:r>
              <a:rPr sz="2800" dirty="0">
                <a:solidFill>
                  <a:srgbClr val="44566E"/>
                </a:solidFill>
                <a:latin typeface="Arial"/>
                <a:cs typeface="Arial"/>
              </a:rPr>
              <a:t>	</a:t>
            </a:r>
            <a:r>
              <a:rPr sz="2800" b="1" dirty="0">
                <a:solidFill>
                  <a:srgbClr val="44566E"/>
                </a:solidFill>
                <a:latin typeface="Arial"/>
                <a:cs typeface="Arial"/>
              </a:rPr>
              <a:t>Incomplete</a:t>
            </a:r>
            <a:r>
              <a:rPr sz="2800" b="1" spc="235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44566E"/>
                </a:solidFill>
                <a:latin typeface="Arial"/>
                <a:cs typeface="Arial"/>
              </a:rPr>
              <a:t>Records:</a:t>
            </a:r>
            <a:r>
              <a:rPr sz="2800" b="1" spc="145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44566E"/>
                </a:solidFill>
                <a:latin typeface="Arial"/>
                <a:cs typeface="Arial"/>
              </a:rPr>
              <a:t>Multiple</a:t>
            </a:r>
            <a:r>
              <a:rPr sz="2800" spc="260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44566E"/>
                </a:solidFill>
                <a:latin typeface="Arial"/>
                <a:cs typeface="Arial"/>
              </a:rPr>
              <a:t>Order</a:t>
            </a:r>
            <a:r>
              <a:rPr sz="2800" spc="65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44566E"/>
                </a:solidFill>
                <a:latin typeface="Arial"/>
                <a:cs typeface="Arial"/>
              </a:rPr>
              <a:t>IDs</a:t>
            </a:r>
            <a:r>
              <a:rPr sz="2800" spc="204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800" spc="65" dirty="0">
                <a:solidFill>
                  <a:srgbClr val="44566E"/>
                </a:solidFill>
                <a:latin typeface="Arial"/>
                <a:cs typeface="Arial"/>
              </a:rPr>
              <a:t>with</a:t>
            </a:r>
            <a:r>
              <a:rPr sz="2800" spc="25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800" spc="40" dirty="0">
                <a:solidFill>
                  <a:srgbClr val="44566E"/>
                </a:solidFill>
                <a:latin typeface="Arial"/>
                <a:cs typeface="Arial"/>
              </a:rPr>
              <a:t>missing </a:t>
            </a:r>
            <a:r>
              <a:rPr sz="2800" dirty="0">
                <a:solidFill>
                  <a:srgbClr val="44566E"/>
                </a:solidFill>
                <a:latin typeface="Arial"/>
                <a:cs typeface="Arial"/>
              </a:rPr>
              <a:t>Customer</a:t>
            </a:r>
            <a:r>
              <a:rPr sz="2800" spc="425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44566E"/>
                </a:solidFill>
                <a:latin typeface="Arial"/>
                <a:cs typeface="Arial"/>
              </a:rPr>
              <a:t>names</a:t>
            </a:r>
            <a:r>
              <a:rPr sz="2800" spc="385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44566E"/>
                </a:solidFill>
                <a:latin typeface="Arial"/>
                <a:cs typeface="Arial"/>
              </a:rPr>
              <a:t>and</a:t>
            </a:r>
            <a:r>
              <a:rPr sz="2800" spc="250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44566E"/>
                </a:solidFill>
                <a:latin typeface="Arial"/>
                <a:cs typeface="Arial"/>
              </a:rPr>
              <a:t>Salesperson</a:t>
            </a:r>
            <a:r>
              <a:rPr sz="2800" spc="315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44566E"/>
                </a:solidFill>
                <a:latin typeface="Arial"/>
                <a:cs typeface="Arial"/>
              </a:rPr>
              <a:t>IDs.</a:t>
            </a:r>
            <a:endParaRPr sz="2800" dirty="0">
              <a:latin typeface="Arial"/>
              <a:cs typeface="Arial"/>
            </a:endParaRPr>
          </a:p>
          <a:p>
            <a:pPr marL="641350" marR="400050" indent="-294640">
              <a:lnSpc>
                <a:spcPct val="128099"/>
              </a:lnSpc>
              <a:spcBef>
                <a:spcPts val="60"/>
              </a:spcBef>
              <a:buFont typeface="Arial"/>
              <a:buChar char="•"/>
              <a:tabLst>
                <a:tab pos="641350" algn="l"/>
              </a:tabLst>
            </a:pPr>
            <a:r>
              <a:rPr sz="2800" b="1" spc="10" dirty="0">
                <a:solidFill>
                  <a:srgbClr val="44566E"/>
                </a:solidFill>
                <a:latin typeface="Arial"/>
                <a:cs typeface="Arial"/>
              </a:rPr>
              <a:t>Data</a:t>
            </a:r>
            <a:r>
              <a:rPr sz="2800" b="1" spc="215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800" b="1" spc="10" dirty="0">
                <a:solidFill>
                  <a:srgbClr val="44566E"/>
                </a:solidFill>
                <a:latin typeface="Arial"/>
                <a:cs typeface="Arial"/>
              </a:rPr>
              <a:t>Type</a:t>
            </a:r>
            <a:r>
              <a:rPr sz="2800" b="1" spc="165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800" b="1" spc="10" dirty="0">
                <a:solidFill>
                  <a:srgbClr val="44566E"/>
                </a:solidFill>
                <a:latin typeface="Arial"/>
                <a:cs typeface="Arial"/>
              </a:rPr>
              <a:t>Inconsistency:</a:t>
            </a:r>
            <a:r>
              <a:rPr sz="2800" b="1" spc="-105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800" spc="10" dirty="0">
                <a:solidFill>
                  <a:srgbClr val="44566E"/>
                </a:solidFill>
                <a:latin typeface="Arial"/>
                <a:cs typeface="Arial"/>
              </a:rPr>
              <a:t>Financial</a:t>
            </a:r>
            <a:r>
              <a:rPr sz="2800" spc="145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800" spc="10" dirty="0">
                <a:solidFill>
                  <a:srgbClr val="44566E"/>
                </a:solidFill>
                <a:latin typeface="Arial"/>
                <a:cs typeface="Arial"/>
              </a:rPr>
              <a:t>columns</a:t>
            </a:r>
            <a:r>
              <a:rPr sz="2800" spc="270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800" spc="40" dirty="0">
                <a:solidFill>
                  <a:srgbClr val="44566E"/>
                </a:solidFill>
                <a:latin typeface="Arial"/>
                <a:cs typeface="Arial"/>
              </a:rPr>
              <a:t>contained </a:t>
            </a:r>
            <a:r>
              <a:rPr sz="2800" dirty="0">
                <a:solidFill>
                  <a:srgbClr val="44566E"/>
                </a:solidFill>
                <a:latin typeface="Arial"/>
                <a:cs typeface="Arial"/>
              </a:rPr>
              <a:t>mixed</a:t>
            </a:r>
            <a:r>
              <a:rPr sz="2800" spc="100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800" spc="50" dirty="0">
                <a:solidFill>
                  <a:srgbClr val="44566E"/>
                </a:solidFill>
                <a:latin typeface="Arial"/>
                <a:cs typeface="Arial"/>
              </a:rPr>
              <a:t>formats</a:t>
            </a:r>
            <a:r>
              <a:rPr sz="2800" spc="310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800" spc="60" dirty="0">
                <a:solidFill>
                  <a:srgbClr val="44566E"/>
                </a:solidFill>
                <a:latin typeface="Arial"/>
                <a:cs typeface="Arial"/>
              </a:rPr>
              <a:t>{currency</a:t>
            </a:r>
            <a:r>
              <a:rPr sz="2800" spc="145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800" spc="55" dirty="0">
                <a:solidFill>
                  <a:srgbClr val="44566E"/>
                </a:solidFill>
                <a:latin typeface="Arial"/>
                <a:cs typeface="Arial"/>
              </a:rPr>
              <a:t>strings</a:t>
            </a:r>
            <a:r>
              <a:rPr sz="2800" spc="140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800" spc="65" dirty="0">
                <a:solidFill>
                  <a:srgbClr val="44566E"/>
                </a:solidFill>
                <a:latin typeface="Arial"/>
                <a:cs typeface="Arial"/>
              </a:rPr>
              <a:t>vs </a:t>
            </a:r>
            <a:r>
              <a:rPr sz="2800" spc="55" dirty="0">
                <a:solidFill>
                  <a:srgbClr val="44566E"/>
                </a:solidFill>
                <a:latin typeface="Arial"/>
                <a:cs typeface="Arial"/>
              </a:rPr>
              <a:t>numeric</a:t>
            </a:r>
            <a:r>
              <a:rPr sz="2800" spc="114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800" spc="40" dirty="0">
                <a:solidFill>
                  <a:srgbClr val="44566E"/>
                </a:solidFill>
                <a:latin typeface="Arial"/>
                <a:cs typeface="Arial"/>
              </a:rPr>
              <a:t>values).</a:t>
            </a:r>
            <a:endParaRPr sz="2800" dirty="0">
              <a:latin typeface="Arial"/>
              <a:cs typeface="Arial"/>
            </a:endParaRPr>
          </a:p>
          <a:p>
            <a:pPr marL="640715" marR="257175" indent="-301625">
              <a:lnSpc>
                <a:spcPts val="3600"/>
              </a:lnSpc>
              <a:spcBef>
                <a:spcPts val="35"/>
              </a:spcBef>
              <a:buFont typeface="Arial"/>
              <a:buChar char="•"/>
              <a:tabLst>
                <a:tab pos="649605" algn="l"/>
              </a:tabLst>
            </a:pPr>
            <a:r>
              <a:rPr sz="2800" b="1" dirty="0">
                <a:solidFill>
                  <a:srgbClr val="44566E"/>
                </a:solidFill>
                <a:latin typeface="Arial"/>
                <a:cs typeface="Arial"/>
              </a:rPr>
              <a:t>Regional</a:t>
            </a:r>
            <a:r>
              <a:rPr sz="2800" b="1" spc="210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44566E"/>
                </a:solidFill>
                <a:latin typeface="Arial"/>
                <a:cs typeface="Arial"/>
              </a:rPr>
              <a:t>Misalignment:</a:t>
            </a:r>
            <a:r>
              <a:rPr sz="2800" b="1" spc="229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44566E"/>
                </a:solidFill>
                <a:latin typeface="Arial"/>
                <a:cs typeface="Arial"/>
              </a:rPr>
              <a:t>Redundant</a:t>
            </a:r>
            <a:r>
              <a:rPr sz="2800" spc="195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800" spc="55" dirty="0">
                <a:solidFill>
                  <a:srgbClr val="44566E"/>
                </a:solidFill>
                <a:latin typeface="Arial"/>
                <a:cs typeface="Arial"/>
              </a:rPr>
              <a:t>entries</a:t>
            </a:r>
            <a:r>
              <a:rPr sz="2800" spc="150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800" spc="70" dirty="0">
                <a:solidFill>
                  <a:srgbClr val="44566E"/>
                </a:solidFill>
                <a:latin typeface="Arial"/>
                <a:cs typeface="Arial"/>
              </a:rPr>
              <a:t>for</a:t>
            </a:r>
            <a:r>
              <a:rPr sz="2800" spc="55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44566E"/>
                </a:solidFill>
                <a:latin typeface="Arial"/>
                <a:cs typeface="Arial"/>
              </a:rPr>
              <a:t>East</a:t>
            </a:r>
            <a:r>
              <a:rPr sz="2800" spc="100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800" spc="30" dirty="0">
                <a:solidFill>
                  <a:srgbClr val="44566E"/>
                </a:solidFill>
                <a:latin typeface="Arial"/>
                <a:cs typeface="Arial"/>
              </a:rPr>
              <a:t>and 	</a:t>
            </a:r>
            <a:r>
              <a:rPr sz="2800" dirty="0">
                <a:solidFill>
                  <a:srgbClr val="44566E"/>
                </a:solidFill>
                <a:latin typeface="Arial"/>
                <a:cs typeface="Arial"/>
              </a:rPr>
              <a:t>West</a:t>
            </a:r>
            <a:r>
              <a:rPr sz="2800" spc="140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800" spc="50" dirty="0">
                <a:solidFill>
                  <a:srgbClr val="44566E"/>
                </a:solidFill>
                <a:latin typeface="Arial"/>
                <a:cs typeface="Arial"/>
              </a:rPr>
              <a:t>regions</a:t>
            </a:r>
            <a:r>
              <a:rPr sz="2800" spc="250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44566E"/>
                </a:solidFill>
                <a:latin typeface="Arial"/>
                <a:cs typeface="Arial"/>
              </a:rPr>
              <a:t>due</a:t>
            </a:r>
            <a:r>
              <a:rPr sz="2800" spc="175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44566E"/>
                </a:solidFill>
                <a:latin typeface="Arial"/>
                <a:cs typeface="Arial"/>
              </a:rPr>
              <a:t>to</a:t>
            </a:r>
            <a:r>
              <a:rPr sz="2800" spc="320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44566E"/>
                </a:solidFill>
                <a:latin typeface="Arial"/>
                <a:cs typeface="Arial"/>
              </a:rPr>
              <a:t>spelling</a:t>
            </a:r>
            <a:r>
              <a:rPr sz="2800" spc="70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44566E"/>
                </a:solidFill>
                <a:latin typeface="Arial"/>
                <a:cs typeface="Arial"/>
              </a:rPr>
              <a:t>variations.</a:t>
            </a:r>
            <a:endParaRPr sz="2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038BFD2-D234-9F8C-782D-3F5ABEC824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7250" y="549275"/>
            <a:ext cx="16535400" cy="9524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4880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BF984E3-1CCB-C7D0-1A62-86C41BD69E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5250" y="320675"/>
            <a:ext cx="17602200" cy="952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3725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13402695" y="3102826"/>
            <a:ext cx="5789295" cy="0"/>
          </a:xfrm>
          <a:custGeom>
            <a:avLst/>
            <a:gdLst/>
            <a:ahLst/>
            <a:cxnLst/>
            <a:rect l="l" t="t" r="r" b="b"/>
            <a:pathLst>
              <a:path w="5789294">
                <a:moveTo>
                  <a:pt x="0" y="0"/>
                </a:moveTo>
                <a:lnTo>
                  <a:pt x="5788957" y="0"/>
                </a:lnTo>
              </a:path>
            </a:pathLst>
          </a:custGeom>
          <a:ln w="708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173273" y="3102826"/>
            <a:ext cx="5773420" cy="0"/>
          </a:xfrm>
          <a:custGeom>
            <a:avLst/>
            <a:gdLst/>
            <a:ahLst/>
            <a:cxnLst/>
            <a:rect l="l" t="t" r="r" b="b"/>
            <a:pathLst>
              <a:path w="5773420">
                <a:moveTo>
                  <a:pt x="0" y="0"/>
                </a:moveTo>
                <a:lnTo>
                  <a:pt x="5773226" y="0"/>
                </a:lnTo>
              </a:path>
            </a:pathLst>
          </a:custGeom>
          <a:ln w="708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28120" y="3102826"/>
            <a:ext cx="5789295" cy="0"/>
          </a:xfrm>
          <a:custGeom>
            <a:avLst/>
            <a:gdLst/>
            <a:ahLst/>
            <a:cxnLst/>
            <a:rect l="l" t="t" r="r" b="b"/>
            <a:pathLst>
              <a:path w="5789295">
                <a:moveTo>
                  <a:pt x="0" y="0"/>
                </a:moveTo>
                <a:lnTo>
                  <a:pt x="5788957" y="0"/>
                </a:lnTo>
              </a:path>
            </a:pathLst>
          </a:custGeom>
          <a:ln w="708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1361736" y="948134"/>
            <a:ext cx="12652713" cy="691856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4400" b="1" spc="385" dirty="0">
                <a:solidFill>
                  <a:srgbClr val="151F2F"/>
                </a:solidFill>
              </a:rPr>
              <a:t>EXECUTIVE</a:t>
            </a:r>
            <a:r>
              <a:rPr lang="en-IN" sz="4400" b="1" spc="385" dirty="0">
                <a:solidFill>
                  <a:srgbClr val="151F2F"/>
                </a:solidFill>
              </a:rPr>
              <a:t> SUMMARY </a:t>
            </a:r>
            <a:endParaRPr sz="4400" b="1" spc="-10" dirty="0">
              <a:solidFill>
                <a:srgbClr val="151F2F"/>
              </a:solidFill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05972" y="3617752"/>
            <a:ext cx="1417320" cy="4794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950" b="1" spc="-10" dirty="0">
                <a:solidFill>
                  <a:srgbClr val="151F2F"/>
                </a:solidFill>
                <a:latin typeface="Arial"/>
                <a:cs typeface="Arial"/>
              </a:rPr>
              <a:t>$98,781</a:t>
            </a:r>
            <a:endParaRPr sz="29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634846" y="3605939"/>
            <a:ext cx="4625340" cy="20878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130"/>
              </a:spcBef>
            </a:pPr>
            <a:r>
              <a:rPr sz="3100" b="1" spc="-90" dirty="0">
                <a:solidFill>
                  <a:srgbClr val="151F2F"/>
                </a:solidFill>
                <a:latin typeface="Arial"/>
                <a:cs typeface="Arial"/>
              </a:rPr>
              <a:t>27%</a:t>
            </a:r>
            <a:r>
              <a:rPr sz="3100" b="1" spc="-140" dirty="0">
                <a:solidFill>
                  <a:srgbClr val="151F2F"/>
                </a:solidFill>
                <a:latin typeface="Arial"/>
                <a:cs typeface="Arial"/>
              </a:rPr>
              <a:t> </a:t>
            </a:r>
            <a:r>
              <a:rPr sz="3100" b="1" spc="-10" dirty="0">
                <a:solidFill>
                  <a:srgbClr val="151F2F"/>
                </a:solidFill>
                <a:latin typeface="Arial"/>
                <a:cs typeface="Arial"/>
              </a:rPr>
              <a:t>East/West</a:t>
            </a:r>
            <a:endParaRPr sz="3100">
              <a:latin typeface="Arial"/>
              <a:cs typeface="Arial"/>
            </a:endParaRPr>
          </a:p>
          <a:p>
            <a:pPr marL="14604" marR="5080" indent="-2540">
              <a:lnSpc>
                <a:spcPct val="128099"/>
              </a:lnSpc>
              <a:spcBef>
                <a:spcPts val="1885"/>
              </a:spcBef>
            </a:pPr>
            <a:r>
              <a:rPr sz="2300" dirty="0">
                <a:solidFill>
                  <a:srgbClr val="44566D"/>
                </a:solidFill>
                <a:latin typeface="Arial"/>
                <a:cs typeface="Arial"/>
              </a:rPr>
              <a:t>Strategic</a:t>
            </a:r>
            <a:r>
              <a:rPr sz="2300" spc="250" dirty="0">
                <a:solidFill>
                  <a:srgbClr val="44566D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566D"/>
                </a:solidFill>
                <a:latin typeface="Arial"/>
                <a:cs typeface="Arial"/>
              </a:rPr>
              <a:t>dominance</a:t>
            </a:r>
            <a:r>
              <a:rPr sz="2300" spc="305" dirty="0">
                <a:solidFill>
                  <a:srgbClr val="44566D"/>
                </a:solidFill>
                <a:latin typeface="Arial"/>
                <a:cs typeface="Arial"/>
              </a:rPr>
              <a:t> </a:t>
            </a:r>
            <a:r>
              <a:rPr sz="2300" spc="50" dirty="0">
                <a:solidFill>
                  <a:srgbClr val="44566D"/>
                </a:solidFill>
                <a:latin typeface="Arial"/>
                <a:cs typeface="Arial"/>
              </a:rPr>
              <a:t>in</a:t>
            </a:r>
            <a:r>
              <a:rPr sz="2300" spc="-25" dirty="0">
                <a:solidFill>
                  <a:srgbClr val="44566D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566D"/>
                </a:solidFill>
                <a:latin typeface="Arial"/>
                <a:cs typeface="Arial"/>
              </a:rPr>
              <a:t>East</a:t>
            </a:r>
            <a:r>
              <a:rPr sz="2300" spc="114" dirty="0">
                <a:solidFill>
                  <a:srgbClr val="44566D"/>
                </a:solidFill>
                <a:latin typeface="Arial"/>
                <a:cs typeface="Arial"/>
              </a:rPr>
              <a:t> </a:t>
            </a:r>
            <a:r>
              <a:rPr sz="2300" spc="-25" dirty="0">
                <a:solidFill>
                  <a:srgbClr val="44566D"/>
                </a:solidFill>
                <a:latin typeface="Arial"/>
                <a:cs typeface="Arial"/>
              </a:rPr>
              <a:t>and </a:t>
            </a:r>
            <a:r>
              <a:rPr sz="2300" dirty="0">
                <a:solidFill>
                  <a:srgbClr val="44566D"/>
                </a:solidFill>
                <a:latin typeface="Arial"/>
                <a:cs typeface="Arial"/>
              </a:rPr>
              <a:t>West</a:t>
            </a:r>
            <a:r>
              <a:rPr sz="2300" spc="320" dirty="0">
                <a:solidFill>
                  <a:srgbClr val="44566D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566D"/>
                </a:solidFill>
                <a:latin typeface="Arial"/>
                <a:cs typeface="Arial"/>
              </a:rPr>
              <a:t>regions,</a:t>
            </a:r>
            <a:r>
              <a:rPr sz="2300" spc="265" dirty="0">
                <a:solidFill>
                  <a:srgbClr val="44566D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566D"/>
                </a:solidFill>
                <a:latin typeface="Arial"/>
                <a:cs typeface="Arial"/>
              </a:rPr>
              <a:t>contributing</a:t>
            </a:r>
            <a:r>
              <a:rPr sz="2300" spc="480" dirty="0">
                <a:solidFill>
                  <a:srgbClr val="44566D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566D"/>
                </a:solidFill>
                <a:latin typeface="Arial"/>
                <a:cs typeface="Arial"/>
              </a:rPr>
              <a:t>to</a:t>
            </a:r>
            <a:r>
              <a:rPr sz="2300" spc="355" dirty="0">
                <a:solidFill>
                  <a:srgbClr val="44566D"/>
                </a:solidFill>
                <a:latin typeface="Arial"/>
                <a:cs typeface="Arial"/>
              </a:rPr>
              <a:t> </a:t>
            </a:r>
            <a:r>
              <a:rPr sz="2300" spc="35" dirty="0">
                <a:solidFill>
                  <a:srgbClr val="44566D"/>
                </a:solidFill>
                <a:latin typeface="Arial"/>
                <a:cs typeface="Arial"/>
              </a:rPr>
              <a:t>over </a:t>
            </a:r>
            <a:r>
              <a:rPr sz="2300" dirty="0">
                <a:solidFill>
                  <a:srgbClr val="44566D"/>
                </a:solidFill>
                <a:latin typeface="Arial"/>
                <a:cs typeface="Arial"/>
              </a:rPr>
              <a:t>half</a:t>
            </a:r>
            <a:r>
              <a:rPr sz="2300" spc="155" dirty="0">
                <a:solidFill>
                  <a:srgbClr val="44566D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566D"/>
                </a:solidFill>
                <a:latin typeface="Arial"/>
                <a:cs typeface="Arial"/>
              </a:rPr>
              <a:t>of</a:t>
            </a:r>
            <a:r>
              <a:rPr sz="2300" spc="245" dirty="0">
                <a:solidFill>
                  <a:srgbClr val="44566D"/>
                </a:solidFill>
                <a:latin typeface="Arial"/>
                <a:cs typeface="Arial"/>
              </a:rPr>
              <a:t> </a:t>
            </a:r>
            <a:r>
              <a:rPr sz="2300" spc="70" dirty="0">
                <a:solidFill>
                  <a:srgbClr val="44566D"/>
                </a:solidFill>
                <a:latin typeface="Arial"/>
                <a:cs typeface="Arial"/>
              </a:rPr>
              <a:t>the</a:t>
            </a:r>
            <a:r>
              <a:rPr sz="2300" spc="-25" dirty="0">
                <a:solidFill>
                  <a:srgbClr val="44566D"/>
                </a:solidFill>
                <a:latin typeface="Arial"/>
                <a:cs typeface="Arial"/>
              </a:rPr>
              <a:t> </a:t>
            </a:r>
            <a:r>
              <a:rPr sz="2300" spc="65" dirty="0">
                <a:solidFill>
                  <a:srgbClr val="44566D"/>
                </a:solidFill>
                <a:latin typeface="Arial"/>
                <a:cs typeface="Arial"/>
              </a:rPr>
              <a:t>total</a:t>
            </a:r>
            <a:r>
              <a:rPr sz="2300" spc="-55" dirty="0">
                <a:solidFill>
                  <a:srgbClr val="44566D"/>
                </a:solidFill>
                <a:latin typeface="Arial"/>
                <a:cs typeface="Arial"/>
              </a:rPr>
              <a:t> </a:t>
            </a:r>
            <a:r>
              <a:rPr sz="2300" spc="50" dirty="0">
                <a:solidFill>
                  <a:srgbClr val="44566D"/>
                </a:solidFill>
                <a:latin typeface="Arial"/>
                <a:cs typeface="Arial"/>
              </a:rPr>
              <a:t>revenue</a:t>
            </a:r>
            <a:r>
              <a:rPr sz="2300" spc="245" dirty="0">
                <a:solidFill>
                  <a:srgbClr val="44566D"/>
                </a:solidFill>
                <a:latin typeface="Arial"/>
                <a:cs typeface="Arial"/>
              </a:rPr>
              <a:t> </a:t>
            </a:r>
            <a:r>
              <a:rPr sz="2300" spc="-10" dirty="0">
                <a:solidFill>
                  <a:srgbClr val="44566D"/>
                </a:solidFill>
                <a:latin typeface="Arial"/>
                <a:cs typeface="Arial"/>
              </a:rPr>
              <a:t>share.</a:t>
            </a:r>
            <a:endParaRPr sz="23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877387" y="3605939"/>
            <a:ext cx="4426585" cy="25450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9685">
              <a:lnSpc>
                <a:spcPct val="100000"/>
              </a:lnSpc>
              <a:spcBef>
                <a:spcPts val="130"/>
              </a:spcBef>
            </a:pPr>
            <a:r>
              <a:rPr sz="3100" b="1" spc="-10" dirty="0">
                <a:solidFill>
                  <a:srgbClr val="151F2F"/>
                </a:solidFill>
                <a:latin typeface="Arial"/>
                <a:cs typeface="Arial"/>
              </a:rPr>
              <a:t>Top</a:t>
            </a:r>
            <a:r>
              <a:rPr sz="3100" b="1" spc="-165" dirty="0">
                <a:solidFill>
                  <a:srgbClr val="151F2F"/>
                </a:solidFill>
                <a:latin typeface="Arial"/>
                <a:cs typeface="Arial"/>
              </a:rPr>
              <a:t> </a:t>
            </a:r>
            <a:r>
              <a:rPr sz="3100" b="1" spc="-60" dirty="0">
                <a:solidFill>
                  <a:srgbClr val="151F2F"/>
                </a:solidFill>
                <a:latin typeface="Arial"/>
                <a:cs typeface="Arial"/>
              </a:rPr>
              <a:t>Tier:</a:t>
            </a:r>
            <a:r>
              <a:rPr sz="3100" b="1" spc="-285" dirty="0">
                <a:solidFill>
                  <a:srgbClr val="151F2F"/>
                </a:solidFill>
                <a:latin typeface="Arial"/>
                <a:cs typeface="Arial"/>
              </a:rPr>
              <a:t> </a:t>
            </a:r>
            <a:r>
              <a:rPr sz="3100" b="1" spc="-90" dirty="0">
                <a:solidFill>
                  <a:srgbClr val="151F2F"/>
                </a:solidFill>
                <a:latin typeface="Arial"/>
                <a:cs typeface="Arial"/>
              </a:rPr>
              <a:t>Rahul</a:t>
            </a:r>
            <a:r>
              <a:rPr sz="3100" b="1" spc="-190" dirty="0">
                <a:solidFill>
                  <a:srgbClr val="151F2F"/>
                </a:solidFill>
                <a:latin typeface="Arial"/>
                <a:cs typeface="Arial"/>
              </a:rPr>
              <a:t> </a:t>
            </a:r>
            <a:r>
              <a:rPr sz="3100" b="1" spc="-25" dirty="0">
                <a:solidFill>
                  <a:srgbClr val="151F2F"/>
                </a:solidFill>
                <a:latin typeface="Arial"/>
                <a:cs typeface="Arial"/>
              </a:rPr>
              <a:t>Das</a:t>
            </a:r>
            <a:endParaRPr sz="3100">
              <a:latin typeface="Arial"/>
              <a:cs typeface="Arial"/>
            </a:endParaRPr>
          </a:p>
          <a:p>
            <a:pPr marL="12700" marR="5080" indent="2540">
              <a:lnSpc>
                <a:spcPct val="128800"/>
              </a:lnSpc>
              <a:spcBef>
                <a:spcPts val="1864"/>
              </a:spcBef>
            </a:pPr>
            <a:r>
              <a:rPr sz="2300" dirty="0">
                <a:solidFill>
                  <a:srgbClr val="44566D"/>
                </a:solidFill>
                <a:latin typeface="Arial"/>
                <a:cs typeface="Arial"/>
              </a:rPr>
              <a:t>Leading</a:t>
            </a:r>
            <a:r>
              <a:rPr sz="2300" spc="55" dirty="0">
                <a:solidFill>
                  <a:srgbClr val="44566D"/>
                </a:solidFill>
                <a:latin typeface="Arial"/>
                <a:cs typeface="Arial"/>
              </a:rPr>
              <a:t> </a:t>
            </a:r>
            <a:r>
              <a:rPr sz="2300" spc="90" dirty="0">
                <a:solidFill>
                  <a:srgbClr val="44566D"/>
                </a:solidFill>
                <a:latin typeface="Arial"/>
                <a:cs typeface="Arial"/>
              </a:rPr>
              <a:t>the</a:t>
            </a:r>
            <a:r>
              <a:rPr sz="2300" spc="60" dirty="0">
                <a:solidFill>
                  <a:srgbClr val="44566D"/>
                </a:solidFill>
                <a:latin typeface="Arial"/>
                <a:cs typeface="Arial"/>
              </a:rPr>
              <a:t> </a:t>
            </a:r>
            <a:r>
              <a:rPr sz="2300" spc="-10" dirty="0">
                <a:solidFill>
                  <a:srgbClr val="44566D"/>
                </a:solidFill>
                <a:latin typeface="Arial"/>
                <a:cs typeface="Arial"/>
              </a:rPr>
              <a:t>salesperson </a:t>
            </a:r>
            <a:r>
              <a:rPr sz="2300" dirty="0">
                <a:solidFill>
                  <a:srgbClr val="44566D"/>
                </a:solidFill>
                <a:latin typeface="Arial"/>
                <a:cs typeface="Arial"/>
              </a:rPr>
              <a:t>leaderboard</a:t>
            </a:r>
            <a:r>
              <a:rPr sz="2300" spc="475" dirty="0">
                <a:solidFill>
                  <a:srgbClr val="44566D"/>
                </a:solidFill>
                <a:latin typeface="Arial"/>
                <a:cs typeface="Arial"/>
              </a:rPr>
              <a:t> </a:t>
            </a:r>
            <a:r>
              <a:rPr sz="2300" spc="55" dirty="0">
                <a:solidFill>
                  <a:srgbClr val="44566D"/>
                </a:solidFill>
                <a:latin typeface="Arial"/>
                <a:cs typeface="Arial"/>
              </a:rPr>
              <a:t>with</a:t>
            </a:r>
            <a:r>
              <a:rPr sz="2300" spc="204" dirty="0">
                <a:solidFill>
                  <a:srgbClr val="44566D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566D"/>
                </a:solidFill>
                <a:latin typeface="Arial"/>
                <a:cs typeface="Arial"/>
              </a:rPr>
              <a:t>significant</a:t>
            </a:r>
            <a:r>
              <a:rPr sz="2300" spc="440" dirty="0">
                <a:solidFill>
                  <a:srgbClr val="44566D"/>
                </a:solidFill>
                <a:latin typeface="Arial"/>
                <a:cs typeface="Arial"/>
              </a:rPr>
              <a:t> </a:t>
            </a:r>
            <a:r>
              <a:rPr sz="2300" spc="-20" dirty="0">
                <a:solidFill>
                  <a:srgbClr val="44566D"/>
                </a:solidFill>
                <a:latin typeface="Arial"/>
                <a:cs typeface="Arial"/>
              </a:rPr>
              <a:t>deal </a:t>
            </a:r>
            <a:r>
              <a:rPr sz="2300" spc="50" dirty="0">
                <a:solidFill>
                  <a:srgbClr val="44566D"/>
                </a:solidFill>
                <a:latin typeface="Arial"/>
                <a:cs typeface="Arial"/>
              </a:rPr>
              <a:t>closures</a:t>
            </a:r>
            <a:r>
              <a:rPr sz="2300" spc="165" dirty="0">
                <a:solidFill>
                  <a:srgbClr val="44566D"/>
                </a:solidFill>
                <a:latin typeface="Arial"/>
                <a:cs typeface="Arial"/>
              </a:rPr>
              <a:t> </a:t>
            </a:r>
            <a:r>
              <a:rPr sz="2300" spc="50" dirty="0">
                <a:solidFill>
                  <a:srgbClr val="44566D"/>
                </a:solidFill>
                <a:latin typeface="Arial"/>
                <a:cs typeface="Arial"/>
              </a:rPr>
              <a:t>in</a:t>
            </a:r>
            <a:r>
              <a:rPr sz="2300" spc="-30" dirty="0">
                <a:solidFill>
                  <a:srgbClr val="44566D"/>
                </a:solidFill>
                <a:latin typeface="Arial"/>
                <a:cs typeface="Arial"/>
              </a:rPr>
              <a:t> </a:t>
            </a:r>
            <a:r>
              <a:rPr sz="2300" spc="70" dirty="0">
                <a:solidFill>
                  <a:srgbClr val="44566D"/>
                </a:solidFill>
                <a:latin typeface="Arial"/>
                <a:cs typeface="Arial"/>
              </a:rPr>
              <a:t>the</a:t>
            </a:r>
            <a:r>
              <a:rPr sz="2300" spc="45" dirty="0">
                <a:solidFill>
                  <a:srgbClr val="44566D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566D"/>
                </a:solidFill>
                <a:latin typeface="Arial"/>
                <a:cs typeface="Arial"/>
              </a:rPr>
              <a:t>Electronics</a:t>
            </a:r>
            <a:r>
              <a:rPr sz="2300" spc="320" dirty="0">
                <a:solidFill>
                  <a:srgbClr val="44566D"/>
                </a:solidFill>
                <a:latin typeface="Arial"/>
                <a:cs typeface="Arial"/>
              </a:rPr>
              <a:t> </a:t>
            </a:r>
            <a:r>
              <a:rPr sz="2300" spc="-25" dirty="0">
                <a:solidFill>
                  <a:srgbClr val="44566D"/>
                </a:solidFill>
                <a:latin typeface="Arial"/>
                <a:cs typeface="Arial"/>
              </a:rPr>
              <a:t>and </a:t>
            </a:r>
            <a:r>
              <a:rPr sz="2300" dirty="0">
                <a:solidFill>
                  <a:srgbClr val="44566D"/>
                </a:solidFill>
                <a:latin typeface="Arial"/>
                <a:cs typeface="Arial"/>
              </a:rPr>
              <a:t>Furniture</a:t>
            </a:r>
            <a:r>
              <a:rPr sz="2300" spc="459" dirty="0">
                <a:solidFill>
                  <a:srgbClr val="44566D"/>
                </a:solidFill>
                <a:latin typeface="Arial"/>
                <a:cs typeface="Arial"/>
              </a:rPr>
              <a:t> </a:t>
            </a:r>
            <a:r>
              <a:rPr sz="2300" spc="40" dirty="0">
                <a:solidFill>
                  <a:srgbClr val="44566D"/>
                </a:solidFill>
                <a:latin typeface="Arial"/>
                <a:cs typeface="Arial"/>
              </a:rPr>
              <a:t>segments.</a:t>
            </a:r>
            <a:endParaRPr sz="23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99302" y="4329650"/>
            <a:ext cx="4819650" cy="18135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 marR="5080" indent="4445">
              <a:lnSpc>
                <a:spcPct val="128099"/>
              </a:lnSpc>
              <a:spcBef>
                <a:spcPts val="35"/>
              </a:spcBef>
            </a:pPr>
            <a:r>
              <a:rPr sz="2300" dirty="0">
                <a:solidFill>
                  <a:srgbClr val="44566D"/>
                </a:solidFill>
                <a:latin typeface="Arial"/>
                <a:cs typeface="Arial"/>
              </a:rPr>
              <a:t>Total</a:t>
            </a:r>
            <a:r>
              <a:rPr sz="2300" spc="-20" dirty="0">
                <a:solidFill>
                  <a:srgbClr val="44566D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566D"/>
                </a:solidFill>
                <a:latin typeface="Arial"/>
                <a:cs typeface="Arial"/>
              </a:rPr>
              <a:t>Revenue</a:t>
            </a:r>
            <a:r>
              <a:rPr sz="2300" spc="305" dirty="0">
                <a:solidFill>
                  <a:srgbClr val="44566D"/>
                </a:solidFill>
                <a:latin typeface="Arial"/>
                <a:cs typeface="Arial"/>
              </a:rPr>
              <a:t> </a:t>
            </a:r>
            <a:r>
              <a:rPr sz="2300" spc="50" dirty="0">
                <a:solidFill>
                  <a:srgbClr val="44566D"/>
                </a:solidFill>
                <a:latin typeface="Arial"/>
                <a:cs typeface="Arial"/>
              </a:rPr>
              <a:t>generated</a:t>
            </a:r>
            <a:r>
              <a:rPr sz="2300" spc="130" dirty="0">
                <a:solidFill>
                  <a:srgbClr val="44566D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566D"/>
                </a:solidFill>
                <a:latin typeface="Arial"/>
                <a:cs typeface="Arial"/>
              </a:rPr>
              <a:t>across</a:t>
            </a:r>
            <a:r>
              <a:rPr sz="2300" spc="235" dirty="0">
                <a:solidFill>
                  <a:srgbClr val="44566D"/>
                </a:solidFill>
                <a:latin typeface="Arial"/>
                <a:cs typeface="Arial"/>
              </a:rPr>
              <a:t> </a:t>
            </a:r>
            <a:r>
              <a:rPr sz="2300" spc="-25" dirty="0">
                <a:solidFill>
                  <a:srgbClr val="44566D"/>
                </a:solidFill>
                <a:latin typeface="Arial"/>
                <a:cs typeface="Arial"/>
              </a:rPr>
              <a:t>all </a:t>
            </a:r>
            <a:r>
              <a:rPr sz="2300" dirty="0">
                <a:solidFill>
                  <a:srgbClr val="44566D"/>
                </a:solidFill>
                <a:latin typeface="Arial"/>
                <a:cs typeface="Arial"/>
              </a:rPr>
              <a:t>categories.</a:t>
            </a:r>
            <a:r>
              <a:rPr sz="2300" spc="295" dirty="0">
                <a:solidFill>
                  <a:srgbClr val="44566D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566D"/>
                </a:solidFill>
                <a:latin typeface="Arial"/>
                <a:cs typeface="Arial"/>
              </a:rPr>
              <a:t>High</a:t>
            </a:r>
            <a:r>
              <a:rPr sz="2300" spc="275" dirty="0">
                <a:solidFill>
                  <a:srgbClr val="44566D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566D"/>
                </a:solidFill>
                <a:latin typeface="Arial"/>
                <a:cs typeface="Arial"/>
              </a:rPr>
              <a:t>stability</a:t>
            </a:r>
            <a:r>
              <a:rPr sz="2300" spc="305" dirty="0">
                <a:solidFill>
                  <a:srgbClr val="44566D"/>
                </a:solidFill>
                <a:latin typeface="Arial"/>
                <a:cs typeface="Arial"/>
              </a:rPr>
              <a:t> </a:t>
            </a:r>
            <a:r>
              <a:rPr sz="2300" spc="55" dirty="0">
                <a:solidFill>
                  <a:srgbClr val="44566D"/>
                </a:solidFill>
                <a:latin typeface="Arial"/>
                <a:cs typeface="Arial"/>
              </a:rPr>
              <a:t>observed </a:t>
            </a:r>
            <a:r>
              <a:rPr sz="2300" spc="50" dirty="0">
                <a:solidFill>
                  <a:srgbClr val="44566D"/>
                </a:solidFill>
                <a:latin typeface="Arial"/>
                <a:cs typeface="Arial"/>
              </a:rPr>
              <a:t>in</a:t>
            </a:r>
            <a:r>
              <a:rPr sz="2300" spc="-40" dirty="0">
                <a:solidFill>
                  <a:srgbClr val="44566D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566D"/>
                </a:solidFill>
                <a:latin typeface="Arial"/>
                <a:cs typeface="Arial"/>
              </a:rPr>
              <a:t>baseline</a:t>
            </a:r>
            <a:r>
              <a:rPr sz="2300" spc="225" dirty="0">
                <a:solidFill>
                  <a:srgbClr val="44566D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566D"/>
                </a:solidFill>
                <a:latin typeface="Arial"/>
                <a:cs typeface="Arial"/>
              </a:rPr>
              <a:t>sales</a:t>
            </a:r>
            <a:r>
              <a:rPr sz="2300" spc="195" dirty="0">
                <a:solidFill>
                  <a:srgbClr val="44566D"/>
                </a:solidFill>
                <a:latin typeface="Arial"/>
                <a:cs typeface="Arial"/>
              </a:rPr>
              <a:t> </a:t>
            </a:r>
            <a:r>
              <a:rPr sz="2300" spc="55" dirty="0">
                <a:solidFill>
                  <a:srgbClr val="44566D"/>
                </a:solidFill>
                <a:latin typeface="Arial"/>
                <a:cs typeface="Arial"/>
              </a:rPr>
              <a:t>with</a:t>
            </a:r>
            <a:r>
              <a:rPr sz="2300" spc="20" dirty="0">
                <a:solidFill>
                  <a:srgbClr val="44566D"/>
                </a:solidFill>
                <a:latin typeface="Arial"/>
                <a:cs typeface="Arial"/>
              </a:rPr>
              <a:t> </a:t>
            </a:r>
            <a:r>
              <a:rPr sz="2300" spc="45" dirty="0">
                <a:solidFill>
                  <a:srgbClr val="44566D"/>
                </a:solidFill>
                <a:latin typeface="Arial"/>
                <a:cs typeface="Arial"/>
              </a:rPr>
              <a:t>consistent </a:t>
            </a:r>
            <a:r>
              <a:rPr sz="2300" spc="100" dirty="0">
                <a:solidFill>
                  <a:srgbClr val="44566D"/>
                </a:solidFill>
                <a:latin typeface="Arial"/>
                <a:cs typeface="Arial"/>
              </a:rPr>
              <a:t>month-</a:t>
            </a:r>
            <a:r>
              <a:rPr sz="2300" spc="90" dirty="0">
                <a:solidFill>
                  <a:srgbClr val="44566D"/>
                </a:solidFill>
                <a:latin typeface="Arial"/>
                <a:cs typeface="Arial"/>
              </a:rPr>
              <a:t>on-</a:t>
            </a:r>
            <a:r>
              <a:rPr sz="2300" spc="110" dirty="0">
                <a:solidFill>
                  <a:srgbClr val="44566D"/>
                </a:solidFill>
                <a:latin typeface="Arial"/>
                <a:cs typeface="Arial"/>
              </a:rPr>
              <a:t>month</a:t>
            </a:r>
            <a:r>
              <a:rPr sz="2300" spc="-140" dirty="0">
                <a:solidFill>
                  <a:srgbClr val="44566D"/>
                </a:solidFill>
                <a:latin typeface="Arial"/>
                <a:cs typeface="Arial"/>
              </a:rPr>
              <a:t> </a:t>
            </a:r>
            <a:r>
              <a:rPr sz="2300" spc="70" dirty="0">
                <a:solidFill>
                  <a:srgbClr val="44566D"/>
                </a:solidFill>
                <a:latin typeface="Arial"/>
                <a:cs typeface="Arial"/>
              </a:rPr>
              <a:t>growth.</a:t>
            </a:r>
            <a:endParaRPr sz="23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413870" y="8091917"/>
            <a:ext cx="16892905" cy="408305"/>
          </a:xfrm>
          <a:prstGeom prst="rect">
            <a:avLst/>
          </a:prstGeom>
          <a:solidFill>
            <a:srgbClr val="1A2334"/>
          </a:solidFill>
        </p:spPr>
        <p:txBody>
          <a:bodyPr vert="horz" wrap="square" lIns="0" tIns="1079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85"/>
              </a:spcBef>
            </a:pPr>
            <a:r>
              <a:rPr sz="2200" b="1" dirty="0">
                <a:solidFill>
                  <a:srgbClr val="DDE1DF"/>
                </a:solidFill>
                <a:latin typeface="Arial"/>
                <a:cs typeface="Arial"/>
              </a:rPr>
              <a:t>Strategic</a:t>
            </a:r>
            <a:r>
              <a:rPr sz="2200" b="1" spc="195" dirty="0">
                <a:solidFill>
                  <a:srgbClr val="DDE1D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DDE1DF"/>
                </a:solidFill>
                <a:latin typeface="Arial"/>
                <a:cs typeface="Arial"/>
              </a:rPr>
              <a:t>Insight:</a:t>
            </a:r>
            <a:r>
              <a:rPr sz="2200" b="1" spc="225" dirty="0">
                <a:solidFill>
                  <a:srgbClr val="DDE1DF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DDE1DF"/>
                </a:solidFill>
                <a:latin typeface="Arial"/>
                <a:cs typeface="Arial"/>
              </a:rPr>
              <a:t>The</a:t>
            </a:r>
            <a:r>
              <a:rPr sz="2300" spc="204" dirty="0">
                <a:solidFill>
                  <a:srgbClr val="DDE1DF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DDE1DF"/>
                </a:solidFill>
                <a:latin typeface="Arial"/>
                <a:cs typeface="Arial"/>
              </a:rPr>
              <a:t>data</a:t>
            </a:r>
            <a:r>
              <a:rPr sz="2300" spc="145" dirty="0">
                <a:solidFill>
                  <a:srgbClr val="DDE1DF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DDE1DF"/>
                </a:solidFill>
                <a:latin typeface="Arial"/>
                <a:cs typeface="Arial"/>
              </a:rPr>
              <a:t>lifecycle</a:t>
            </a:r>
            <a:r>
              <a:rPr sz="2300" spc="229" dirty="0">
                <a:solidFill>
                  <a:srgbClr val="DDE1DF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DDE1DF"/>
                </a:solidFill>
                <a:latin typeface="Arial"/>
                <a:cs typeface="Arial"/>
              </a:rPr>
              <a:t>transition</a:t>
            </a:r>
            <a:r>
              <a:rPr sz="2300" spc="200" dirty="0">
                <a:solidFill>
                  <a:srgbClr val="DDE1DF"/>
                </a:solidFill>
                <a:latin typeface="Arial"/>
                <a:cs typeface="Arial"/>
              </a:rPr>
              <a:t> </a:t>
            </a:r>
            <a:r>
              <a:rPr sz="2300" spc="100" dirty="0">
                <a:solidFill>
                  <a:srgbClr val="DDE1DF"/>
                </a:solidFill>
                <a:latin typeface="Arial"/>
                <a:cs typeface="Arial"/>
              </a:rPr>
              <a:t>from</a:t>
            </a:r>
            <a:r>
              <a:rPr sz="2300" spc="150" dirty="0">
                <a:solidFill>
                  <a:srgbClr val="DDE1DF"/>
                </a:solidFill>
                <a:latin typeface="Arial"/>
                <a:cs typeface="Arial"/>
              </a:rPr>
              <a:t> </a:t>
            </a:r>
            <a:r>
              <a:rPr sz="2300" spc="65" dirty="0">
                <a:solidFill>
                  <a:srgbClr val="DDE1DF"/>
                </a:solidFill>
                <a:latin typeface="Arial"/>
                <a:cs typeface="Arial"/>
              </a:rPr>
              <a:t>fragmented</a:t>
            </a:r>
            <a:r>
              <a:rPr sz="2300" spc="240" dirty="0">
                <a:solidFill>
                  <a:srgbClr val="DDE1DF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DDE1DF"/>
                </a:solidFill>
                <a:latin typeface="Arial"/>
                <a:cs typeface="Arial"/>
              </a:rPr>
              <a:t>raw</a:t>
            </a:r>
            <a:r>
              <a:rPr sz="2300" spc="315" dirty="0">
                <a:solidFill>
                  <a:srgbClr val="DDE1DF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DDE1DF"/>
                </a:solidFill>
                <a:latin typeface="Arial"/>
                <a:cs typeface="Arial"/>
              </a:rPr>
              <a:t>sources</a:t>
            </a:r>
            <a:r>
              <a:rPr sz="2300" spc="300" dirty="0">
                <a:solidFill>
                  <a:srgbClr val="DDE1DF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DDE1DF"/>
                </a:solidFill>
                <a:latin typeface="Arial"/>
                <a:cs typeface="Arial"/>
              </a:rPr>
              <a:t>to</a:t>
            </a:r>
            <a:r>
              <a:rPr sz="2300" spc="250" dirty="0">
                <a:solidFill>
                  <a:srgbClr val="DDE1DF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DDE1DF"/>
                </a:solidFill>
                <a:latin typeface="Arial"/>
                <a:cs typeface="Arial"/>
              </a:rPr>
              <a:t>a</a:t>
            </a:r>
            <a:r>
              <a:rPr sz="2300" spc="55" dirty="0">
                <a:solidFill>
                  <a:srgbClr val="DDE1DF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DDE1DF"/>
                </a:solidFill>
                <a:latin typeface="Arial"/>
                <a:cs typeface="Arial"/>
              </a:rPr>
              <a:t>cleaned,</a:t>
            </a:r>
            <a:r>
              <a:rPr sz="2300" spc="180" dirty="0">
                <a:solidFill>
                  <a:srgbClr val="DDE1DF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DDE1DF"/>
                </a:solidFill>
                <a:latin typeface="Arial"/>
                <a:cs typeface="Arial"/>
              </a:rPr>
              <a:t>actionable</a:t>
            </a:r>
            <a:r>
              <a:rPr sz="2300" spc="415" dirty="0">
                <a:solidFill>
                  <a:srgbClr val="DDE1DF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DDE1DF"/>
                </a:solidFill>
                <a:latin typeface="Arial"/>
                <a:cs typeface="Arial"/>
              </a:rPr>
              <a:t>dashboard</a:t>
            </a:r>
            <a:r>
              <a:rPr sz="2300" spc="254" dirty="0">
                <a:solidFill>
                  <a:srgbClr val="DDE1DF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DDE1DF"/>
                </a:solidFill>
                <a:latin typeface="Arial"/>
                <a:cs typeface="Arial"/>
              </a:rPr>
              <a:t>has</a:t>
            </a:r>
            <a:r>
              <a:rPr sz="2300" spc="200" dirty="0">
                <a:solidFill>
                  <a:srgbClr val="DDE1DF"/>
                </a:solidFill>
                <a:latin typeface="Arial"/>
                <a:cs typeface="Arial"/>
              </a:rPr>
              <a:t> </a:t>
            </a:r>
            <a:r>
              <a:rPr sz="2300" spc="-10" dirty="0">
                <a:solidFill>
                  <a:srgbClr val="DDE1DF"/>
                </a:solidFill>
                <a:latin typeface="Arial"/>
                <a:cs typeface="Arial"/>
              </a:rPr>
              <a:t>revealed</a:t>
            </a:r>
            <a:endParaRPr sz="23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412301" y="8548666"/>
            <a:ext cx="12223115" cy="397510"/>
          </a:xfrm>
          <a:custGeom>
            <a:avLst/>
            <a:gdLst/>
            <a:ahLst/>
            <a:cxnLst/>
            <a:rect l="l" t="t" r="r" b="b"/>
            <a:pathLst>
              <a:path w="12223115" h="397509">
                <a:moveTo>
                  <a:pt x="12222879" y="397509"/>
                </a:moveTo>
                <a:lnTo>
                  <a:pt x="0" y="397509"/>
                </a:lnTo>
                <a:lnTo>
                  <a:pt x="0" y="0"/>
                </a:lnTo>
                <a:lnTo>
                  <a:pt x="12222879" y="0"/>
                </a:lnTo>
                <a:lnTo>
                  <a:pt x="12222879" y="397509"/>
                </a:lnTo>
                <a:close/>
              </a:path>
            </a:pathLst>
          </a:custGeom>
          <a:solidFill>
            <a:srgbClr val="1A23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399602" y="8547488"/>
            <a:ext cx="12291695" cy="3752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300" dirty="0">
                <a:solidFill>
                  <a:srgbClr val="DDE1DF"/>
                </a:solidFill>
                <a:latin typeface="Arial"/>
                <a:cs typeface="Arial"/>
              </a:rPr>
              <a:t>high-margin</a:t>
            </a:r>
            <a:r>
              <a:rPr sz="2300" spc="340" dirty="0">
                <a:solidFill>
                  <a:srgbClr val="DDE1DF"/>
                </a:solidFill>
                <a:latin typeface="Arial"/>
                <a:cs typeface="Arial"/>
              </a:rPr>
              <a:t> </a:t>
            </a:r>
            <a:r>
              <a:rPr sz="2300" spc="50" dirty="0">
                <a:solidFill>
                  <a:srgbClr val="DDE1DF"/>
                </a:solidFill>
                <a:latin typeface="Arial"/>
                <a:cs typeface="Arial"/>
              </a:rPr>
              <a:t>opportunities</a:t>
            </a:r>
            <a:r>
              <a:rPr sz="2300" spc="350" dirty="0">
                <a:solidFill>
                  <a:srgbClr val="DDE1DF"/>
                </a:solidFill>
                <a:latin typeface="Arial"/>
                <a:cs typeface="Arial"/>
              </a:rPr>
              <a:t> </a:t>
            </a:r>
            <a:r>
              <a:rPr sz="2300" spc="50" dirty="0">
                <a:solidFill>
                  <a:srgbClr val="DDE1DF"/>
                </a:solidFill>
                <a:latin typeface="Arial"/>
                <a:cs typeface="Arial"/>
              </a:rPr>
              <a:t>in</a:t>
            </a:r>
            <a:r>
              <a:rPr sz="2300" spc="110" dirty="0">
                <a:solidFill>
                  <a:srgbClr val="DDE1DF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DDE1DF"/>
                </a:solidFill>
                <a:latin typeface="Arial"/>
                <a:cs typeface="Arial"/>
              </a:rPr>
              <a:t>Stationery</a:t>
            </a:r>
            <a:r>
              <a:rPr sz="2300" spc="270" dirty="0">
                <a:solidFill>
                  <a:srgbClr val="DDE1DF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DDE1DF"/>
                </a:solidFill>
                <a:latin typeface="Arial"/>
                <a:cs typeface="Arial"/>
              </a:rPr>
              <a:t>and</a:t>
            </a:r>
            <a:r>
              <a:rPr sz="2300" spc="125" dirty="0">
                <a:solidFill>
                  <a:srgbClr val="DDE1DF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DDE1DF"/>
                </a:solidFill>
                <a:latin typeface="Arial"/>
                <a:cs typeface="Arial"/>
              </a:rPr>
              <a:t>Electronics</a:t>
            </a:r>
            <a:r>
              <a:rPr sz="2300" spc="345" dirty="0">
                <a:solidFill>
                  <a:srgbClr val="DDE1DF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DDE1DF"/>
                </a:solidFill>
                <a:latin typeface="Arial"/>
                <a:cs typeface="Arial"/>
              </a:rPr>
              <a:t>previously</a:t>
            </a:r>
            <a:r>
              <a:rPr sz="2300" spc="365" dirty="0">
                <a:solidFill>
                  <a:srgbClr val="DDE1DF"/>
                </a:solidFill>
                <a:latin typeface="Arial"/>
                <a:cs typeface="Arial"/>
              </a:rPr>
              <a:t> </a:t>
            </a:r>
            <a:r>
              <a:rPr sz="2300" spc="65" dirty="0">
                <a:solidFill>
                  <a:srgbClr val="DDE1DF"/>
                </a:solidFill>
                <a:latin typeface="Arial"/>
                <a:cs typeface="Arial"/>
              </a:rPr>
              <a:t>obscured</a:t>
            </a:r>
            <a:r>
              <a:rPr sz="2300" spc="185" dirty="0">
                <a:solidFill>
                  <a:srgbClr val="DDE1DF"/>
                </a:solidFill>
                <a:latin typeface="Arial"/>
                <a:cs typeface="Arial"/>
              </a:rPr>
              <a:t> </a:t>
            </a:r>
            <a:r>
              <a:rPr sz="2300" spc="80" dirty="0">
                <a:solidFill>
                  <a:srgbClr val="DDE1DF"/>
                </a:solidFill>
                <a:latin typeface="Arial"/>
                <a:cs typeface="Arial"/>
              </a:rPr>
              <a:t>by</a:t>
            </a:r>
            <a:r>
              <a:rPr sz="2300" spc="105" dirty="0">
                <a:solidFill>
                  <a:srgbClr val="DDE1DF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DDE1DF"/>
                </a:solidFill>
                <a:latin typeface="Arial"/>
                <a:cs typeface="Arial"/>
              </a:rPr>
              <a:t>data</a:t>
            </a:r>
            <a:r>
              <a:rPr sz="2300" spc="140" dirty="0">
                <a:solidFill>
                  <a:srgbClr val="DDE1DF"/>
                </a:solidFill>
                <a:latin typeface="Arial"/>
                <a:cs typeface="Arial"/>
              </a:rPr>
              <a:t> </a:t>
            </a:r>
            <a:r>
              <a:rPr sz="2300" spc="45" dirty="0">
                <a:solidFill>
                  <a:srgbClr val="DDE1DF"/>
                </a:solidFill>
                <a:latin typeface="Arial"/>
                <a:cs typeface="Arial"/>
              </a:rPr>
              <a:t>noise.</a:t>
            </a:r>
            <a:endParaRPr sz="2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7259792" y="7418315"/>
            <a:ext cx="0" cy="1496695"/>
          </a:xfrm>
          <a:custGeom>
            <a:avLst/>
            <a:gdLst/>
            <a:ahLst/>
            <a:cxnLst/>
            <a:rect l="l" t="t" r="r" b="b"/>
            <a:pathLst>
              <a:path h="1496695">
                <a:moveTo>
                  <a:pt x="0" y="1496246"/>
                </a:moveTo>
                <a:lnTo>
                  <a:pt x="0" y="0"/>
                </a:lnTo>
              </a:path>
            </a:pathLst>
          </a:custGeom>
          <a:ln w="5505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259792" y="5622819"/>
            <a:ext cx="0" cy="1496695"/>
          </a:xfrm>
          <a:custGeom>
            <a:avLst/>
            <a:gdLst/>
            <a:ahLst/>
            <a:cxnLst/>
            <a:rect l="l" t="t" r="r" b="b"/>
            <a:pathLst>
              <a:path h="1496695">
                <a:moveTo>
                  <a:pt x="0" y="1496246"/>
                </a:moveTo>
                <a:lnTo>
                  <a:pt x="0" y="0"/>
                </a:lnTo>
              </a:path>
            </a:pathLst>
          </a:custGeom>
          <a:ln w="5505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394828" y="7418315"/>
            <a:ext cx="0" cy="1496695"/>
          </a:xfrm>
          <a:custGeom>
            <a:avLst/>
            <a:gdLst/>
            <a:ahLst/>
            <a:cxnLst/>
            <a:rect l="l" t="t" r="r" b="b"/>
            <a:pathLst>
              <a:path h="1496695">
                <a:moveTo>
                  <a:pt x="0" y="1496246"/>
                </a:moveTo>
                <a:lnTo>
                  <a:pt x="0" y="0"/>
                </a:lnTo>
              </a:path>
            </a:pathLst>
          </a:custGeom>
          <a:ln w="5505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394828" y="5622819"/>
            <a:ext cx="0" cy="1496695"/>
          </a:xfrm>
          <a:custGeom>
            <a:avLst/>
            <a:gdLst/>
            <a:ahLst/>
            <a:cxnLst/>
            <a:rect l="l" t="t" r="r" b="b"/>
            <a:pathLst>
              <a:path h="1496695">
                <a:moveTo>
                  <a:pt x="0" y="1496246"/>
                </a:moveTo>
                <a:lnTo>
                  <a:pt x="0" y="0"/>
                </a:lnTo>
              </a:path>
            </a:pathLst>
          </a:custGeom>
          <a:ln w="5505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1361737" y="948134"/>
            <a:ext cx="9444990" cy="163891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pc="210" dirty="0">
                <a:solidFill>
                  <a:srgbClr val="151D2D"/>
                </a:solidFill>
              </a:rPr>
              <a:t>DATA</a:t>
            </a:r>
            <a:r>
              <a:rPr spc="550" dirty="0">
                <a:solidFill>
                  <a:srgbClr val="151D2D"/>
                </a:solidFill>
              </a:rPr>
              <a:t> </a:t>
            </a:r>
            <a:r>
              <a:rPr spc="285" dirty="0">
                <a:solidFill>
                  <a:srgbClr val="151D2D"/>
                </a:solidFill>
              </a:rPr>
              <a:t>CLEANING</a:t>
            </a:r>
            <a:r>
              <a:rPr spc="565" dirty="0">
                <a:solidFill>
                  <a:srgbClr val="151D2D"/>
                </a:solidFill>
              </a:rPr>
              <a:t> </a:t>
            </a:r>
            <a:r>
              <a:rPr spc="320" dirty="0">
                <a:solidFill>
                  <a:srgbClr val="151D2D"/>
                </a:solidFill>
              </a:rPr>
              <a:t>&amp;</a:t>
            </a:r>
            <a:r>
              <a:rPr spc="465" dirty="0">
                <a:solidFill>
                  <a:srgbClr val="151D2D"/>
                </a:solidFill>
              </a:rPr>
              <a:t> </a:t>
            </a:r>
            <a:r>
              <a:rPr spc="200" dirty="0">
                <a:solidFill>
                  <a:srgbClr val="151D2D"/>
                </a:solidFill>
              </a:rPr>
              <a:t>TRANSFOR</a:t>
            </a:r>
            <a:r>
              <a:rPr lang="en-IN" spc="200" dirty="0">
                <a:solidFill>
                  <a:srgbClr val="151D2D"/>
                </a:solidFill>
              </a:rPr>
              <a:t>MATION</a:t>
            </a:r>
            <a:endParaRPr spc="200" dirty="0">
              <a:solidFill>
                <a:srgbClr val="151D2D"/>
              </a:solidFill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211843" y="3609877"/>
            <a:ext cx="3037205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00" b="1" spc="70" dirty="0">
                <a:solidFill>
                  <a:srgbClr val="151D2D"/>
                </a:solidFill>
                <a:latin typeface="Arial"/>
                <a:cs typeface="Arial"/>
              </a:rPr>
              <a:t>Normalization</a:t>
            </a:r>
            <a:r>
              <a:rPr sz="2100" b="1" spc="-100" dirty="0">
                <a:solidFill>
                  <a:srgbClr val="151D2D"/>
                </a:solidFill>
                <a:latin typeface="Arial"/>
                <a:cs typeface="Arial"/>
              </a:rPr>
              <a:t> </a:t>
            </a:r>
            <a:r>
              <a:rPr sz="2100" b="1" spc="-10" dirty="0">
                <a:solidFill>
                  <a:srgbClr val="151D2D"/>
                </a:solidFill>
                <a:latin typeface="Arial"/>
                <a:cs typeface="Arial"/>
              </a:rPr>
              <a:t>Protocol</a:t>
            </a:r>
            <a:endParaRPr sz="21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220314" y="4156400"/>
            <a:ext cx="10884535" cy="939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810">
              <a:lnSpc>
                <a:spcPct val="130300"/>
              </a:lnSpc>
              <a:spcBef>
                <a:spcPts val="100"/>
              </a:spcBef>
            </a:pPr>
            <a:r>
              <a:rPr sz="2300" dirty="0">
                <a:solidFill>
                  <a:srgbClr val="4D5B6E"/>
                </a:solidFill>
                <a:latin typeface="Arial"/>
                <a:cs typeface="Arial"/>
              </a:rPr>
              <a:t>To</a:t>
            </a:r>
            <a:r>
              <a:rPr sz="2300" spc="25" dirty="0">
                <a:solidFill>
                  <a:srgbClr val="4D5B6E"/>
                </a:solidFill>
                <a:latin typeface="Arial"/>
                <a:cs typeface="Arial"/>
              </a:rPr>
              <a:t> </a:t>
            </a:r>
            <a:r>
              <a:rPr sz="2300" spc="50" dirty="0">
                <a:solidFill>
                  <a:srgbClr val="4D5B6E"/>
                </a:solidFill>
                <a:latin typeface="Arial"/>
                <a:cs typeface="Arial"/>
              </a:rPr>
              <a:t>ensure</a:t>
            </a:r>
            <a:r>
              <a:rPr sz="2300" spc="195" dirty="0">
                <a:solidFill>
                  <a:srgbClr val="4D5B6E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D5B6E"/>
                </a:solidFill>
                <a:latin typeface="Arial"/>
                <a:cs typeface="Arial"/>
              </a:rPr>
              <a:t>dashboard</a:t>
            </a:r>
            <a:r>
              <a:rPr sz="2300" spc="180" dirty="0">
                <a:solidFill>
                  <a:srgbClr val="4D5B6E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D5B6E"/>
                </a:solidFill>
                <a:latin typeface="Arial"/>
                <a:cs typeface="Arial"/>
              </a:rPr>
              <a:t>accuracy,</a:t>
            </a:r>
            <a:r>
              <a:rPr sz="2300" spc="120" dirty="0">
                <a:solidFill>
                  <a:srgbClr val="4D5B6E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D5B6E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srgbClr val="4D5B6E"/>
                </a:solidFill>
                <a:latin typeface="Arial"/>
                <a:cs typeface="Arial"/>
              </a:rPr>
              <a:t> </a:t>
            </a:r>
            <a:r>
              <a:rPr sz="2300" spc="60" dirty="0">
                <a:solidFill>
                  <a:srgbClr val="4D5B6E"/>
                </a:solidFill>
                <a:latin typeface="Arial"/>
                <a:cs typeface="Arial"/>
              </a:rPr>
              <a:t>strict</a:t>
            </a:r>
            <a:r>
              <a:rPr sz="2300" spc="110" dirty="0">
                <a:solidFill>
                  <a:srgbClr val="4D5B6E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D5B6E"/>
                </a:solidFill>
                <a:latin typeface="Arial"/>
                <a:cs typeface="Arial"/>
              </a:rPr>
              <a:t>data</a:t>
            </a:r>
            <a:r>
              <a:rPr sz="2300" spc="55" dirty="0">
                <a:solidFill>
                  <a:srgbClr val="4D5B6E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D5B6E"/>
                </a:solidFill>
                <a:latin typeface="Arial"/>
                <a:cs typeface="Arial"/>
              </a:rPr>
              <a:t>cleaning</a:t>
            </a:r>
            <a:r>
              <a:rPr sz="2300" spc="185" dirty="0">
                <a:solidFill>
                  <a:srgbClr val="4D5B6E"/>
                </a:solidFill>
                <a:latin typeface="Arial"/>
                <a:cs typeface="Arial"/>
              </a:rPr>
              <a:t> </a:t>
            </a:r>
            <a:r>
              <a:rPr sz="2300" spc="65" dirty="0">
                <a:solidFill>
                  <a:srgbClr val="4D5B6E"/>
                </a:solidFill>
                <a:latin typeface="Arial"/>
                <a:cs typeface="Arial"/>
              </a:rPr>
              <a:t>protocol</a:t>
            </a:r>
            <a:r>
              <a:rPr sz="2300" spc="125" dirty="0">
                <a:solidFill>
                  <a:srgbClr val="4D5B6E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D5B6E"/>
                </a:solidFill>
                <a:latin typeface="Arial"/>
                <a:cs typeface="Arial"/>
              </a:rPr>
              <a:t>was</a:t>
            </a:r>
            <a:r>
              <a:rPr sz="2300" spc="145" dirty="0">
                <a:solidFill>
                  <a:srgbClr val="4D5B6E"/>
                </a:solidFill>
                <a:latin typeface="Arial"/>
                <a:cs typeface="Arial"/>
              </a:rPr>
              <a:t> </a:t>
            </a:r>
            <a:r>
              <a:rPr sz="2300" spc="-10" dirty="0">
                <a:solidFill>
                  <a:srgbClr val="4D5B6E"/>
                </a:solidFill>
                <a:latin typeface="Arial"/>
                <a:cs typeface="Arial"/>
              </a:rPr>
              <a:t>implemented, </a:t>
            </a:r>
            <a:r>
              <a:rPr sz="2300" spc="50" dirty="0">
                <a:solidFill>
                  <a:srgbClr val="4D5B6E"/>
                </a:solidFill>
                <a:latin typeface="Arial"/>
                <a:cs typeface="Arial"/>
              </a:rPr>
              <a:t>resulting</a:t>
            </a:r>
            <a:r>
              <a:rPr sz="2300" spc="-15" dirty="0">
                <a:solidFill>
                  <a:srgbClr val="4D5B6E"/>
                </a:solidFill>
                <a:latin typeface="Arial"/>
                <a:cs typeface="Arial"/>
              </a:rPr>
              <a:t> </a:t>
            </a:r>
            <a:r>
              <a:rPr sz="2300" spc="50" dirty="0">
                <a:solidFill>
                  <a:srgbClr val="4D5B6E"/>
                </a:solidFill>
                <a:latin typeface="Arial"/>
                <a:cs typeface="Arial"/>
              </a:rPr>
              <a:t>in</a:t>
            </a:r>
            <a:r>
              <a:rPr sz="2300" spc="45" dirty="0">
                <a:solidFill>
                  <a:srgbClr val="4D5B6E"/>
                </a:solidFill>
                <a:latin typeface="Arial"/>
                <a:cs typeface="Arial"/>
              </a:rPr>
              <a:t> </a:t>
            </a:r>
            <a:r>
              <a:rPr sz="2300" spc="-20" dirty="0">
                <a:solidFill>
                  <a:srgbClr val="4D5B6E"/>
                </a:solidFill>
                <a:latin typeface="Arial"/>
                <a:cs typeface="Arial"/>
              </a:rPr>
              <a:t>a</a:t>
            </a:r>
            <a:r>
              <a:rPr sz="2300" spc="-195" dirty="0">
                <a:solidFill>
                  <a:srgbClr val="4D5B6E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D5B6E"/>
                </a:solidFill>
                <a:latin typeface="Arial"/>
                <a:cs typeface="Arial"/>
              </a:rPr>
              <a:t>100%</a:t>
            </a:r>
            <a:r>
              <a:rPr sz="2300" spc="160" dirty="0">
                <a:solidFill>
                  <a:srgbClr val="4D5B6E"/>
                </a:solidFill>
                <a:latin typeface="Arial"/>
                <a:cs typeface="Arial"/>
              </a:rPr>
              <a:t> </a:t>
            </a:r>
            <a:r>
              <a:rPr sz="2300" spc="55" dirty="0">
                <a:solidFill>
                  <a:srgbClr val="4D5B6E"/>
                </a:solidFill>
                <a:latin typeface="Arial"/>
                <a:cs typeface="Arial"/>
              </a:rPr>
              <a:t>reduction</a:t>
            </a:r>
            <a:r>
              <a:rPr sz="2300" spc="105" dirty="0">
                <a:solidFill>
                  <a:srgbClr val="4D5B6E"/>
                </a:solidFill>
                <a:latin typeface="Arial"/>
                <a:cs typeface="Arial"/>
              </a:rPr>
              <a:t> </a:t>
            </a:r>
            <a:r>
              <a:rPr sz="2300" spc="50" dirty="0">
                <a:solidFill>
                  <a:srgbClr val="4D5B6E"/>
                </a:solidFill>
                <a:latin typeface="Arial"/>
                <a:cs typeface="Arial"/>
              </a:rPr>
              <a:t>in</a:t>
            </a:r>
            <a:r>
              <a:rPr sz="2300" spc="85" dirty="0">
                <a:solidFill>
                  <a:srgbClr val="4D5B6E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D5B6E"/>
                </a:solidFill>
                <a:latin typeface="Arial"/>
                <a:cs typeface="Arial"/>
              </a:rPr>
              <a:t>"Unknown</a:t>
            </a:r>
            <a:r>
              <a:rPr sz="2300" spc="165" dirty="0">
                <a:solidFill>
                  <a:srgbClr val="4D5B6E"/>
                </a:solidFill>
                <a:latin typeface="Arial"/>
                <a:cs typeface="Arial"/>
              </a:rPr>
              <a:t> </a:t>
            </a:r>
            <a:r>
              <a:rPr sz="2300" spc="60" dirty="0">
                <a:solidFill>
                  <a:srgbClr val="4D5B6E"/>
                </a:solidFill>
                <a:latin typeface="Arial"/>
                <a:cs typeface="Arial"/>
              </a:rPr>
              <a:t>User"</a:t>
            </a:r>
            <a:r>
              <a:rPr sz="2300" spc="100" dirty="0">
                <a:solidFill>
                  <a:srgbClr val="4D5B6E"/>
                </a:solidFill>
                <a:latin typeface="Arial"/>
                <a:cs typeface="Arial"/>
              </a:rPr>
              <a:t> </a:t>
            </a:r>
            <a:r>
              <a:rPr sz="2300" spc="-10" dirty="0">
                <a:solidFill>
                  <a:srgbClr val="4D5B6E"/>
                </a:solidFill>
                <a:latin typeface="Arial"/>
                <a:cs typeface="Arial"/>
              </a:rPr>
              <a:t>artifacts.</a:t>
            </a:r>
            <a:endParaRPr sz="23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520892" y="5625871"/>
            <a:ext cx="883919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00" b="1" spc="95" dirty="0">
                <a:solidFill>
                  <a:srgbClr val="070308"/>
                </a:solidFill>
                <a:latin typeface="Arial"/>
                <a:cs typeface="Arial"/>
              </a:rPr>
              <a:t>Step</a:t>
            </a:r>
            <a:r>
              <a:rPr sz="2100" b="1" spc="-65" dirty="0">
                <a:solidFill>
                  <a:srgbClr val="070308"/>
                </a:solidFill>
                <a:latin typeface="Arial"/>
                <a:cs typeface="Arial"/>
              </a:rPr>
              <a:t> </a:t>
            </a:r>
            <a:r>
              <a:rPr sz="2100" b="1" spc="50" dirty="0">
                <a:solidFill>
                  <a:srgbClr val="070308"/>
                </a:solidFill>
                <a:latin typeface="Arial"/>
                <a:cs typeface="Arial"/>
              </a:rPr>
              <a:t>1</a:t>
            </a:r>
            <a:endParaRPr sz="21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518001" y="6125931"/>
            <a:ext cx="5516880" cy="718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540">
              <a:lnSpc>
                <a:spcPct val="133700"/>
              </a:lnSpc>
              <a:spcBef>
                <a:spcPts val="100"/>
              </a:spcBef>
            </a:pPr>
            <a:r>
              <a:rPr sz="1700" dirty="0">
                <a:solidFill>
                  <a:srgbClr val="4D5B6E"/>
                </a:solidFill>
                <a:latin typeface="Arial"/>
                <a:cs typeface="Arial"/>
              </a:rPr>
              <a:t>Removal</a:t>
            </a:r>
            <a:r>
              <a:rPr sz="1700" spc="95" dirty="0">
                <a:solidFill>
                  <a:srgbClr val="4D5B6E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4D5B6E"/>
                </a:solidFill>
                <a:latin typeface="Arial"/>
                <a:cs typeface="Arial"/>
              </a:rPr>
              <a:t>of</a:t>
            </a:r>
            <a:r>
              <a:rPr sz="1700" spc="215" dirty="0">
                <a:solidFill>
                  <a:srgbClr val="4D5B6E"/>
                </a:solidFill>
                <a:latin typeface="Arial"/>
                <a:cs typeface="Arial"/>
              </a:rPr>
              <a:t> </a:t>
            </a:r>
            <a:r>
              <a:rPr sz="1700" spc="100" dirty="0">
                <a:solidFill>
                  <a:srgbClr val="4D5B6E"/>
                </a:solidFill>
                <a:latin typeface="Arial"/>
                <a:cs typeface="Arial"/>
              </a:rPr>
              <a:t>empty</a:t>
            </a:r>
            <a:r>
              <a:rPr sz="1700" spc="65" dirty="0">
                <a:solidFill>
                  <a:srgbClr val="4D5B6E"/>
                </a:solidFill>
                <a:latin typeface="Arial"/>
                <a:cs typeface="Arial"/>
              </a:rPr>
              <a:t> </a:t>
            </a:r>
            <a:r>
              <a:rPr sz="1700" spc="50" dirty="0">
                <a:solidFill>
                  <a:srgbClr val="4D5B6E"/>
                </a:solidFill>
                <a:latin typeface="Arial"/>
                <a:cs typeface="Arial"/>
              </a:rPr>
              <a:t>rows/columns</a:t>
            </a:r>
            <a:r>
              <a:rPr sz="1700" spc="235" dirty="0">
                <a:solidFill>
                  <a:srgbClr val="4D5B6E"/>
                </a:solidFill>
                <a:latin typeface="Arial"/>
                <a:cs typeface="Arial"/>
              </a:rPr>
              <a:t> </a:t>
            </a:r>
            <a:r>
              <a:rPr sz="1700" spc="60" dirty="0">
                <a:solidFill>
                  <a:srgbClr val="4D5B6E"/>
                </a:solidFill>
                <a:latin typeface="Arial"/>
                <a:cs typeface="Arial"/>
              </a:rPr>
              <a:t>and</a:t>
            </a:r>
            <a:r>
              <a:rPr sz="1700" spc="100" dirty="0">
                <a:solidFill>
                  <a:srgbClr val="4D5B6E"/>
                </a:solidFill>
                <a:latin typeface="Arial"/>
                <a:cs typeface="Arial"/>
              </a:rPr>
              <a:t> </a:t>
            </a:r>
            <a:r>
              <a:rPr sz="1700" spc="60" dirty="0">
                <a:solidFill>
                  <a:srgbClr val="4D5B6E"/>
                </a:solidFill>
                <a:latin typeface="Arial"/>
                <a:cs typeface="Arial"/>
              </a:rPr>
              <a:t>duplicate</a:t>
            </a:r>
            <a:r>
              <a:rPr sz="1700" spc="95" dirty="0">
                <a:solidFill>
                  <a:srgbClr val="4D5B6E"/>
                </a:solidFill>
                <a:latin typeface="Arial"/>
                <a:cs typeface="Arial"/>
              </a:rPr>
              <a:t> </a:t>
            </a:r>
            <a:r>
              <a:rPr sz="1700" spc="55" dirty="0">
                <a:solidFill>
                  <a:srgbClr val="4D5B6E"/>
                </a:solidFill>
                <a:latin typeface="Arial"/>
                <a:cs typeface="Arial"/>
              </a:rPr>
              <a:t>Order </a:t>
            </a:r>
            <a:r>
              <a:rPr sz="1700" spc="-20" dirty="0">
                <a:solidFill>
                  <a:srgbClr val="4D5B6E"/>
                </a:solidFill>
                <a:latin typeface="Arial"/>
                <a:cs typeface="Arial"/>
              </a:rPr>
              <a:t>IDs.</a:t>
            </a:r>
            <a:endParaRPr sz="17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520892" y="7421367"/>
            <a:ext cx="894715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00" b="1" spc="95" dirty="0">
                <a:solidFill>
                  <a:srgbClr val="070308"/>
                </a:solidFill>
                <a:latin typeface="Arial"/>
                <a:cs typeface="Arial"/>
              </a:rPr>
              <a:t>Step</a:t>
            </a:r>
            <a:r>
              <a:rPr sz="2100" b="1" spc="25" dirty="0">
                <a:solidFill>
                  <a:srgbClr val="070308"/>
                </a:solidFill>
                <a:latin typeface="Arial"/>
                <a:cs typeface="Arial"/>
              </a:rPr>
              <a:t> </a:t>
            </a:r>
            <a:r>
              <a:rPr sz="2100" b="1" spc="50" dirty="0">
                <a:solidFill>
                  <a:srgbClr val="070308"/>
                </a:solidFill>
                <a:latin typeface="Arial"/>
                <a:cs typeface="Arial"/>
              </a:rPr>
              <a:t>3</a:t>
            </a:r>
            <a:endParaRPr sz="21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519437" y="7921428"/>
            <a:ext cx="5215890" cy="718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604" marR="5080" indent="-2540">
              <a:lnSpc>
                <a:spcPct val="133700"/>
              </a:lnSpc>
              <a:spcBef>
                <a:spcPts val="100"/>
              </a:spcBef>
            </a:pPr>
            <a:r>
              <a:rPr sz="1700" dirty="0">
                <a:solidFill>
                  <a:srgbClr val="4D5B6E"/>
                </a:solidFill>
                <a:latin typeface="Arial"/>
                <a:cs typeface="Arial"/>
              </a:rPr>
              <a:t>Calculated</a:t>
            </a:r>
            <a:r>
              <a:rPr sz="1700" spc="375" dirty="0">
                <a:solidFill>
                  <a:srgbClr val="4D5B6E"/>
                </a:solidFill>
                <a:latin typeface="Arial"/>
                <a:cs typeface="Arial"/>
              </a:rPr>
              <a:t> </a:t>
            </a:r>
            <a:r>
              <a:rPr sz="1700" spc="50" dirty="0">
                <a:solidFill>
                  <a:srgbClr val="4D5B6E"/>
                </a:solidFill>
                <a:latin typeface="Arial"/>
                <a:cs typeface="Arial"/>
              </a:rPr>
              <a:t>field</a:t>
            </a:r>
            <a:r>
              <a:rPr sz="1700" spc="254" dirty="0">
                <a:solidFill>
                  <a:srgbClr val="4D5B6E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4D5B6E"/>
                </a:solidFill>
                <a:latin typeface="Arial"/>
                <a:cs typeface="Arial"/>
              </a:rPr>
              <a:t>generation</a:t>
            </a:r>
            <a:r>
              <a:rPr sz="1700" spc="229" dirty="0">
                <a:solidFill>
                  <a:srgbClr val="4D5B6E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4D5B6E"/>
                </a:solidFill>
                <a:latin typeface="Arial"/>
                <a:cs typeface="Arial"/>
              </a:rPr>
              <a:t>for</a:t>
            </a:r>
            <a:r>
              <a:rPr sz="1700" spc="330" dirty="0">
                <a:solidFill>
                  <a:srgbClr val="4D5B6E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4D5B6E"/>
                </a:solidFill>
                <a:latin typeface="Arial"/>
                <a:cs typeface="Arial"/>
              </a:rPr>
              <a:t>Revenue,</a:t>
            </a:r>
            <a:r>
              <a:rPr sz="1700" spc="240" dirty="0">
                <a:solidFill>
                  <a:srgbClr val="4D5B6E"/>
                </a:solidFill>
                <a:latin typeface="Arial"/>
                <a:cs typeface="Arial"/>
              </a:rPr>
              <a:t> </a:t>
            </a:r>
            <a:r>
              <a:rPr sz="1700" spc="50" dirty="0">
                <a:solidFill>
                  <a:srgbClr val="4D5B6E"/>
                </a:solidFill>
                <a:latin typeface="Arial"/>
                <a:cs typeface="Arial"/>
              </a:rPr>
              <a:t>Cost,</a:t>
            </a:r>
            <a:r>
              <a:rPr sz="1700" spc="80" dirty="0">
                <a:solidFill>
                  <a:srgbClr val="4D5B6E"/>
                </a:solidFill>
                <a:latin typeface="Arial"/>
                <a:cs typeface="Arial"/>
              </a:rPr>
              <a:t> </a:t>
            </a:r>
            <a:r>
              <a:rPr sz="1700" spc="55" dirty="0">
                <a:solidFill>
                  <a:srgbClr val="4D5B6E"/>
                </a:solidFill>
                <a:latin typeface="Arial"/>
                <a:cs typeface="Arial"/>
              </a:rPr>
              <a:t>and </a:t>
            </a:r>
            <a:r>
              <a:rPr sz="1700" dirty="0">
                <a:solidFill>
                  <a:srgbClr val="4D5B6E"/>
                </a:solidFill>
                <a:latin typeface="Arial"/>
                <a:cs typeface="Arial"/>
              </a:rPr>
              <a:t>Profit</a:t>
            </a:r>
            <a:r>
              <a:rPr sz="1700" spc="315" dirty="0">
                <a:solidFill>
                  <a:srgbClr val="4D5B6E"/>
                </a:solidFill>
                <a:latin typeface="Arial"/>
                <a:cs typeface="Arial"/>
              </a:rPr>
              <a:t> </a:t>
            </a:r>
            <a:r>
              <a:rPr sz="1700" spc="40" dirty="0">
                <a:solidFill>
                  <a:srgbClr val="4D5B6E"/>
                </a:solidFill>
                <a:latin typeface="Arial"/>
                <a:cs typeface="Arial"/>
              </a:rPr>
              <a:t>margins.</a:t>
            </a:r>
            <a:endParaRPr sz="17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655927" y="5625871"/>
            <a:ext cx="906144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00" b="1" spc="95" dirty="0">
                <a:solidFill>
                  <a:srgbClr val="070308"/>
                </a:solidFill>
                <a:latin typeface="Arial"/>
                <a:cs typeface="Arial"/>
              </a:rPr>
              <a:t>Step</a:t>
            </a:r>
            <a:r>
              <a:rPr sz="2100" b="1" spc="114" dirty="0">
                <a:solidFill>
                  <a:srgbClr val="070308"/>
                </a:solidFill>
                <a:latin typeface="Arial"/>
                <a:cs typeface="Arial"/>
              </a:rPr>
              <a:t> </a:t>
            </a:r>
            <a:r>
              <a:rPr sz="2100" b="1" spc="50" dirty="0">
                <a:solidFill>
                  <a:srgbClr val="070308"/>
                </a:solidFill>
                <a:latin typeface="Arial"/>
                <a:cs typeface="Arial"/>
              </a:rPr>
              <a:t>2</a:t>
            </a:r>
            <a:endParaRPr sz="21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651011" y="6125931"/>
            <a:ext cx="5300980" cy="718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810">
              <a:lnSpc>
                <a:spcPct val="133700"/>
              </a:lnSpc>
              <a:spcBef>
                <a:spcPts val="100"/>
              </a:spcBef>
            </a:pPr>
            <a:r>
              <a:rPr sz="1700" spc="65" dirty="0">
                <a:solidFill>
                  <a:srgbClr val="4D5B6E"/>
                </a:solidFill>
                <a:latin typeface="Arial"/>
                <a:cs typeface="Arial"/>
              </a:rPr>
              <a:t>Standardization</a:t>
            </a:r>
            <a:r>
              <a:rPr sz="1700" spc="-80" dirty="0">
                <a:solidFill>
                  <a:srgbClr val="4D5B6E"/>
                </a:solidFill>
                <a:latin typeface="Arial"/>
                <a:cs typeface="Arial"/>
              </a:rPr>
              <a:t> </a:t>
            </a:r>
            <a:r>
              <a:rPr sz="1700" spc="60" dirty="0">
                <a:solidFill>
                  <a:srgbClr val="4D5B6E"/>
                </a:solidFill>
                <a:latin typeface="Arial"/>
                <a:cs typeface="Arial"/>
              </a:rPr>
              <a:t>of</a:t>
            </a:r>
            <a:r>
              <a:rPr sz="1700" spc="35" dirty="0">
                <a:solidFill>
                  <a:srgbClr val="4D5B6E"/>
                </a:solidFill>
                <a:latin typeface="Arial"/>
                <a:cs typeface="Arial"/>
              </a:rPr>
              <a:t> </a:t>
            </a:r>
            <a:r>
              <a:rPr sz="1700" spc="90" dirty="0">
                <a:solidFill>
                  <a:srgbClr val="4D5B6E"/>
                </a:solidFill>
                <a:latin typeface="Arial"/>
                <a:cs typeface="Arial"/>
              </a:rPr>
              <a:t>product</a:t>
            </a:r>
            <a:r>
              <a:rPr sz="1700" spc="114" dirty="0">
                <a:solidFill>
                  <a:srgbClr val="4D5B6E"/>
                </a:solidFill>
                <a:latin typeface="Arial"/>
                <a:cs typeface="Arial"/>
              </a:rPr>
              <a:t> </a:t>
            </a:r>
            <a:r>
              <a:rPr sz="1700" spc="60" dirty="0">
                <a:solidFill>
                  <a:srgbClr val="4D5B6E"/>
                </a:solidFill>
                <a:latin typeface="Arial"/>
                <a:cs typeface="Arial"/>
              </a:rPr>
              <a:t>categories</a:t>
            </a:r>
            <a:r>
              <a:rPr sz="1700" spc="25" dirty="0">
                <a:solidFill>
                  <a:srgbClr val="4D5B6E"/>
                </a:solidFill>
                <a:latin typeface="Arial"/>
                <a:cs typeface="Arial"/>
              </a:rPr>
              <a:t> </a:t>
            </a:r>
            <a:r>
              <a:rPr sz="1700" spc="60" dirty="0">
                <a:solidFill>
                  <a:srgbClr val="4D5B6E"/>
                </a:solidFill>
                <a:latin typeface="Arial"/>
                <a:cs typeface="Arial"/>
              </a:rPr>
              <a:t>and</a:t>
            </a:r>
            <a:r>
              <a:rPr sz="1700" spc="80" dirty="0">
                <a:solidFill>
                  <a:srgbClr val="4D5B6E"/>
                </a:solidFill>
                <a:latin typeface="Arial"/>
                <a:cs typeface="Arial"/>
              </a:rPr>
              <a:t> </a:t>
            </a:r>
            <a:r>
              <a:rPr sz="1700" spc="-10" dirty="0">
                <a:solidFill>
                  <a:srgbClr val="4D5B6E"/>
                </a:solidFill>
                <a:latin typeface="Arial"/>
                <a:cs typeface="Arial"/>
              </a:rPr>
              <a:t>regional identifiers.</a:t>
            </a:r>
            <a:endParaRPr sz="17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3655927" y="7421367"/>
            <a:ext cx="899794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00" b="1" spc="95" dirty="0">
                <a:solidFill>
                  <a:srgbClr val="070308"/>
                </a:solidFill>
                <a:latin typeface="Arial"/>
                <a:cs typeface="Arial"/>
              </a:rPr>
              <a:t>Step</a:t>
            </a:r>
            <a:r>
              <a:rPr sz="2100" b="1" spc="65" dirty="0">
                <a:solidFill>
                  <a:srgbClr val="070308"/>
                </a:solidFill>
                <a:latin typeface="Arial"/>
                <a:cs typeface="Arial"/>
              </a:rPr>
              <a:t> </a:t>
            </a:r>
            <a:r>
              <a:rPr sz="2100" b="1" spc="50" dirty="0">
                <a:solidFill>
                  <a:srgbClr val="070308"/>
                </a:solidFill>
                <a:latin typeface="Arial"/>
                <a:cs typeface="Arial"/>
              </a:rPr>
              <a:t>4</a:t>
            </a:r>
            <a:endParaRPr sz="21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3664339" y="8008053"/>
            <a:ext cx="511492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dirty="0">
                <a:solidFill>
                  <a:srgbClr val="4D5B6E"/>
                </a:solidFill>
                <a:latin typeface="Arial"/>
                <a:cs typeface="Arial"/>
              </a:rPr>
              <a:t>Validation</a:t>
            </a:r>
            <a:r>
              <a:rPr sz="1700" spc="155" dirty="0">
                <a:solidFill>
                  <a:srgbClr val="4D5B6E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4D5B6E"/>
                </a:solidFill>
                <a:latin typeface="Arial"/>
                <a:cs typeface="Arial"/>
              </a:rPr>
              <a:t>of</a:t>
            </a:r>
            <a:r>
              <a:rPr sz="1700" spc="229" dirty="0">
                <a:solidFill>
                  <a:srgbClr val="4D5B6E"/>
                </a:solidFill>
                <a:latin typeface="Arial"/>
                <a:cs typeface="Arial"/>
              </a:rPr>
              <a:t> </a:t>
            </a:r>
            <a:r>
              <a:rPr sz="1700" spc="80" dirty="0">
                <a:solidFill>
                  <a:srgbClr val="4D5B6E"/>
                </a:solidFill>
                <a:latin typeface="Arial"/>
                <a:cs typeface="Arial"/>
              </a:rPr>
              <a:t>target</a:t>
            </a:r>
            <a:r>
              <a:rPr sz="1700" spc="185" dirty="0">
                <a:solidFill>
                  <a:srgbClr val="4D5B6E"/>
                </a:solidFill>
                <a:latin typeface="Arial"/>
                <a:cs typeface="Arial"/>
              </a:rPr>
              <a:t> </a:t>
            </a:r>
            <a:r>
              <a:rPr sz="1700" spc="90" dirty="0">
                <a:solidFill>
                  <a:srgbClr val="4D5B6E"/>
                </a:solidFill>
                <a:latin typeface="Arial"/>
                <a:cs typeface="Arial"/>
              </a:rPr>
              <a:t>vs.</a:t>
            </a:r>
            <a:r>
              <a:rPr sz="1700" spc="30" dirty="0">
                <a:solidFill>
                  <a:srgbClr val="4D5B6E"/>
                </a:solidFill>
                <a:latin typeface="Arial"/>
                <a:cs typeface="Arial"/>
              </a:rPr>
              <a:t> </a:t>
            </a:r>
            <a:r>
              <a:rPr sz="1700" spc="60" dirty="0">
                <a:solidFill>
                  <a:srgbClr val="4D5B6E"/>
                </a:solidFill>
                <a:latin typeface="Arial"/>
                <a:cs typeface="Arial"/>
              </a:rPr>
              <a:t>actual</a:t>
            </a:r>
            <a:r>
              <a:rPr sz="1700" spc="75" dirty="0">
                <a:solidFill>
                  <a:srgbClr val="4D5B6E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4D5B6E"/>
                </a:solidFill>
                <a:latin typeface="Arial"/>
                <a:cs typeface="Arial"/>
              </a:rPr>
              <a:t>achievement</a:t>
            </a:r>
            <a:r>
              <a:rPr sz="1700" spc="409" dirty="0">
                <a:solidFill>
                  <a:srgbClr val="4D5B6E"/>
                </a:solidFill>
                <a:latin typeface="Arial"/>
                <a:cs typeface="Arial"/>
              </a:rPr>
              <a:t> </a:t>
            </a:r>
            <a:r>
              <a:rPr sz="1700" spc="-10" dirty="0">
                <a:solidFill>
                  <a:srgbClr val="4D5B6E"/>
                </a:solidFill>
                <a:latin typeface="Arial"/>
                <a:cs typeface="Arial"/>
              </a:rPr>
              <a:t>ratios.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036296" y="0"/>
            <a:ext cx="10067925" cy="11277600"/>
            <a:chOff x="10036296" y="0"/>
            <a:chExt cx="10067925" cy="112776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036296" y="315084"/>
              <a:ext cx="10067803" cy="1096197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0059886" y="0"/>
              <a:ext cx="15875" cy="315595"/>
            </a:xfrm>
            <a:custGeom>
              <a:avLst/>
              <a:gdLst/>
              <a:ahLst/>
              <a:cxnLst/>
              <a:rect l="l" t="t" r="r" b="b"/>
              <a:pathLst>
                <a:path w="15875" h="315595">
                  <a:moveTo>
                    <a:pt x="15730" y="315083"/>
                  </a:moveTo>
                  <a:lnTo>
                    <a:pt x="0" y="315083"/>
                  </a:lnTo>
                  <a:lnTo>
                    <a:pt x="0" y="0"/>
                  </a:lnTo>
                  <a:lnTo>
                    <a:pt x="15730" y="0"/>
                  </a:lnTo>
                  <a:lnTo>
                    <a:pt x="15730" y="3150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7973116" y="4748946"/>
              <a:ext cx="180975" cy="135890"/>
            </a:xfrm>
            <a:custGeom>
              <a:avLst/>
              <a:gdLst/>
              <a:ahLst/>
              <a:cxnLst/>
              <a:rect l="l" t="t" r="r" b="b"/>
              <a:pathLst>
                <a:path w="180975" h="135889">
                  <a:moveTo>
                    <a:pt x="180904" y="135366"/>
                  </a:moveTo>
                  <a:lnTo>
                    <a:pt x="0" y="135366"/>
                  </a:lnTo>
                  <a:lnTo>
                    <a:pt x="0" y="0"/>
                  </a:lnTo>
                  <a:lnTo>
                    <a:pt x="180904" y="0"/>
                  </a:lnTo>
                  <a:lnTo>
                    <a:pt x="180904" y="135366"/>
                  </a:lnTo>
                  <a:close/>
                </a:path>
              </a:pathLst>
            </a:custGeom>
            <a:solidFill>
              <a:srgbClr val="E4E8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921272" y="1817534"/>
            <a:ext cx="7670800" cy="16850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0955" algn="ctr">
              <a:lnSpc>
                <a:spcPct val="118400"/>
              </a:lnSpc>
              <a:spcBef>
                <a:spcPts val="100"/>
              </a:spcBef>
              <a:tabLst>
                <a:tab pos="4580890" algn="l"/>
              </a:tabLst>
            </a:pPr>
            <a:r>
              <a:rPr sz="4800" spc="170" dirty="0">
                <a:solidFill>
                  <a:srgbClr val="0C1A28"/>
                </a:solidFill>
              </a:rPr>
              <a:t>THE</a:t>
            </a:r>
            <a:r>
              <a:rPr sz="4800" spc="360" dirty="0">
                <a:solidFill>
                  <a:srgbClr val="0C1A28"/>
                </a:solidFill>
              </a:rPr>
              <a:t> </a:t>
            </a:r>
            <a:r>
              <a:rPr sz="4800" spc="195" dirty="0">
                <a:solidFill>
                  <a:srgbClr val="0C1A28"/>
                </a:solidFill>
              </a:rPr>
              <a:t>CENTRA</a:t>
            </a:r>
            <a:r>
              <a:rPr lang="en-IN" sz="4800" spc="195" dirty="0">
                <a:solidFill>
                  <a:srgbClr val="0C1A28"/>
                </a:solidFill>
              </a:rPr>
              <a:t>LIZED DASHBOARD</a:t>
            </a:r>
            <a:endParaRPr sz="4800" spc="204" dirty="0">
              <a:solidFill>
                <a:srgbClr val="0C1A28"/>
              </a:solidFill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27376" y="4156400"/>
            <a:ext cx="7857490" cy="13957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5080">
              <a:lnSpc>
                <a:spcPct val="130300"/>
              </a:lnSpc>
              <a:spcBef>
                <a:spcPts val="100"/>
              </a:spcBef>
            </a:pPr>
            <a:r>
              <a:rPr sz="2300" dirty="0">
                <a:solidFill>
                  <a:srgbClr val="44566E"/>
                </a:solidFill>
                <a:latin typeface="Arial"/>
                <a:cs typeface="Arial"/>
              </a:rPr>
              <a:t>Our</a:t>
            </a:r>
            <a:r>
              <a:rPr sz="2300" spc="155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566E"/>
                </a:solidFill>
                <a:latin typeface="Arial"/>
                <a:cs typeface="Arial"/>
              </a:rPr>
              <a:t>interactive</a:t>
            </a:r>
            <a:r>
              <a:rPr sz="2300" spc="305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300" spc="70" dirty="0">
                <a:solidFill>
                  <a:srgbClr val="44566E"/>
                </a:solidFill>
                <a:latin typeface="Arial"/>
                <a:cs typeface="Arial"/>
              </a:rPr>
              <a:t>hub</a:t>
            </a:r>
            <a:r>
              <a:rPr sz="2300" spc="175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566E"/>
                </a:solidFill>
                <a:latin typeface="Arial"/>
                <a:cs typeface="Arial"/>
              </a:rPr>
              <a:t>serves</a:t>
            </a:r>
            <a:r>
              <a:rPr sz="2300" spc="260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566E"/>
                </a:solidFill>
                <a:latin typeface="Arial"/>
                <a:cs typeface="Arial"/>
              </a:rPr>
              <a:t>as</a:t>
            </a:r>
            <a:r>
              <a:rPr sz="2300" spc="135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300" spc="70" dirty="0">
                <a:solidFill>
                  <a:srgbClr val="44566E"/>
                </a:solidFill>
                <a:latin typeface="Arial"/>
                <a:cs typeface="Arial"/>
              </a:rPr>
              <a:t>the</a:t>
            </a:r>
            <a:r>
              <a:rPr sz="2300" spc="130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566E"/>
                </a:solidFill>
                <a:latin typeface="Arial"/>
                <a:cs typeface="Arial"/>
              </a:rPr>
              <a:t>primary</a:t>
            </a:r>
            <a:r>
              <a:rPr sz="2300" spc="140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300" spc="-10" dirty="0">
                <a:solidFill>
                  <a:srgbClr val="44566E"/>
                </a:solidFill>
                <a:latin typeface="Arial"/>
                <a:cs typeface="Arial"/>
              </a:rPr>
              <a:t>intelligence </a:t>
            </a:r>
            <a:r>
              <a:rPr sz="2300" spc="60" dirty="0">
                <a:solidFill>
                  <a:srgbClr val="44566E"/>
                </a:solidFill>
                <a:latin typeface="Arial"/>
                <a:cs typeface="Arial"/>
              </a:rPr>
              <a:t>center</a:t>
            </a:r>
            <a:r>
              <a:rPr sz="2300" spc="235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300" spc="70" dirty="0">
                <a:solidFill>
                  <a:srgbClr val="44566E"/>
                </a:solidFill>
                <a:latin typeface="Arial"/>
                <a:cs typeface="Arial"/>
              </a:rPr>
              <a:t>for</a:t>
            </a:r>
            <a:r>
              <a:rPr sz="2300" spc="150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566E"/>
                </a:solidFill>
                <a:latin typeface="Arial"/>
                <a:cs typeface="Arial"/>
              </a:rPr>
              <a:t>management,</a:t>
            </a:r>
            <a:r>
              <a:rPr sz="2300" spc="330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566E"/>
                </a:solidFill>
                <a:latin typeface="Arial"/>
                <a:cs typeface="Arial"/>
              </a:rPr>
              <a:t>allowing</a:t>
            </a:r>
            <a:r>
              <a:rPr sz="2300" spc="160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300" spc="70" dirty="0">
                <a:solidFill>
                  <a:srgbClr val="44566E"/>
                </a:solidFill>
                <a:latin typeface="Arial"/>
                <a:cs typeface="Arial"/>
              </a:rPr>
              <a:t>for</a:t>
            </a:r>
            <a:r>
              <a:rPr sz="2300" spc="160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566E"/>
                </a:solidFill>
                <a:latin typeface="Arial"/>
                <a:cs typeface="Arial"/>
              </a:rPr>
              <a:t>granular</a:t>
            </a:r>
            <a:r>
              <a:rPr sz="2300" spc="345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566E"/>
                </a:solidFill>
                <a:latin typeface="Arial"/>
                <a:cs typeface="Arial"/>
              </a:rPr>
              <a:t>slicer-</a:t>
            </a:r>
            <a:r>
              <a:rPr sz="2300" spc="-10" dirty="0">
                <a:solidFill>
                  <a:srgbClr val="44566E"/>
                </a:solidFill>
                <a:latin typeface="Arial"/>
                <a:cs typeface="Arial"/>
              </a:rPr>
              <a:t>based </a:t>
            </a:r>
            <a:r>
              <a:rPr sz="2300" spc="60" dirty="0">
                <a:solidFill>
                  <a:srgbClr val="44566E"/>
                </a:solidFill>
                <a:latin typeface="Arial"/>
                <a:cs typeface="Arial"/>
              </a:rPr>
              <a:t>filtering</a:t>
            </a:r>
            <a:r>
              <a:rPr sz="2300" spc="55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566E"/>
                </a:solidFill>
                <a:latin typeface="Arial"/>
                <a:cs typeface="Arial"/>
              </a:rPr>
              <a:t>across</a:t>
            </a:r>
            <a:r>
              <a:rPr sz="2300" spc="195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566E"/>
                </a:solidFill>
                <a:latin typeface="Arial"/>
                <a:cs typeface="Arial"/>
              </a:rPr>
              <a:t>Regions</a:t>
            </a:r>
            <a:r>
              <a:rPr sz="2300" spc="200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566E"/>
                </a:solidFill>
                <a:latin typeface="Arial"/>
                <a:cs typeface="Arial"/>
              </a:rPr>
              <a:t>and</a:t>
            </a:r>
            <a:r>
              <a:rPr sz="2300" spc="5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300" spc="50" dirty="0">
                <a:solidFill>
                  <a:srgbClr val="44566E"/>
                </a:solidFill>
                <a:latin typeface="Arial"/>
                <a:cs typeface="Arial"/>
              </a:rPr>
              <a:t>Product</a:t>
            </a:r>
            <a:r>
              <a:rPr sz="2300" spc="195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300" spc="-10" dirty="0">
                <a:solidFill>
                  <a:srgbClr val="44566E"/>
                </a:solidFill>
                <a:latin typeface="Arial"/>
                <a:cs typeface="Arial"/>
              </a:rPr>
              <a:t>Categories.</a:t>
            </a:r>
            <a:endParaRPr sz="230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54775" y="6389744"/>
            <a:ext cx="7819390" cy="3752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3690" indent="-30099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13690" algn="l"/>
              </a:tabLst>
            </a:pPr>
            <a:r>
              <a:rPr sz="2150" b="1" dirty="0">
                <a:solidFill>
                  <a:srgbClr val="44566E"/>
                </a:solidFill>
                <a:latin typeface="Arial"/>
                <a:cs typeface="Arial"/>
              </a:rPr>
              <a:t>Real-</a:t>
            </a:r>
            <a:r>
              <a:rPr sz="2150" b="1" spc="50" dirty="0">
                <a:solidFill>
                  <a:srgbClr val="44566E"/>
                </a:solidFill>
                <a:latin typeface="Arial"/>
                <a:cs typeface="Arial"/>
              </a:rPr>
              <a:t>time</a:t>
            </a:r>
            <a:r>
              <a:rPr lang="en-IN" sz="2150" b="1" spc="325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150" b="1" dirty="0">
                <a:solidFill>
                  <a:srgbClr val="44566E"/>
                </a:solidFill>
                <a:latin typeface="Arial"/>
                <a:cs typeface="Arial"/>
              </a:rPr>
              <a:t>Tracking:</a:t>
            </a:r>
            <a:r>
              <a:rPr sz="2150" b="1" spc="185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566E"/>
                </a:solidFill>
                <a:latin typeface="Arial"/>
                <a:cs typeface="Arial"/>
              </a:rPr>
              <a:t>Instant</a:t>
            </a:r>
            <a:r>
              <a:rPr sz="2300" spc="280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566E"/>
                </a:solidFill>
                <a:latin typeface="Arial"/>
                <a:cs typeface="Arial"/>
              </a:rPr>
              <a:t>visibility</a:t>
            </a:r>
            <a:r>
              <a:rPr sz="2300" spc="225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300" spc="50" dirty="0">
                <a:solidFill>
                  <a:srgbClr val="44566E"/>
                </a:solidFill>
                <a:latin typeface="Arial"/>
                <a:cs typeface="Arial"/>
              </a:rPr>
              <a:t>into</a:t>
            </a:r>
            <a:r>
              <a:rPr sz="2300" spc="100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300" spc="70" dirty="0">
                <a:solidFill>
                  <a:srgbClr val="44566E"/>
                </a:solidFill>
                <a:latin typeface="Arial"/>
                <a:cs typeface="Arial"/>
              </a:rPr>
              <a:t>the</a:t>
            </a:r>
            <a:r>
              <a:rPr sz="2300" spc="220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300" spc="-10" dirty="0">
                <a:solidFill>
                  <a:srgbClr val="44566E"/>
                </a:solidFill>
                <a:latin typeface="Arial"/>
                <a:cs typeface="Arial"/>
              </a:rPr>
              <a:t>$98.7K</a:t>
            </a:r>
            <a:endParaRPr sz="2300" dirty="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62640" y="6755143"/>
            <a:ext cx="7101840" cy="227774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306705">
              <a:lnSpc>
                <a:spcPct val="100000"/>
              </a:lnSpc>
              <a:spcBef>
                <a:spcPts val="810"/>
              </a:spcBef>
            </a:pPr>
            <a:r>
              <a:rPr sz="2300" spc="50" dirty="0">
                <a:solidFill>
                  <a:srgbClr val="44566E"/>
                </a:solidFill>
                <a:latin typeface="Arial"/>
                <a:cs typeface="Arial"/>
              </a:rPr>
              <a:t>revenue</a:t>
            </a:r>
            <a:r>
              <a:rPr sz="2300" spc="150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300" spc="-10" dirty="0">
                <a:solidFill>
                  <a:srgbClr val="44566E"/>
                </a:solidFill>
                <a:latin typeface="Arial"/>
                <a:cs typeface="Arial"/>
              </a:rPr>
              <a:t>milestone.</a:t>
            </a:r>
            <a:endParaRPr sz="2300">
              <a:latin typeface="Arial"/>
              <a:cs typeface="Arial"/>
            </a:endParaRPr>
          </a:p>
          <a:p>
            <a:pPr marL="303530" marR="5080" indent="-291465">
              <a:lnSpc>
                <a:spcPts val="3600"/>
              </a:lnSpc>
              <a:spcBef>
                <a:spcPts val="135"/>
              </a:spcBef>
              <a:buChar char="•"/>
              <a:tabLst>
                <a:tab pos="303530" algn="l"/>
                <a:tab pos="305435" algn="l"/>
              </a:tabLst>
            </a:pPr>
            <a:r>
              <a:rPr sz="2150" dirty="0">
                <a:solidFill>
                  <a:srgbClr val="44566E"/>
                </a:solidFill>
                <a:latin typeface="Arial"/>
                <a:cs typeface="Arial"/>
              </a:rPr>
              <a:t>	</a:t>
            </a:r>
            <a:r>
              <a:rPr sz="2150" b="1" dirty="0">
                <a:solidFill>
                  <a:srgbClr val="44566E"/>
                </a:solidFill>
                <a:latin typeface="Arial"/>
                <a:cs typeface="Arial"/>
              </a:rPr>
              <a:t>Regional</a:t>
            </a:r>
            <a:r>
              <a:rPr sz="2150" b="1" spc="265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150" b="1" dirty="0">
                <a:solidFill>
                  <a:srgbClr val="44566E"/>
                </a:solidFill>
                <a:latin typeface="Arial"/>
                <a:cs typeface="Arial"/>
              </a:rPr>
              <a:t>Slicers:</a:t>
            </a:r>
            <a:r>
              <a:rPr sz="2150" b="1" spc="125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566E"/>
                </a:solidFill>
                <a:latin typeface="Arial"/>
                <a:cs typeface="Arial"/>
              </a:rPr>
              <a:t>Dynamic</a:t>
            </a:r>
            <a:r>
              <a:rPr sz="2300" spc="215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566E"/>
                </a:solidFill>
                <a:latin typeface="Arial"/>
                <a:cs typeface="Arial"/>
              </a:rPr>
              <a:t>updates</a:t>
            </a:r>
            <a:r>
              <a:rPr sz="2300" spc="320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300" spc="70" dirty="0">
                <a:solidFill>
                  <a:srgbClr val="44566E"/>
                </a:solidFill>
                <a:latin typeface="Arial"/>
                <a:cs typeface="Arial"/>
              </a:rPr>
              <a:t>for</a:t>
            </a:r>
            <a:r>
              <a:rPr sz="2300" spc="120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566E"/>
                </a:solidFill>
                <a:latin typeface="Arial"/>
                <a:cs typeface="Arial"/>
              </a:rPr>
              <a:t>East,</a:t>
            </a:r>
            <a:r>
              <a:rPr sz="2300" spc="125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300" spc="-10" dirty="0">
                <a:solidFill>
                  <a:srgbClr val="44566E"/>
                </a:solidFill>
                <a:latin typeface="Arial"/>
                <a:cs typeface="Arial"/>
              </a:rPr>
              <a:t>West, </a:t>
            </a:r>
            <a:r>
              <a:rPr sz="2300" spc="65" dirty="0">
                <a:solidFill>
                  <a:srgbClr val="44566E"/>
                </a:solidFill>
                <a:latin typeface="Arial"/>
                <a:cs typeface="Arial"/>
              </a:rPr>
              <a:t>North,</a:t>
            </a:r>
            <a:r>
              <a:rPr sz="2300" spc="55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566E"/>
                </a:solidFill>
                <a:latin typeface="Arial"/>
                <a:cs typeface="Arial"/>
              </a:rPr>
              <a:t>and</a:t>
            </a:r>
            <a:r>
              <a:rPr sz="2300" spc="100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566E"/>
                </a:solidFill>
                <a:latin typeface="Arial"/>
                <a:cs typeface="Arial"/>
              </a:rPr>
              <a:t>South</a:t>
            </a:r>
            <a:r>
              <a:rPr sz="2300" spc="140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300" spc="40" dirty="0">
                <a:solidFill>
                  <a:srgbClr val="44566E"/>
                </a:solidFill>
                <a:latin typeface="Arial"/>
                <a:cs typeface="Arial"/>
              </a:rPr>
              <a:t>segments.</a:t>
            </a:r>
            <a:endParaRPr sz="2300">
              <a:latin typeface="Arial"/>
              <a:cs typeface="Arial"/>
            </a:endParaRPr>
          </a:p>
          <a:p>
            <a:pPr marL="304800" indent="-292100">
              <a:lnSpc>
                <a:spcPct val="100000"/>
              </a:lnSpc>
              <a:spcBef>
                <a:spcPts val="570"/>
              </a:spcBef>
              <a:buFont typeface="Arial"/>
              <a:buChar char="•"/>
              <a:tabLst>
                <a:tab pos="304800" algn="l"/>
              </a:tabLst>
            </a:pPr>
            <a:r>
              <a:rPr sz="2150" b="1" dirty="0">
                <a:solidFill>
                  <a:srgbClr val="44566E"/>
                </a:solidFill>
                <a:latin typeface="Arial"/>
                <a:cs typeface="Arial"/>
              </a:rPr>
              <a:t>Category</a:t>
            </a:r>
            <a:r>
              <a:rPr sz="2150" b="1" spc="385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150" b="1" dirty="0">
                <a:solidFill>
                  <a:srgbClr val="44566E"/>
                </a:solidFill>
                <a:latin typeface="Arial"/>
                <a:cs typeface="Arial"/>
              </a:rPr>
              <a:t>Drill-</a:t>
            </a:r>
            <a:r>
              <a:rPr sz="2150" b="1" spc="75" dirty="0">
                <a:solidFill>
                  <a:srgbClr val="44566E"/>
                </a:solidFill>
                <a:latin typeface="Arial"/>
                <a:cs typeface="Arial"/>
              </a:rPr>
              <a:t>down:</a:t>
            </a:r>
            <a:r>
              <a:rPr sz="2150" b="1" spc="265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566E"/>
                </a:solidFill>
                <a:latin typeface="Arial"/>
                <a:cs typeface="Arial"/>
              </a:rPr>
              <a:t>Analysis</a:t>
            </a:r>
            <a:r>
              <a:rPr sz="2300" spc="345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566E"/>
                </a:solidFill>
                <a:latin typeface="Arial"/>
                <a:cs typeface="Arial"/>
              </a:rPr>
              <a:t>across</a:t>
            </a:r>
            <a:r>
              <a:rPr sz="2300" spc="315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300" spc="-10" dirty="0">
                <a:solidFill>
                  <a:srgbClr val="44566E"/>
                </a:solidFill>
                <a:latin typeface="Arial"/>
                <a:cs typeface="Arial"/>
              </a:rPr>
              <a:t>Electronics,</a:t>
            </a:r>
            <a:endParaRPr sz="2300">
              <a:latin typeface="Arial"/>
              <a:cs typeface="Arial"/>
            </a:endParaRPr>
          </a:p>
          <a:p>
            <a:pPr marL="302260">
              <a:lnSpc>
                <a:spcPct val="100000"/>
              </a:lnSpc>
              <a:spcBef>
                <a:spcPts val="840"/>
              </a:spcBef>
            </a:pPr>
            <a:r>
              <a:rPr sz="2300" dirty="0">
                <a:solidFill>
                  <a:srgbClr val="44566E"/>
                </a:solidFill>
                <a:latin typeface="Arial"/>
                <a:cs typeface="Arial"/>
              </a:rPr>
              <a:t>Furniture,</a:t>
            </a:r>
            <a:r>
              <a:rPr sz="2300" spc="250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566E"/>
                </a:solidFill>
                <a:latin typeface="Arial"/>
                <a:cs typeface="Arial"/>
              </a:rPr>
              <a:t>and</a:t>
            </a:r>
            <a:r>
              <a:rPr sz="2300" spc="229" dirty="0">
                <a:solidFill>
                  <a:srgbClr val="44566E"/>
                </a:solidFill>
                <a:latin typeface="Arial"/>
                <a:cs typeface="Arial"/>
              </a:rPr>
              <a:t> </a:t>
            </a:r>
            <a:r>
              <a:rPr sz="2300" spc="-10" dirty="0">
                <a:solidFill>
                  <a:srgbClr val="44566E"/>
                </a:solidFill>
                <a:latin typeface="Arial"/>
                <a:cs typeface="Arial"/>
              </a:rPr>
              <a:t>Stationery.</a:t>
            </a:r>
            <a:endParaRPr sz="23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960419" y="4735998"/>
            <a:ext cx="223520" cy="148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i="1" spc="-55" dirty="0">
                <a:solidFill>
                  <a:srgbClr val="B3B8C4"/>
                </a:solidFill>
                <a:latin typeface="Arial"/>
                <a:cs typeface="Arial"/>
              </a:rPr>
              <a:t>1a10</a:t>
            </a:r>
            <a:endParaRPr sz="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8496323" y="4744647"/>
            <a:ext cx="661035" cy="102870"/>
          </a:xfrm>
          <a:prstGeom prst="rect">
            <a:avLst/>
          </a:prstGeom>
          <a:solidFill>
            <a:srgbClr val="E4E8F6"/>
          </a:solidFill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ts val="770"/>
              </a:lnSpc>
              <a:spcBef>
                <a:spcPts val="35"/>
              </a:spcBef>
            </a:pPr>
            <a:r>
              <a:rPr sz="800" spc="-40" dirty="0">
                <a:solidFill>
                  <a:srgbClr val="B3B8C4"/>
                </a:solidFill>
                <a:latin typeface="Arial"/>
                <a:cs typeface="Arial"/>
              </a:rPr>
              <a:t>--</a:t>
            </a:r>
            <a:r>
              <a:rPr sz="800" spc="-50" dirty="0">
                <a:solidFill>
                  <a:srgbClr val="B3B8C4"/>
                </a:solidFill>
                <a:latin typeface="Arial"/>
                <a:cs typeface="Arial"/>
              </a:rPr>
              <a:t>-</a:t>
            </a:r>
            <a:endParaRPr sz="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572115" y="4847022"/>
            <a:ext cx="272415" cy="131445"/>
          </a:xfrm>
          <a:prstGeom prst="rect">
            <a:avLst/>
          </a:prstGeom>
          <a:solidFill>
            <a:srgbClr val="E4E8F6"/>
          </a:solidFill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r>
              <a:rPr sz="800" i="1" spc="-35" dirty="0">
                <a:solidFill>
                  <a:srgbClr val="B3B8C4"/>
                </a:solidFill>
                <a:latin typeface="Arial"/>
                <a:cs typeface="Arial"/>
              </a:rPr>
              <a:t>2000s</a:t>
            </a:r>
            <a:endParaRPr sz="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9157019" y="4847022"/>
            <a:ext cx="361315" cy="131445"/>
          </a:xfrm>
          <a:prstGeom prst="rect">
            <a:avLst/>
          </a:prstGeom>
          <a:solidFill>
            <a:srgbClr val="E4E8F6"/>
          </a:solidFill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r>
              <a:rPr sz="800" spc="425" dirty="0">
                <a:solidFill>
                  <a:srgbClr val="B3B8C4"/>
                </a:solidFill>
                <a:latin typeface="Arial"/>
                <a:cs typeface="Arial"/>
              </a:rPr>
              <a:t>---</a:t>
            </a:r>
            <a:r>
              <a:rPr sz="800" spc="375" dirty="0">
                <a:solidFill>
                  <a:srgbClr val="B3B8C4"/>
                </a:solidFill>
                <a:latin typeface="Arial"/>
                <a:cs typeface="Arial"/>
              </a:rPr>
              <a:t>-</a:t>
            </a:r>
            <a:endParaRPr sz="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9256407" y="4978067"/>
            <a:ext cx="261620" cy="127000"/>
          </a:xfrm>
          <a:prstGeom prst="rect">
            <a:avLst/>
          </a:prstGeom>
          <a:solidFill>
            <a:srgbClr val="E4E8F6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94"/>
              </a:lnSpc>
            </a:pPr>
            <a:r>
              <a:rPr sz="800" i="1" spc="-20" dirty="0">
                <a:solidFill>
                  <a:srgbClr val="B3B8C4"/>
                </a:solidFill>
                <a:latin typeface="Arial"/>
                <a:cs typeface="Arial"/>
              </a:rPr>
              <a:t>2009</a:t>
            </a:r>
            <a:endParaRPr sz="8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0002396" y="5095445"/>
            <a:ext cx="102235" cy="135890"/>
          </a:xfrm>
          <a:custGeom>
            <a:avLst/>
            <a:gdLst/>
            <a:ahLst/>
            <a:cxnLst/>
            <a:rect l="l" t="t" r="r" b="b"/>
            <a:pathLst>
              <a:path w="102234" h="135889">
                <a:moveTo>
                  <a:pt x="101703" y="135366"/>
                </a:moveTo>
                <a:lnTo>
                  <a:pt x="0" y="135366"/>
                </a:lnTo>
                <a:lnTo>
                  <a:pt x="0" y="0"/>
                </a:lnTo>
                <a:lnTo>
                  <a:pt x="101703" y="0"/>
                </a:lnTo>
                <a:lnTo>
                  <a:pt x="101703" y="135366"/>
                </a:lnTo>
                <a:close/>
              </a:path>
            </a:pathLst>
          </a:custGeom>
          <a:solidFill>
            <a:srgbClr val="E4E8F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9989710" y="5082497"/>
            <a:ext cx="148590" cy="148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i="1" spc="-25" dirty="0">
                <a:solidFill>
                  <a:srgbClr val="B3B8C4"/>
                </a:solidFill>
                <a:latin typeface="Arial"/>
                <a:cs typeface="Arial"/>
              </a:rPr>
              <a:t>00</a:t>
            </a:r>
            <a:endParaRPr sz="8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8421444" y="7056315"/>
            <a:ext cx="47625" cy="135890"/>
          </a:xfrm>
          <a:custGeom>
            <a:avLst/>
            <a:gdLst/>
            <a:ahLst/>
            <a:cxnLst/>
            <a:rect l="l" t="t" r="r" b="b"/>
            <a:pathLst>
              <a:path w="47625" h="135890">
                <a:moveTo>
                  <a:pt x="47192" y="135366"/>
                </a:moveTo>
                <a:lnTo>
                  <a:pt x="0" y="135366"/>
                </a:lnTo>
                <a:lnTo>
                  <a:pt x="0" y="0"/>
                </a:lnTo>
                <a:lnTo>
                  <a:pt x="47192" y="0"/>
                </a:lnTo>
                <a:lnTo>
                  <a:pt x="47192" y="135366"/>
                </a:lnTo>
                <a:close/>
              </a:path>
            </a:pathLst>
          </a:custGeom>
          <a:solidFill>
            <a:srgbClr val="E4E8F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8408756" y="7043367"/>
            <a:ext cx="86360" cy="148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i="1" spc="-50" dirty="0">
                <a:solidFill>
                  <a:srgbClr val="B3B8C4"/>
                </a:solidFill>
                <a:latin typeface="Arial"/>
                <a:cs typeface="Arial"/>
              </a:rPr>
              <a:t>0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689978" y="3512327"/>
            <a:ext cx="5380355" cy="5513070"/>
            <a:chOff x="2689978" y="3512327"/>
            <a:chExt cx="5380355" cy="55130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89978" y="3512327"/>
              <a:ext cx="5379956" cy="551248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57450" y="5859071"/>
              <a:ext cx="314617" cy="535498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461027" y="3748576"/>
            <a:ext cx="298886" cy="29924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461027" y="4425824"/>
            <a:ext cx="298886" cy="29924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461027" y="5355072"/>
            <a:ext cx="298886" cy="314999"/>
          </a:xfrm>
          <a:prstGeom prst="rect">
            <a:avLst/>
          </a:prstGeom>
        </p:spPr>
      </p:pic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1361737" y="948134"/>
            <a:ext cx="11132820" cy="7061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  <a:tabLst>
                <a:tab pos="3504565" algn="l"/>
              </a:tabLst>
            </a:pPr>
            <a:r>
              <a:rPr spc="245" dirty="0">
                <a:solidFill>
                  <a:srgbClr val="0F1A2A"/>
                </a:solidFill>
              </a:rPr>
              <a:t>REGIONAL</a:t>
            </a:r>
            <a:r>
              <a:rPr dirty="0">
                <a:solidFill>
                  <a:srgbClr val="0F1A2A"/>
                </a:solidFill>
              </a:rPr>
              <a:t>	</a:t>
            </a:r>
            <a:r>
              <a:rPr spc="210" dirty="0">
                <a:solidFill>
                  <a:srgbClr val="0F1A2A"/>
                </a:solidFill>
              </a:rPr>
              <a:t>REVENUE</a:t>
            </a:r>
            <a:r>
              <a:rPr spc="490" dirty="0">
                <a:solidFill>
                  <a:srgbClr val="0F1A2A"/>
                </a:solidFill>
              </a:rPr>
              <a:t> </a:t>
            </a:r>
            <a:r>
              <a:rPr spc="270" dirty="0">
                <a:solidFill>
                  <a:srgbClr val="0F1A2A"/>
                </a:solidFill>
              </a:rPr>
              <a:t>DISTRIBUTION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560098" y="5655272"/>
            <a:ext cx="1694814" cy="1094105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140970">
              <a:lnSpc>
                <a:spcPct val="100000"/>
              </a:lnSpc>
              <a:spcBef>
                <a:spcPts val="875"/>
              </a:spcBef>
            </a:pPr>
            <a:r>
              <a:rPr sz="4450" b="1" spc="-10" dirty="0">
                <a:solidFill>
                  <a:srgbClr val="0F1A2A"/>
                </a:solidFill>
                <a:latin typeface="Arial"/>
                <a:cs typeface="Arial"/>
              </a:rPr>
              <a:t>98.7K</a:t>
            </a:r>
            <a:endParaRPr sz="4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10"/>
              </a:spcBef>
            </a:pPr>
            <a:r>
              <a:rPr sz="1650" spc="55" dirty="0">
                <a:solidFill>
                  <a:srgbClr val="808EA1"/>
                </a:solidFill>
                <a:latin typeface="Arial"/>
                <a:cs typeface="Arial"/>
              </a:rPr>
              <a:t>TOTAL </a:t>
            </a:r>
            <a:r>
              <a:rPr sz="1650" spc="-10" dirty="0">
                <a:solidFill>
                  <a:srgbClr val="808EA1"/>
                </a:solidFill>
                <a:latin typeface="Arial"/>
                <a:cs typeface="Arial"/>
              </a:rPr>
              <a:t>SALES</a:t>
            </a:r>
            <a:endParaRPr sz="16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994828" y="3692564"/>
            <a:ext cx="1503045" cy="3517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2100" b="1" dirty="0">
                <a:solidFill>
                  <a:srgbClr val="44576E"/>
                </a:solidFill>
                <a:latin typeface="Arial"/>
                <a:cs typeface="Arial"/>
              </a:rPr>
              <a:t>East</a:t>
            </a:r>
            <a:r>
              <a:rPr sz="2100" b="1" spc="295" dirty="0">
                <a:solidFill>
                  <a:srgbClr val="44576E"/>
                </a:solidFill>
                <a:latin typeface="Arial"/>
                <a:cs typeface="Arial"/>
              </a:rPr>
              <a:t> </a:t>
            </a:r>
            <a:r>
              <a:rPr sz="2100" b="1" spc="125" dirty="0">
                <a:solidFill>
                  <a:srgbClr val="44576E"/>
                </a:solidFill>
                <a:latin typeface="Arial"/>
                <a:cs typeface="Arial"/>
              </a:rPr>
              <a:t>(27%)</a:t>
            </a:r>
            <a:endParaRPr sz="21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720616" y="3672877"/>
            <a:ext cx="5549265" cy="3752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00" spc="70" dirty="0">
                <a:solidFill>
                  <a:srgbClr val="44576E"/>
                </a:solidFill>
                <a:latin typeface="Arial"/>
                <a:cs typeface="Arial"/>
              </a:rPr>
              <a:t>:</a:t>
            </a:r>
            <a:r>
              <a:rPr sz="2100" spc="55" dirty="0">
                <a:solidFill>
                  <a:srgbClr val="44576E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576E"/>
                </a:solidFill>
                <a:latin typeface="Arial"/>
                <a:cs typeface="Arial"/>
              </a:rPr>
              <a:t>Highest</a:t>
            </a:r>
            <a:r>
              <a:rPr sz="2300" spc="190" dirty="0">
                <a:solidFill>
                  <a:srgbClr val="44576E"/>
                </a:solidFill>
                <a:latin typeface="Arial"/>
                <a:cs typeface="Arial"/>
              </a:rPr>
              <a:t> </a:t>
            </a:r>
            <a:r>
              <a:rPr sz="2300" spc="50" dirty="0">
                <a:solidFill>
                  <a:srgbClr val="44576E"/>
                </a:solidFill>
                <a:latin typeface="Arial"/>
                <a:cs typeface="Arial"/>
              </a:rPr>
              <a:t>revenue</a:t>
            </a:r>
            <a:r>
              <a:rPr sz="2300" spc="185" dirty="0">
                <a:solidFill>
                  <a:srgbClr val="44576E"/>
                </a:solidFill>
                <a:latin typeface="Arial"/>
                <a:cs typeface="Arial"/>
              </a:rPr>
              <a:t> </a:t>
            </a:r>
            <a:r>
              <a:rPr sz="2300" spc="55" dirty="0">
                <a:solidFill>
                  <a:srgbClr val="44576E"/>
                </a:solidFill>
                <a:latin typeface="Arial"/>
                <a:cs typeface="Arial"/>
              </a:rPr>
              <a:t>contributor</a:t>
            </a:r>
            <a:r>
              <a:rPr sz="2300" spc="245" dirty="0">
                <a:solidFill>
                  <a:srgbClr val="44576E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576E"/>
                </a:solidFill>
                <a:latin typeface="Arial"/>
                <a:cs typeface="Arial"/>
              </a:rPr>
              <a:t>at</a:t>
            </a:r>
            <a:r>
              <a:rPr sz="2300" spc="114" dirty="0">
                <a:solidFill>
                  <a:srgbClr val="44576E"/>
                </a:solidFill>
                <a:latin typeface="Arial"/>
                <a:cs typeface="Arial"/>
              </a:rPr>
              <a:t> </a:t>
            </a:r>
            <a:r>
              <a:rPr sz="2300" spc="60" dirty="0">
                <a:solidFill>
                  <a:srgbClr val="44576E"/>
                </a:solidFill>
                <a:latin typeface="Arial"/>
                <a:cs typeface="Arial"/>
              </a:rPr>
              <a:t>-</a:t>
            </a:r>
            <a:r>
              <a:rPr sz="2300" spc="90" dirty="0">
                <a:solidFill>
                  <a:srgbClr val="44576E"/>
                </a:solidFill>
                <a:latin typeface="Arial"/>
                <a:cs typeface="Arial"/>
              </a:rPr>
              <a:t>$26.6K</a:t>
            </a:r>
            <a:endParaRPr sz="23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998095" y="4385562"/>
            <a:ext cx="1610360" cy="3517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2100" b="1" spc="100" dirty="0">
                <a:solidFill>
                  <a:srgbClr val="44576E"/>
                </a:solidFill>
                <a:latin typeface="Arial"/>
                <a:cs typeface="Arial"/>
              </a:rPr>
              <a:t>West </a:t>
            </a:r>
            <a:r>
              <a:rPr sz="2100" b="1" spc="125" dirty="0">
                <a:solidFill>
                  <a:srgbClr val="44576E"/>
                </a:solidFill>
                <a:latin typeface="Arial"/>
                <a:cs typeface="Arial"/>
              </a:rPr>
              <a:t>(27%)</a:t>
            </a:r>
            <a:endParaRPr sz="21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830726" y="4365874"/>
            <a:ext cx="6109970" cy="3752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00" spc="70" dirty="0">
                <a:solidFill>
                  <a:srgbClr val="44576E"/>
                </a:solidFill>
                <a:latin typeface="Arial"/>
                <a:cs typeface="Arial"/>
              </a:rPr>
              <a:t>:</a:t>
            </a:r>
            <a:r>
              <a:rPr sz="2100" spc="-10" dirty="0">
                <a:solidFill>
                  <a:srgbClr val="44576E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576E"/>
                </a:solidFill>
                <a:latin typeface="Arial"/>
                <a:cs typeface="Arial"/>
              </a:rPr>
              <a:t>Equal</a:t>
            </a:r>
            <a:r>
              <a:rPr sz="2300" spc="-35" dirty="0">
                <a:solidFill>
                  <a:srgbClr val="44576E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576E"/>
                </a:solidFill>
                <a:latin typeface="Arial"/>
                <a:cs typeface="Arial"/>
              </a:rPr>
              <a:t>lead</a:t>
            </a:r>
            <a:r>
              <a:rPr sz="2300" spc="40" dirty="0">
                <a:solidFill>
                  <a:srgbClr val="44576E"/>
                </a:solidFill>
                <a:latin typeface="Arial"/>
                <a:cs typeface="Arial"/>
              </a:rPr>
              <a:t> </a:t>
            </a:r>
            <a:r>
              <a:rPr sz="2300" spc="55" dirty="0">
                <a:solidFill>
                  <a:srgbClr val="44576E"/>
                </a:solidFill>
                <a:latin typeface="Arial"/>
                <a:cs typeface="Arial"/>
              </a:rPr>
              <a:t>with</a:t>
            </a:r>
            <a:r>
              <a:rPr sz="2300" spc="15" dirty="0">
                <a:solidFill>
                  <a:srgbClr val="44576E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576E"/>
                </a:solidFill>
                <a:latin typeface="Arial"/>
                <a:cs typeface="Arial"/>
              </a:rPr>
              <a:t>East,</a:t>
            </a:r>
            <a:r>
              <a:rPr sz="2300" spc="-20" dirty="0">
                <a:solidFill>
                  <a:srgbClr val="44576E"/>
                </a:solidFill>
                <a:latin typeface="Arial"/>
                <a:cs typeface="Arial"/>
              </a:rPr>
              <a:t> </a:t>
            </a:r>
            <a:r>
              <a:rPr sz="2300" spc="60" dirty="0">
                <a:solidFill>
                  <a:srgbClr val="44576E"/>
                </a:solidFill>
                <a:latin typeface="Arial"/>
                <a:cs typeface="Arial"/>
              </a:rPr>
              <a:t>focused </a:t>
            </a:r>
            <a:r>
              <a:rPr sz="2300" spc="85" dirty="0">
                <a:solidFill>
                  <a:srgbClr val="44576E"/>
                </a:solidFill>
                <a:latin typeface="Arial"/>
                <a:cs typeface="Arial"/>
              </a:rPr>
              <a:t>on</a:t>
            </a:r>
            <a:r>
              <a:rPr sz="2300" spc="-45" dirty="0">
                <a:solidFill>
                  <a:srgbClr val="44576E"/>
                </a:solidFill>
                <a:latin typeface="Arial"/>
                <a:cs typeface="Arial"/>
              </a:rPr>
              <a:t> </a:t>
            </a:r>
            <a:r>
              <a:rPr sz="2300" spc="-10" dirty="0">
                <a:solidFill>
                  <a:srgbClr val="44576E"/>
                </a:solidFill>
                <a:latin typeface="Arial"/>
                <a:cs typeface="Arial"/>
              </a:rPr>
              <a:t>Electronics</a:t>
            </a:r>
            <a:endParaRPr sz="23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994828" y="4971462"/>
            <a:ext cx="857250" cy="90741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6034" marR="5080" indent="-13970">
              <a:lnSpc>
                <a:spcPct val="137800"/>
              </a:lnSpc>
              <a:spcBef>
                <a:spcPts val="90"/>
              </a:spcBef>
            </a:pPr>
            <a:r>
              <a:rPr sz="2100" b="1" spc="70" dirty="0">
                <a:solidFill>
                  <a:srgbClr val="44576E"/>
                </a:solidFill>
                <a:latin typeface="Arial"/>
                <a:cs typeface="Arial"/>
              </a:rPr>
              <a:t>North </a:t>
            </a:r>
            <a:r>
              <a:rPr sz="2100" b="1" spc="150" dirty="0">
                <a:solidFill>
                  <a:srgbClr val="44576E"/>
                </a:solidFill>
                <a:latin typeface="Arial"/>
                <a:cs typeface="Arial"/>
              </a:rPr>
              <a:t>(23%)</a:t>
            </a:r>
            <a:endParaRPr sz="21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2923346" y="4959649"/>
            <a:ext cx="5092700" cy="939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955" marR="5080" indent="-8890">
              <a:lnSpc>
                <a:spcPct val="130300"/>
              </a:lnSpc>
              <a:spcBef>
                <a:spcPts val="100"/>
              </a:spcBef>
            </a:pPr>
            <a:r>
              <a:rPr sz="2300" spc="75" dirty="0">
                <a:solidFill>
                  <a:srgbClr val="44576E"/>
                </a:solidFill>
                <a:latin typeface="Arial"/>
                <a:cs typeface="Arial"/>
              </a:rPr>
              <a:t>:</a:t>
            </a:r>
            <a:r>
              <a:rPr sz="2300" spc="25" dirty="0">
                <a:solidFill>
                  <a:srgbClr val="44576E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576E"/>
                </a:solidFill>
                <a:latin typeface="Arial"/>
                <a:cs typeface="Arial"/>
              </a:rPr>
              <a:t>Emerging</a:t>
            </a:r>
            <a:r>
              <a:rPr sz="2300" spc="170" dirty="0">
                <a:solidFill>
                  <a:srgbClr val="44576E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576E"/>
                </a:solidFill>
                <a:latin typeface="Arial"/>
                <a:cs typeface="Arial"/>
              </a:rPr>
              <a:t>market</a:t>
            </a:r>
            <a:r>
              <a:rPr sz="2300" spc="229" dirty="0">
                <a:solidFill>
                  <a:srgbClr val="44576E"/>
                </a:solidFill>
                <a:latin typeface="Arial"/>
                <a:cs typeface="Arial"/>
              </a:rPr>
              <a:t> </a:t>
            </a:r>
            <a:r>
              <a:rPr sz="2300" spc="55" dirty="0">
                <a:solidFill>
                  <a:srgbClr val="44576E"/>
                </a:solidFill>
                <a:latin typeface="Arial"/>
                <a:cs typeface="Arial"/>
              </a:rPr>
              <a:t>with</a:t>
            </a:r>
            <a:r>
              <a:rPr sz="2300" spc="60" dirty="0">
                <a:solidFill>
                  <a:srgbClr val="44576E"/>
                </a:solidFill>
                <a:latin typeface="Arial"/>
                <a:cs typeface="Arial"/>
              </a:rPr>
              <a:t> </a:t>
            </a:r>
            <a:r>
              <a:rPr sz="2300" spc="50" dirty="0">
                <a:solidFill>
                  <a:srgbClr val="44576E"/>
                </a:solidFill>
                <a:latin typeface="Arial"/>
                <a:cs typeface="Arial"/>
              </a:rPr>
              <a:t>high</a:t>
            </a:r>
            <a:r>
              <a:rPr sz="2300" spc="-10" dirty="0">
                <a:solidFill>
                  <a:srgbClr val="44576E"/>
                </a:solidFill>
                <a:latin typeface="Arial"/>
                <a:cs typeface="Arial"/>
              </a:rPr>
              <a:t> Furniture demand</a:t>
            </a:r>
            <a:endParaRPr sz="23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997279" y="6212557"/>
            <a:ext cx="1735455" cy="3517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2100" b="1" spc="55" dirty="0">
                <a:solidFill>
                  <a:srgbClr val="44576E"/>
                </a:solidFill>
                <a:latin typeface="Arial"/>
                <a:cs typeface="Arial"/>
              </a:rPr>
              <a:t>South</a:t>
            </a:r>
            <a:r>
              <a:rPr sz="2100" b="1" spc="150" dirty="0">
                <a:solidFill>
                  <a:srgbClr val="44576E"/>
                </a:solidFill>
                <a:latin typeface="Arial"/>
                <a:cs typeface="Arial"/>
              </a:rPr>
              <a:t> </a:t>
            </a:r>
            <a:r>
              <a:rPr sz="2100" b="1" spc="140" dirty="0">
                <a:solidFill>
                  <a:srgbClr val="44576E"/>
                </a:solidFill>
                <a:latin typeface="Arial"/>
                <a:cs typeface="Arial"/>
              </a:rPr>
              <a:t>(23%)</a:t>
            </a:r>
            <a:endParaRPr sz="2100" dirty="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2956572" y="6192870"/>
            <a:ext cx="5523865" cy="3752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00" spc="80" dirty="0">
                <a:solidFill>
                  <a:srgbClr val="44576E"/>
                </a:solidFill>
                <a:latin typeface="Arial"/>
                <a:cs typeface="Arial"/>
              </a:rPr>
              <a:t>:</a:t>
            </a:r>
            <a:r>
              <a:rPr sz="2100" spc="125" dirty="0">
                <a:solidFill>
                  <a:srgbClr val="44576E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576E"/>
                </a:solidFill>
                <a:latin typeface="Arial"/>
                <a:cs typeface="Arial"/>
              </a:rPr>
              <a:t>Stable</a:t>
            </a:r>
            <a:r>
              <a:rPr sz="2300" spc="120" dirty="0">
                <a:solidFill>
                  <a:srgbClr val="44576E"/>
                </a:solidFill>
                <a:latin typeface="Arial"/>
                <a:cs typeface="Arial"/>
              </a:rPr>
              <a:t> </a:t>
            </a:r>
            <a:r>
              <a:rPr sz="2300" spc="65" dirty="0">
                <a:solidFill>
                  <a:srgbClr val="44576E"/>
                </a:solidFill>
                <a:latin typeface="Arial"/>
                <a:cs typeface="Arial"/>
              </a:rPr>
              <a:t>performer</a:t>
            </a:r>
            <a:r>
              <a:rPr sz="2300" spc="190" dirty="0">
                <a:solidFill>
                  <a:srgbClr val="44576E"/>
                </a:solidFill>
                <a:latin typeface="Arial"/>
                <a:cs typeface="Arial"/>
              </a:rPr>
              <a:t> </a:t>
            </a:r>
            <a:r>
              <a:rPr sz="2300" spc="50" dirty="0">
                <a:solidFill>
                  <a:srgbClr val="44576E"/>
                </a:solidFill>
                <a:latin typeface="Arial"/>
                <a:cs typeface="Arial"/>
              </a:rPr>
              <a:t>in</a:t>
            </a:r>
            <a:r>
              <a:rPr sz="2300" spc="30" dirty="0">
                <a:solidFill>
                  <a:srgbClr val="44576E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44576E"/>
                </a:solidFill>
                <a:latin typeface="Arial"/>
                <a:cs typeface="Arial"/>
              </a:rPr>
              <a:t>Stationery</a:t>
            </a:r>
            <a:r>
              <a:rPr sz="2300" spc="165" dirty="0">
                <a:solidFill>
                  <a:srgbClr val="44576E"/>
                </a:solidFill>
                <a:latin typeface="Arial"/>
                <a:cs typeface="Arial"/>
              </a:rPr>
              <a:t> </a:t>
            </a:r>
            <a:r>
              <a:rPr sz="2300" spc="45" dirty="0">
                <a:solidFill>
                  <a:srgbClr val="44576E"/>
                </a:solidFill>
                <a:latin typeface="Arial"/>
                <a:cs typeface="Arial"/>
              </a:rPr>
              <a:t>category</a:t>
            </a:r>
            <a:endParaRPr sz="23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0452418" y="7810390"/>
            <a:ext cx="8239125" cy="939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985">
              <a:lnSpc>
                <a:spcPct val="130300"/>
              </a:lnSpc>
              <a:spcBef>
                <a:spcPts val="100"/>
              </a:spcBef>
            </a:pPr>
            <a:r>
              <a:rPr sz="2300" i="1" dirty="0">
                <a:solidFill>
                  <a:srgbClr val="44576E"/>
                </a:solidFill>
                <a:latin typeface="Arial"/>
                <a:cs typeface="Arial"/>
              </a:rPr>
              <a:t>Note:</a:t>
            </a:r>
            <a:r>
              <a:rPr sz="2300" i="1" spc="-35" dirty="0">
                <a:solidFill>
                  <a:srgbClr val="44576E"/>
                </a:solidFill>
                <a:latin typeface="Arial"/>
                <a:cs typeface="Arial"/>
              </a:rPr>
              <a:t> </a:t>
            </a:r>
            <a:r>
              <a:rPr sz="2300" i="1" spc="-10" dirty="0">
                <a:solidFill>
                  <a:srgbClr val="44576E"/>
                </a:solidFill>
                <a:latin typeface="Arial"/>
                <a:cs typeface="Arial"/>
              </a:rPr>
              <a:t>Regional</a:t>
            </a:r>
            <a:r>
              <a:rPr sz="2300" i="1" spc="-30" dirty="0">
                <a:solidFill>
                  <a:srgbClr val="44576E"/>
                </a:solidFill>
                <a:latin typeface="Arial"/>
                <a:cs typeface="Arial"/>
              </a:rPr>
              <a:t> </a:t>
            </a:r>
            <a:r>
              <a:rPr sz="2300" i="1" spc="55" dirty="0">
                <a:solidFill>
                  <a:srgbClr val="44576E"/>
                </a:solidFill>
                <a:latin typeface="Arial"/>
                <a:cs typeface="Arial"/>
              </a:rPr>
              <a:t>parity</a:t>
            </a:r>
            <a:r>
              <a:rPr sz="2300" i="1" spc="-10" dirty="0">
                <a:solidFill>
                  <a:srgbClr val="44576E"/>
                </a:solidFill>
                <a:latin typeface="Arial"/>
                <a:cs typeface="Arial"/>
              </a:rPr>
              <a:t> </a:t>
            </a:r>
            <a:r>
              <a:rPr sz="2300" i="1" spc="55" dirty="0">
                <a:solidFill>
                  <a:srgbClr val="44576E"/>
                </a:solidFill>
                <a:latin typeface="Arial"/>
                <a:cs typeface="Arial"/>
              </a:rPr>
              <a:t>suggests</a:t>
            </a:r>
            <a:r>
              <a:rPr sz="2300" i="1" spc="90" dirty="0">
                <a:solidFill>
                  <a:srgbClr val="44576E"/>
                </a:solidFill>
                <a:latin typeface="Arial"/>
                <a:cs typeface="Arial"/>
              </a:rPr>
              <a:t> </a:t>
            </a:r>
            <a:r>
              <a:rPr sz="2300" i="1" spc="110" dirty="0">
                <a:solidFill>
                  <a:srgbClr val="44576E"/>
                </a:solidFill>
                <a:latin typeface="Arial"/>
                <a:cs typeface="Arial"/>
              </a:rPr>
              <a:t>a</a:t>
            </a:r>
            <a:r>
              <a:rPr sz="2300" i="1" spc="-114" dirty="0">
                <a:solidFill>
                  <a:srgbClr val="44576E"/>
                </a:solidFill>
                <a:latin typeface="Arial"/>
                <a:cs typeface="Arial"/>
              </a:rPr>
              <a:t> </a:t>
            </a:r>
            <a:r>
              <a:rPr sz="2300" i="1" dirty="0">
                <a:solidFill>
                  <a:srgbClr val="44576E"/>
                </a:solidFill>
                <a:latin typeface="Arial"/>
                <a:cs typeface="Arial"/>
              </a:rPr>
              <a:t>balanced</a:t>
            </a:r>
            <a:r>
              <a:rPr sz="2300" i="1" spc="90" dirty="0">
                <a:solidFill>
                  <a:srgbClr val="44576E"/>
                </a:solidFill>
                <a:latin typeface="Arial"/>
                <a:cs typeface="Arial"/>
              </a:rPr>
              <a:t> </a:t>
            </a:r>
            <a:r>
              <a:rPr sz="2300" i="1" dirty="0">
                <a:solidFill>
                  <a:srgbClr val="44576E"/>
                </a:solidFill>
                <a:latin typeface="Arial"/>
                <a:cs typeface="Arial"/>
              </a:rPr>
              <a:t>national</a:t>
            </a:r>
            <a:r>
              <a:rPr sz="2300" i="1" spc="90" dirty="0">
                <a:solidFill>
                  <a:srgbClr val="44576E"/>
                </a:solidFill>
                <a:latin typeface="Arial"/>
                <a:cs typeface="Arial"/>
              </a:rPr>
              <a:t> </a:t>
            </a:r>
            <a:r>
              <a:rPr sz="2300" i="1" spc="-10" dirty="0">
                <a:solidFill>
                  <a:srgbClr val="44576E"/>
                </a:solidFill>
                <a:latin typeface="Arial"/>
                <a:cs typeface="Arial"/>
              </a:rPr>
              <a:t>expansion </a:t>
            </a:r>
            <a:r>
              <a:rPr sz="2300" i="1" spc="50" dirty="0">
                <a:solidFill>
                  <a:srgbClr val="44576E"/>
                </a:solidFill>
                <a:latin typeface="Arial"/>
                <a:cs typeface="Arial"/>
              </a:rPr>
              <a:t>strategy</a:t>
            </a:r>
            <a:r>
              <a:rPr sz="2300" i="1" spc="265" dirty="0">
                <a:solidFill>
                  <a:srgbClr val="44576E"/>
                </a:solidFill>
                <a:latin typeface="Arial"/>
                <a:cs typeface="Arial"/>
              </a:rPr>
              <a:t> </a:t>
            </a:r>
            <a:r>
              <a:rPr sz="2300" i="1" spc="55" dirty="0">
                <a:solidFill>
                  <a:srgbClr val="44576E"/>
                </a:solidFill>
                <a:latin typeface="Arial"/>
                <a:cs typeface="Arial"/>
              </a:rPr>
              <a:t>without</a:t>
            </a:r>
            <a:r>
              <a:rPr sz="2300" i="1" spc="110" dirty="0">
                <a:solidFill>
                  <a:srgbClr val="44576E"/>
                </a:solidFill>
                <a:latin typeface="Arial"/>
                <a:cs typeface="Arial"/>
              </a:rPr>
              <a:t> </a:t>
            </a:r>
            <a:r>
              <a:rPr sz="2300" i="1" dirty="0">
                <a:solidFill>
                  <a:srgbClr val="44576E"/>
                </a:solidFill>
                <a:latin typeface="Arial"/>
                <a:cs typeface="Arial"/>
              </a:rPr>
              <a:t>over-reliance</a:t>
            </a:r>
            <a:r>
              <a:rPr sz="2300" i="1" spc="180" dirty="0">
                <a:solidFill>
                  <a:srgbClr val="44576E"/>
                </a:solidFill>
                <a:latin typeface="Arial"/>
                <a:cs typeface="Arial"/>
              </a:rPr>
              <a:t> </a:t>
            </a:r>
            <a:r>
              <a:rPr sz="2300" i="1" spc="70" dirty="0">
                <a:solidFill>
                  <a:srgbClr val="44576E"/>
                </a:solidFill>
                <a:latin typeface="Arial"/>
                <a:cs typeface="Arial"/>
              </a:rPr>
              <a:t>on</a:t>
            </a:r>
            <a:r>
              <a:rPr sz="2300" i="1" spc="-10" dirty="0">
                <a:solidFill>
                  <a:srgbClr val="44576E"/>
                </a:solidFill>
                <a:latin typeface="Arial"/>
                <a:cs typeface="Arial"/>
              </a:rPr>
              <a:t> </a:t>
            </a:r>
            <a:r>
              <a:rPr sz="2300" i="1" spc="110" dirty="0">
                <a:solidFill>
                  <a:srgbClr val="44576E"/>
                </a:solidFill>
                <a:latin typeface="Arial"/>
                <a:cs typeface="Arial"/>
              </a:rPr>
              <a:t>a</a:t>
            </a:r>
            <a:r>
              <a:rPr sz="2300" i="1" spc="-120" dirty="0">
                <a:solidFill>
                  <a:srgbClr val="44576E"/>
                </a:solidFill>
                <a:latin typeface="Arial"/>
                <a:cs typeface="Arial"/>
              </a:rPr>
              <a:t> </a:t>
            </a:r>
            <a:r>
              <a:rPr sz="2300" i="1" dirty="0">
                <a:solidFill>
                  <a:srgbClr val="44576E"/>
                </a:solidFill>
                <a:latin typeface="Arial"/>
                <a:cs typeface="Arial"/>
              </a:rPr>
              <a:t>single</a:t>
            </a:r>
            <a:r>
              <a:rPr sz="2300" i="1" spc="50" dirty="0">
                <a:solidFill>
                  <a:srgbClr val="44576E"/>
                </a:solidFill>
                <a:latin typeface="Arial"/>
                <a:cs typeface="Arial"/>
              </a:rPr>
              <a:t> </a:t>
            </a:r>
            <a:r>
              <a:rPr sz="2300" i="1" spc="-10" dirty="0">
                <a:solidFill>
                  <a:srgbClr val="44576E"/>
                </a:solidFill>
                <a:latin typeface="Arial"/>
                <a:cs typeface="Arial"/>
              </a:rPr>
              <a:t>territory.</a:t>
            </a:r>
            <a:endParaRPr sz="2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393594" y="1326712"/>
            <a:ext cx="15835400" cy="82682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33655">
              <a:lnSpc>
                <a:spcPct val="100000"/>
              </a:lnSpc>
              <a:spcBef>
                <a:spcPts val="115"/>
              </a:spcBef>
              <a:tabLst>
                <a:tab pos="9542780" algn="l"/>
              </a:tabLst>
            </a:pPr>
            <a:r>
              <a:rPr spc="140" dirty="0"/>
              <a:t>SALES</a:t>
            </a:r>
            <a:r>
              <a:rPr spc="465" dirty="0"/>
              <a:t> </a:t>
            </a:r>
            <a:r>
              <a:rPr spc="120" dirty="0"/>
              <a:t>FORCE</a:t>
            </a:r>
            <a:r>
              <a:rPr spc="400" dirty="0"/>
              <a:t> </a:t>
            </a:r>
            <a:r>
              <a:rPr spc="340" dirty="0"/>
              <a:t>PRODUCTIVITY</a:t>
            </a:r>
            <a:r>
              <a:rPr lang="en-IN" spc="340" dirty="0"/>
              <a:t> </a:t>
            </a:r>
            <a:r>
              <a:rPr spc="140" dirty="0"/>
              <a:t>LEADERBOARD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7917258"/>
              </p:ext>
            </p:extLst>
          </p:nvPr>
        </p:nvGraphicFramePr>
        <p:xfrm>
          <a:off x="2660650" y="4511675"/>
          <a:ext cx="13152754" cy="11791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80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97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984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483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75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5885">
                <a:tc>
                  <a:txBody>
                    <a:bodyPr/>
                    <a:lstStyle/>
                    <a:p>
                      <a:pPr marR="916940" algn="ctr">
                        <a:lnSpc>
                          <a:spcPts val="2090"/>
                        </a:lnSpc>
                      </a:pPr>
                      <a:r>
                        <a:rPr sz="2800" b="1" spc="75" dirty="0">
                          <a:solidFill>
                            <a:srgbClr val="131C2B"/>
                          </a:solidFill>
                          <a:latin typeface="Arial"/>
                          <a:cs typeface="Arial"/>
                        </a:rPr>
                        <a:t>$32K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985" algn="ctr">
                        <a:lnSpc>
                          <a:spcPts val="2090"/>
                        </a:lnSpc>
                      </a:pPr>
                      <a:r>
                        <a:rPr sz="2800" b="1" spc="75" dirty="0">
                          <a:solidFill>
                            <a:srgbClr val="131C2B"/>
                          </a:solidFill>
                          <a:latin typeface="Arial"/>
                          <a:cs typeface="Arial"/>
                        </a:rPr>
                        <a:t>$25K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700" algn="ctr">
                        <a:lnSpc>
                          <a:spcPts val="2090"/>
                        </a:lnSpc>
                      </a:pPr>
                      <a:r>
                        <a:rPr sz="2800" b="1" spc="110" dirty="0">
                          <a:solidFill>
                            <a:srgbClr val="131C2B"/>
                          </a:solidFill>
                          <a:latin typeface="Arial"/>
                          <a:cs typeface="Arial"/>
                        </a:rPr>
                        <a:t>$20K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5565" algn="ctr">
                        <a:lnSpc>
                          <a:spcPts val="2090"/>
                        </a:lnSpc>
                      </a:pPr>
                      <a:r>
                        <a:rPr sz="2800" b="1" spc="-20" dirty="0">
                          <a:solidFill>
                            <a:srgbClr val="131C2B"/>
                          </a:solidFill>
                          <a:latin typeface="Arial"/>
                          <a:cs typeface="Arial"/>
                        </a:rPr>
                        <a:t>$14K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9530" algn="r">
                        <a:lnSpc>
                          <a:spcPts val="2090"/>
                        </a:lnSpc>
                      </a:pPr>
                      <a:r>
                        <a:rPr sz="2800" b="1" spc="-10" dirty="0">
                          <a:solidFill>
                            <a:srgbClr val="131C2B"/>
                          </a:solidFill>
                          <a:latin typeface="Arial"/>
                          <a:cs typeface="Arial"/>
                        </a:rPr>
                        <a:t>$7</a:t>
                      </a:r>
                      <a:r>
                        <a:rPr sz="2800" b="1" spc="-10" dirty="0">
                          <a:solidFill>
                            <a:srgbClr val="2F343D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sz="2800" b="1" spc="-10" dirty="0">
                          <a:solidFill>
                            <a:srgbClr val="131C2B"/>
                          </a:solidFill>
                          <a:latin typeface="Arial"/>
                          <a:cs typeface="Arial"/>
                        </a:rPr>
                        <a:t>7K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715">
                <a:tc>
                  <a:txBody>
                    <a:bodyPr/>
                    <a:lstStyle/>
                    <a:p>
                      <a:pPr marR="932180" algn="ctr">
                        <a:lnSpc>
                          <a:spcPts val="1960"/>
                        </a:lnSpc>
                        <a:spcBef>
                          <a:spcPts val="1255"/>
                        </a:spcBef>
                      </a:pPr>
                      <a:r>
                        <a:rPr sz="2400" b="1" spc="60" dirty="0">
                          <a:solidFill>
                            <a:srgbClr val="050308"/>
                          </a:solidFill>
                          <a:latin typeface="Arial"/>
                          <a:cs typeface="Arial"/>
                        </a:rPr>
                        <a:t>Rahul</a:t>
                      </a:r>
                      <a:r>
                        <a:rPr lang="en-IN" sz="2400" b="1" spc="60" dirty="0">
                          <a:solidFill>
                            <a:srgbClr val="05030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b="1" spc="60" dirty="0">
                          <a:solidFill>
                            <a:srgbClr val="050308"/>
                          </a:solidFill>
                          <a:latin typeface="Arial"/>
                          <a:cs typeface="Arial"/>
                        </a:rPr>
                        <a:t>Das</a:t>
                      </a:r>
                      <a:endParaRPr sz="2400" dirty="0">
                        <a:latin typeface="Arial"/>
                        <a:cs typeface="Arial"/>
                      </a:endParaRPr>
                    </a:p>
                  </a:txBody>
                  <a:tcPr marL="0" marR="0" marT="15938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25"/>
                        </a:lnSpc>
                        <a:spcBef>
                          <a:spcPts val="1195"/>
                        </a:spcBef>
                      </a:pPr>
                      <a:r>
                        <a:rPr sz="2400" b="1" dirty="0">
                          <a:solidFill>
                            <a:srgbClr val="050308"/>
                          </a:solidFill>
                          <a:latin typeface="Arial"/>
                          <a:cs typeface="Arial"/>
                        </a:rPr>
                        <a:t>Sneha</a:t>
                      </a:r>
                      <a:r>
                        <a:rPr sz="2400" b="1" spc="100" dirty="0">
                          <a:solidFill>
                            <a:srgbClr val="05030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b="1" spc="-25" dirty="0">
                          <a:solidFill>
                            <a:srgbClr val="050308"/>
                          </a:solidFill>
                          <a:latin typeface="Arial"/>
                          <a:cs typeface="Arial"/>
                        </a:rPr>
                        <a:t>Roy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151765" marB="0"/>
                </a:tc>
                <a:tc>
                  <a:txBody>
                    <a:bodyPr/>
                    <a:lstStyle/>
                    <a:p>
                      <a:pPr marR="6350" algn="ctr">
                        <a:lnSpc>
                          <a:spcPts val="1960"/>
                        </a:lnSpc>
                        <a:spcBef>
                          <a:spcPts val="1255"/>
                        </a:spcBef>
                      </a:pPr>
                      <a:r>
                        <a:rPr sz="2400" b="1" dirty="0">
                          <a:solidFill>
                            <a:srgbClr val="050308"/>
                          </a:solidFill>
                          <a:latin typeface="Arial"/>
                          <a:cs typeface="Arial"/>
                        </a:rPr>
                        <a:t>Amit</a:t>
                      </a:r>
                      <a:r>
                        <a:rPr sz="2400" b="1" spc="135" dirty="0">
                          <a:solidFill>
                            <a:srgbClr val="05030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b="1" spc="-20" dirty="0">
                          <a:solidFill>
                            <a:srgbClr val="050308"/>
                          </a:solidFill>
                          <a:latin typeface="Arial"/>
                          <a:cs typeface="Arial"/>
                        </a:rPr>
                        <a:t>Paul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159385" marB="0"/>
                </a:tc>
                <a:tc>
                  <a:txBody>
                    <a:bodyPr/>
                    <a:lstStyle/>
                    <a:p>
                      <a:pPr marR="67945" algn="ctr">
                        <a:lnSpc>
                          <a:spcPts val="2025"/>
                        </a:lnSpc>
                        <a:spcBef>
                          <a:spcPts val="1195"/>
                        </a:spcBef>
                      </a:pPr>
                      <a:r>
                        <a:rPr sz="2400" b="1" dirty="0">
                          <a:solidFill>
                            <a:srgbClr val="050308"/>
                          </a:solidFill>
                          <a:latin typeface="Arial"/>
                          <a:cs typeface="Arial"/>
                        </a:rPr>
                        <a:t>Pooja</a:t>
                      </a:r>
                      <a:r>
                        <a:rPr sz="2400" b="1" spc="145" dirty="0">
                          <a:solidFill>
                            <a:srgbClr val="05030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b="1" spc="-25" dirty="0">
                          <a:solidFill>
                            <a:srgbClr val="050308"/>
                          </a:solidFill>
                          <a:latin typeface="Arial"/>
                          <a:cs typeface="Arial"/>
                        </a:rPr>
                        <a:t>Dey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15176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960"/>
                        </a:lnSpc>
                        <a:spcBef>
                          <a:spcPts val="1255"/>
                        </a:spcBef>
                      </a:pPr>
                      <a:r>
                        <a:rPr sz="2400" b="1" spc="-10" dirty="0">
                          <a:solidFill>
                            <a:srgbClr val="050308"/>
                          </a:solidFill>
                          <a:latin typeface="Arial"/>
                          <a:cs typeface="Arial"/>
                        </a:rPr>
                        <a:t>Others</a:t>
                      </a:r>
                      <a:endParaRPr sz="2400" dirty="0">
                        <a:latin typeface="Arial"/>
                        <a:cs typeface="Arial"/>
                      </a:endParaRPr>
                    </a:p>
                  </a:txBody>
                  <a:tcPr marL="0" marR="0" marT="15938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3575050" y="8657738"/>
            <a:ext cx="12725399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7C899C"/>
                </a:solidFill>
                <a:latin typeface="Arial"/>
                <a:cs typeface="Arial"/>
              </a:rPr>
              <a:t>Top</a:t>
            </a:r>
            <a:r>
              <a:rPr sz="2800" spc="130" dirty="0">
                <a:solidFill>
                  <a:srgbClr val="7C899C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7C899C"/>
                </a:solidFill>
                <a:latin typeface="Arial"/>
                <a:cs typeface="Arial"/>
              </a:rPr>
              <a:t>4</a:t>
            </a:r>
            <a:r>
              <a:rPr sz="2800" spc="175" dirty="0">
                <a:solidFill>
                  <a:srgbClr val="7C899C"/>
                </a:solidFill>
                <a:latin typeface="Arial"/>
                <a:cs typeface="Arial"/>
              </a:rPr>
              <a:t> </a:t>
            </a:r>
            <a:r>
              <a:rPr sz="2800" spc="65" dirty="0">
                <a:solidFill>
                  <a:srgbClr val="7C899C"/>
                </a:solidFill>
                <a:latin typeface="Arial"/>
                <a:cs typeface="Arial"/>
              </a:rPr>
              <a:t>performers</a:t>
            </a:r>
            <a:r>
              <a:rPr sz="2800" spc="220" dirty="0">
                <a:solidFill>
                  <a:srgbClr val="7C899C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7C899C"/>
                </a:solidFill>
                <a:latin typeface="Arial"/>
                <a:cs typeface="Arial"/>
              </a:rPr>
              <a:t>account</a:t>
            </a:r>
            <a:r>
              <a:rPr sz="2800" spc="180" dirty="0">
                <a:solidFill>
                  <a:srgbClr val="7C899C"/>
                </a:solidFill>
                <a:latin typeface="Arial"/>
                <a:cs typeface="Arial"/>
              </a:rPr>
              <a:t> </a:t>
            </a:r>
            <a:r>
              <a:rPr sz="2800" spc="70" dirty="0">
                <a:solidFill>
                  <a:srgbClr val="7C899C"/>
                </a:solidFill>
                <a:latin typeface="Arial"/>
                <a:cs typeface="Arial"/>
              </a:rPr>
              <a:t>for</a:t>
            </a:r>
            <a:r>
              <a:rPr sz="2800" spc="80" dirty="0">
                <a:solidFill>
                  <a:srgbClr val="7C899C"/>
                </a:solidFill>
                <a:latin typeface="Arial"/>
                <a:cs typeface="Arial"/>
              </a:rPr>
              <a:t> </a:t>
            </a:r>
            <a:r>
              <a:rPr sz="2800" spc="55" dirty="0">
                <a:solidFill>
                  <a:srgbClr val="7C899C"/>
                </a:solidFill>
                <a:latin typeface="Arial"/>
                <a:cs typeface="Arial"/>
              </a:rPr>
              <a:t>92%</a:t>
            </a:r>
            <a:r>
              <a:rPr sz="2800" spc="215" dirty="0">
                <a:solidFill>
                  <a:srgbClr val="7C899C"/>
                </a:solidFill>
                <a:latin typeface="Arial"/>
                <a:cs typeface="Arial"/>
              </a:rPr>
              <a:t> </a:t>
            </a:r>
            <a:r>
              <a:rPr sz="2800" spc="60" dirty="0">
                <a:solidFill>
                  <a:srgbClr val="7C899C"/>
                </a:solidFill>
                <a:latin typeface="Arial"/>
                <a:cs typeface="Arial"/>
              </a:rPr>
              <a:t>of</a:t>
            </a:r>
            <a:r>
              <a:rPr sz="2800" spc="195" dirty="0">
                <a:solidFill>
                  <a:srgbClr val="7C899C"/>
                </a:solidFill>
                <a:latin typeface="Arial"/>
                <a:cs typeface="Arial"/>
              </a:rPr>
              <a:t> </a:t>
            </a:r>
            <a:r>
              <a:rPr sz="2800" spc="70" dirty="0">
                <a:solidFill>
                  <a:srgbClr val="7C899C"/>
                </a:solidFill>
                <a:latin typeface="Arial"/>
                <a:cs typeface="Arial"/>
              </a:rPr>
              <a:t>the</a:t>
            </a:r>
            <a:r>
              <a:rPr sz="2800" spc="65" dirty="0">
                <a:solidFill>
                  <a:srgbClr val="7C899C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7C899C"/>
                </a:solidFill>
                <a:latin typeface="Arial"/>
                <a:cs typeface="Arial"/>
              </a:rPr>
              <a:t>total</a:t>
            </a:r>
            <a:r>
              <a:rPr sz="2800" spc="-5" dirty="0">
                <a:solidFill>
                  <a:srgbClr val="7C899C"/>
                </a:solidFill>
                <a:latin typeface="Arial"/>
                <a:cs typeface="Arial"/>
              </a:rPr>
              <a:t> </a:t>
            </a:r>
            <a:r>
              <a:rPr sz="2800" spc="65" dirty="0">
                <a:solidFill>
                  <a:srgbClr val="7C899C"/>
                </a:solidFill>
                <a:latin typeface="Arial"/>
                <a:cs typeface="Arial"/>
              </a:rPr>
              <a:t>revenue</a:t>
            </a:r>
            <a:r>
              <a:rPr sz="2800" spc="90" dirty="0">
                <a:solidFill>
                  <a:srgbClr val="7C899C"/>
                </a:solidFill>
                <a:latin typeface="Arial"/>
                <a:cs typeface="Arial"/>
              </a:rPr>
              <a:t> </a:t>
            </a:r>
            <a:r>
              <a:rPr sz="2800" spc="50" dirty="0">
                <a:solidFill>
                  <a:srgbClr val="7C899C"/>
                </a:solidFill>
                <a:latin typeface="Arial"/>
                <a:cs typeface="Arial"/>
              </a:rPr>
              <a:t>target</a:t>
            </a:r>
            <a:r>
              <a:rPr sz="2800" spc="114" dirty="0">
                <a:solidFill>
                  <a:srgbClr val="7C899C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7C899C"/>
                </a:solidFill>
                <a:latin typeface="Arial"/>
                <a:cs typeface="Arial"/>
              </a:rPr>
              <a:t>achievement.</a:t>
            </a:r>
            <a:endParaRPr sz="2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368596" y="948134"/>
            <a:ext cx="15770054" cy="82682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15"/>
              </a:spcBef>
              <a:tabLst>
                <a:tab pos="3782695" algn="l"/>
                <a:tab pos="7140575" algn="l"/>
              </a:tabLst>
            </a:pPr>
            <a:r>
              <a:rPr spc="265" dirty="0">
                <a:solidFill>
                  <a:srgbClr val="0E1826"/>
                </a:solidFill>
              </a:rPr>
              <a:t>CATEGORY</a:t>
            </a:r>
            <a:r>
              <a:rPr dirty="0">
                <a:solidFill>
                  <a:srgbClr val="0E1826"/>
                </a:solidFill>
              </a:rPr>
              <a:t>	</a:t>
            </a:r>
            <a:r>
              <a:rPr spc="235" dirty="0">
                <a:solidFill>
                  <a:srgbClr val="0E1826"/>
                </a:solidFill>
              </a:rPr>
              <a:t>ANALYSIS</a:t>
            </a:r>
            <a:r>
              <a:rPr dirty="0">
                <a:solidFill>
                  <a:srgbClr val="0E1826"/>
                </a:solidFill>
              </a:rPr>
              <a:t>	</a:t>
            </a:r>
            <a:endParaRPr b="0" spc="215" dirty="0">
              <a:solidFill>
                <a:srgbClr val="0E1826"/>
              </a:solidFill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251783" y="3571675"/>
            <a:ext cx="1235075" cy="397510"/>
          </a:xfrm>
          <a:custGeom>
            <a:avLst/>
            <a:gdLst/>
            <a:ahLst/>
            <a:cxnLst/>
            <a:rect l="l" t="t" r="r" b="b"/>
            <a:pathLst>
              <a:path w="1235075" h="397510">
                <a:moveTo>
                  <a:pt x="1234872" y="397509"/>
                </a:moveTo>
                <a:lnTo>
                  <a:pt x="0" y="397509"/>
                </a:lnTo>
                <a:lnTo>
                  <a:pt x="0" y="0"/>
                </a:lnTo>
                <a:lnTo>
                  <a:pt x="1234872" y="0"/>
                </a:lnTo>
                <a:lnTo>
                  <a:pt x="1234872" y="397509"/>
                </a:lnTo>
                <a:close/>
              </a:path>
            </a:pathLst>
          </a:custGeom>
          <a:solidFill>
            <a:srgbClr val="1A23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785784" y="3571675"/>
            <a:ext cx="1557655" cy="397510"/>
          </a:xfrm>
          <a:custGeom>
            <a:avLst/>
            <a:gdLst/>
            <a:ahLst/>
            <a:cxnLst/>
            <a:rect l="l" t="t" r="r" b="b"/>
            <a:pathLst>
              <a:path w="1557654" h="397510">
                <a:moveTo>
                  <a:pt x="1557355" y="397509"/>
                </a:moveTo>
                <a:lnTo>
                  <a:pt x="0" y="397509"/>
                </a:lnTo>
                <a:lnTo>
                  <a:pt x="0" y="0"/>
                </a:lnTo>
                <a:lnTo>
                  <a:pt x="1557355" y="0"/>
                </a:lnTo>
                <a:lnTo>
                  <a:pt x="1557355" y="397509"/>
                </a:lnTo>
                <a:close/>
              </a:path>
            </a:pathLst>
          </a:custGeom>
          <a:solidFill>
            <a:srgbClr val="1A233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1251783" y="3571675"/>
          <a:ext cx="15449548" cy="31159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5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96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841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92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942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300" spc="-10" dirty="0">
                          <a:solidFill>
                            <a:srgbClr val="F6FBF9"/>
                          </a:solidFill>
                          <a:latin typeface="Arial"/>
                          <a:cs typeface="Arial"/>
                        </a:rPr>
                        <a:t>Category</a:t>
                      </a:r>
                      <a:endParaRPr sz="2300">
                        <a:latin typeface="Arial"/>
                        <a:cs typeface="Arial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300" spc="45" dirty="0">
                          <a:solidFill>
                            <a:srgbClr val="F6FBF9"/>
                          </a:solidFill>
                          <a:latin typeface="Arial"/>
                          <a:cs typeface="Arial"/>
                        </a:rPr>
                        <a:t>Revenue </a:t>
                      </a:r>
                      <a:r>
                        <a:rPr sz="2300" spc="-10" dirty="0">
                          <a:solidFill>
                            <a:srgbClr val="F6FBF9"/>
                          </a:solidFill>
                          <a:latin typeface="Arial"/>
                          <a:cs typeface="Arial"/>
                        </a:rPr>
                        <a:t>Share</a:t>
                      </a:r>
                      <a:endParaRPr sz="2300">
                        <a:latin typeface="Arial"/>
                        <a:cs typeface="Arial"/>
                      </a:endParaRPr>
                    </a:p>
                  </a:txBody>
                  <a:tcPr marL="0" marR="0" marT="10795" marB="0">
                    <a:solidFill>
                      <a:srgbClr val="1A23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300" spc="65" dirty="0">
                          <a:solidFill>
                            <a:srgbClr val="F6FBF9"/>
                          </a:solidFill>
                          <a:latin typeface="Arial"/>
                          <a:cs typeface="Arial"/>
                        </a:rPr>
                        <a:t>Profitability</a:t>
                      </a:r>
                      <a:endParaRPr sz="2300">
                        <a:latin typeface="Arial"/>
                        <a:cs typeface="Arial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300" dirty="0">
                          <a:solidFill>
                            <a:srgbClr val="F6FBF9"/>
                          </a:solidFill>
                          <a:latin typeface="Arial"/>
                          <a:cs typeface="Arial"/>
                        </a:rPr>
                        <a:t>Top</a:t>
                      </a:r>
                      <a:r>
                        <a:rPr sz="2300" spc="10" dirty="0">
                          <a:solidFill>
                            <a:srgbClr val="F6FBF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300" spc="-10" dirty="0">
                          <a:solidFill>
                            <a:srgbClr val="F6FBF9"/>
                          </a:solidFill>
                          <a:latin typeface="Arial"/>
                          <a:cs typeface="Arial"/>
                        </a:rPr>
                        <a:t>Salesperson</a:t>
                      </a:r>
                      <a:endParaRPr sz="2300">
                        <a:latin typeface="Arial"/>
                        <a:cs typeface="Arial"/>
                      </a:endParaRPr>
                    </a:p>
                  </a:txBody>
                  <a:tcPr marL="0" marR="0" marT="10795" marB="0">
                    <a:solidFill>
                      <a:srgbClr val="1A23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99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25"/>
                        </a:spcBef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2300" spc="40" dirty="0">
                          <a:solidFill>
                            <a:srgbClr val="050308"/>
                          </a:solidFill>
                          <a:latin typeface="Arial"/>
                          <a:cs typeface="Arial"/>
                        </a:rPr>
                        <a:t>Electronics</a:t>
                      </a:r>
                      <a:endParaRPr sz="2300">
                        <a:latin typeface="Arial"/>
                        <a:cs typeface="Arial"/>
                      </a:endParaRPr>
                    </a:p>
                  </a:txBody>
                  <a:tcPr marL="0" marR="0" marT="206375" marB="0"/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  <a:spcBef>
                          <a:spcPts val="1995"/>
                        </a:spcBef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  <a:p>
                      <a:pPr marL="11430" marR="21590">
                        <a:lnSpc>
                          <a:spcPct val="100000"/>
                        </a:lnSpc>
                      </a:pPr>
                      <a:r>
                        <a:rPr sz="2100" spc="185" dirty="0">
                          <a:solidFill>
                            <a:srgbClr val="050308"/>
                          </a:solidFill>
                          <a:latin typeface="Arial"/>
                          <a:cs typeface="Arial"/>
                        </a:rPr>
                        <a:t>42</a:t>
                      </a:r>
                      <a:r>
                        <a:rPr sz="2100" spc="185" dirty="0">
                          <a:solidFill>
                            <a:srgbClr val="0E1826"/>
                          </a:solidFill>
                          <a:latin typeface="Arial"/>
                          <a:cs typeface="Arial"/>
                        </a:rPr>
                        <a:t>%</a:t>
                      </a:r>
                      <a:endParaRPr sz="2100">
                        <a:latin typeface="Arial"/>
                        <a:cs typeface="Arial"/>
                      </a:endParaRPr>
                    </a:p>
                  </a:txBody>
                  <a:tcPr marL="0" marR="0" marT="25336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14"/>
                        </a:spcBef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 marL="1270">
                        <a:lnSpc>
                          <a:spcPct val="100000"/>
                        </a:lnSpc>
                      </a:pPr>
                      <a:r>
                        <a:rPr sz="2200" b="1" dirty="0">
                          <a:solidFill>
                            <a:srgbClr val="2D9789"/>
                          </a:solidFill>
                          <a:latin typeface="Arial"/>
                          <a:cs typeface="Arial"/>
                        </a:rPr>
                        <a:t>High</a:t>
                      </a:r>
                      <a:r>
                        <a:rPr sz="2200" b="1" spc="150" dirty="0">
                          <a:solidFill>
                            <a:srgbClr val="2D978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200" b="1" spc="100" dirty="0">
                          <a:solidFill>
                            <a:srgbClr val="2D9789"/>
                          </a:solidFill>
                          <a:latin typeface="Arial"/>
                          <a:cs typeface="Arial"/>
                        </a:rPr>
                        <a:t>(22%)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T="217804" marB="0"/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  <a:spcBef>
                          <a:spcPts val="2055"/>
                        </a:spcBef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  <a:p>
                      <a:pPr marR="3175">
                        <a:lnSpc>
                          <a:spcPct val="100000"/>
                        </a:lnSpc>
                      </a:pPr>
                      <a:r>
                        <a:rPr sz="2100" spc="150" dirty="0">
                          <a:solidFill>
                            <a:srgbClr val="050308"/>
                          </a:solidFill>
                          <a:latin typeface="Arial"/>
                          <a:cs typeface="Arial"/>
                        </a:rPr>
                        <a:t>RahulDas</a:t>
                      </a:r>
                      <a:endParaRPr sz="2100">
                        <a:latin typeface="Arial"/>
                        <a:cs typeface="Arial"/>
                      </a:endParaRPr>
                    </a:p>
                  </a:txBody>
                  <a:tcPr marL="0" marR="0" marT="26098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7415">
                <a:tc>
                  <a:txBody>
                    <a:bodyPr/>
                    <a:lstStyle/>
                    <a:p>
                      <a:pPr marL="2540">
                        <a:lnSpc>
                          <a:spcPct val="100000"/>
                        </a:lnSpc>
                        <a:spcBef>
                          <a:spcPts val="2295"/>
                        </a:spcBef>
                      </a:pPr>
                      <a:r>
                        <a:rPr sz="2100" b="1" spc="-10" dirty="0">
                          <a:solidFill>
                            <a:srgbClr val="050308"/>
                          </a:solidFill>
                          <a:latin typeface="Arial"/>
                          <a:cs typeface="Arial"/>
                        </a:rPr>
                        <a:t>Furniture</a:t>
                      </a:r>
                      <a:endParaRPr sz="2100">
                        <a:latin typeface="Arial"/>
                        <a:cs typeface="Arial"/>
                      </a:endParaRPr>
                    </a:p>
                  </a:txBody>
                  <a:tcPr marL="0" marR="0" marT="291465" marB="0"/>
                </a:tc>
                <a:tc>
                  <a:txBody>
                    <a:bodyPr/>
                    <a:lstStyle/>
                    <a:p>
                      <a:pPr marL="11430" marR="21590">
                        <a:lnSpc>
                          <a:spcPct val="100000"/>
                        </a:lnSpc>
                        <a:spcBef>
                          <a:spcPts val="2230"/>
                        </a:spcBef>
                      </a:pPr>
                      <a:r>
                        <a:rPr sz="2100" spc="-25" dirty="0">
                          <a:solidFill>
                            <a:srgbClr val="050308"/>
                          </a:solidFill>
                          <a:latin typeface="Arial"/>
                          <a:cs typeface="Arial"/>
                        </a:rPr>
                        <a:t>31</a:t>
                      </a:r>
                      <a:r>
                        <a:rPr sz="2100" spc="-25" dirty="0">
                          <a:solidFill>
                            <a:srgbClr val="0E1826"/>
                          </a:solidFill>
                          <a:latin typeface="Arial"/>
                          <a:cs typeface="Arial"/>
                        </a:rPr>
                        <a:t>%</a:t>
                      </a:r>
                      <a:endParaRPr sz="2100">
                        <a:latin typeface="Arial"/>
                        <a:cs typeface="Arial"/>
                      </a:endParaRPr>
                    </a:p>
                  </a:txBody>
                  <a:tcPr marL="0" marR="0" marT="28321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540">
                        <a:lnSpc>
                          <a:spcPct val="100000"/>
                        </a:lnSpc>
                        <a:spcBef>
                          <a:spcPts val="2130"/>
                        </a:spcBef>
                      </a:pPr>
                      <a:r>
                        <a:rPr sz="2100" b="1" spc="125" dirty="0">
                          <a:solidFill>
                            <a:srgbClr val="DFC36E"/>
                          </a:solidFill>
                          <a:latin typeface="Arial"/>
                          <a:cs typeface="Arial"/>
                        </a:rPr>
                        <a:t>Medium</a:t>
                      </a:r>
                      <a:r>
                        <a:rPr sz="2100" b="1" spc="80" dirty="0">
                          <a:solidFill>
                            <a:srgbClr val="DFC36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200" b="1" spc="-10" dirty="0">
                          <a:solidFill>
                            <a:srgbClr val="DFC36E"/>
                          </a:solidFill>
                          <a:latin typeface="Arial"/>
                          <a:cs typeface="Arial"/>
                        </a:rPr>
                        <a:t>(15%)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T="270510" marB="0"/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  <a:spcBef>
                          <a:spcPts val="2295"/>
                        </a:spcBef>
                      </a:pPr>
                      <a:r>
                        <a:rPr sz="2100" spc="140" dirty="0">
                          <a:solidFill>
                            <a:srgbClr val="050308"/>
                          </a:solidFill>
                          <a:latin typeface="Arial"/>
                          <a:cs typeface="Arial"/>
                        </a:rPr>
                        <a:t>Sneha</a:t>
                      </a:r>
                      <a:r>
                        <a:rPr sz="2100" spc="50" dirty="0">
                          <a:solidFill>
                            <a:srgbClr val="05030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100" spc="95" dirty="0">
                          <a:solidFill>
                            <a:srgbClr val="050308"/>
                          </a:solidFill>
                          <a:latin typeface="Arial"/>
                          <a:cs typeface="Arial"/>
                        </a:rPr>
                        <a:t>Roy</a:t>
                      </a:r>
                      <a:endParaRPr sz="2100">
                        <a:latin typeface="Arial"/>
                        <a:cs typeface="Arial"/>
                      </a:endParaRPr>
                    </a:p>
                  </a:txBody>
                  <a:tcPr marL="0" marR="0" marT="29146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665">
                <a:tc>
                  <a:txBody>
                    <a:bodyPr/>
                    <a:lstStyle/>
                    <a:p>
                      <a:pPr marL="4445">
                        <a:lnSpc>
                          <a:spcPts val="2455"/>
                        </a:lnSpc>
                        <a:spcBef>
                          <a:spcPts val="2340"/>
                        </a:spcBef>
                      </a:pPr>
                      <a:r>
                        <a:rPr sz="2100" b="1" spc="45" dirty="0">
                          <a:solidFill>
                            <a:srgbClr val="050308"/>
                          </a:solidFill>
                          <a:latin typeface="Arial"/>
                          <a:cs typeface="Arial"/>
                        </a:rPr>
                        <a:t>Stationery</a:t>
                      </a:r>
                      <a:endParaRPr sz="2100">
                        <a:latin typeface="Arial"/>
                        <a:cs typeface="Arial"/>
                      </a:endParaRPr>
                    </a:p>
                  </a:txBody>
                  <a:tcPr marL="0" marR="0" marT="297180" marB="0"/>
                </a:tc>
                <a:tc>
                  <a:txBody>
                    <a:bodyPr/>
                    <a:lstStyle/>
                    <a:p>
                      <a:pPr marL="15240" marR="21590">
                        <a:lnSpc>
                          <a:spcPts val="2455"/>
                        </a:lnSpc>
                        <a:spcBef>
                          <a:spcPts val="2340"/>
                        </a:spcBef>
                      </a:pPr>
                      <a:r>
                        <a:rPr sz="2100" spc="100" dirty="0">
                          <a:solidFill>
                            <a:srgbClr val="050308"/>
                          </a:solidFill>
                          <a:latin typeface="Arial"/>
                          <a:cs typeface="Arial"/>
                        </a:rPr>
                        <a:t>27</a:t>
                      </a:r>
                      <a:r>
                        <a:rPr sz="2100" spc="100" dirty="0">
                          <a:solidFill>
                            <a:srgbClr val="0E1826"/>
                          </a:solidFill>
                          <a:latin typeface="Arial"/>
                          <a:cs typeface="Arial"/>
                        </a:rPr>
                        <a:t>%</a:t>
                      </a:r>
                      <a:endParaRPr sz="2100">
                        <a:latin typeface="Arial"/>
                        <a:cs typeface="Arial"/>
                      </a:endParaRPr>
                    </a:p>
                  </a:txBody>
                  <a:tcPr marL="0" marR="0" marT="29718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">
                        <a:lnSpc>
                          <a:spcPct val="100000"/>
                        </a:lnSpc>
                        <a:spcBef>
                          <a:spcPts val="2115"/>
                        </a:spcBef>
                      </a:pPr>
                      <a:r>
                        <a:rPr sz="2200" b="1" dirty="0">
                          <a:solidFill>
                            <a:srgbClr val="2D9789"/>
                          </a:solidFill>
                          <a:latin typeface="Arial"/>
                          <a:cs typeface="Arial"/>
                        </a:rPr>
                        <a:t>High</a:t>
                      </a:r>
                      <a:r>
                        <a:rPr sz="2200" b="1" spc="150" dirty="0">
                          <a:solidFill>
                            <a:srgbClr val="2D978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200" b="1" spc="40" dirty="0">
                          <a:solidFill>
                            <a:srgbClr val="2D9789"/>
                          </a:solidFill>
                          <a:latin typeface="Arial"/>
                          <a:cs typeface="Arial"/>
                        </a:rPr>
                        <a:t>(19%)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T="268605" marB="0"/>
                </a:tc>
                <a:tc>
                  <a:txBody>
                    <a:bodyPr/>
                    <a:lstStyle/>
                    <a:p>
                      <a:pPr marL="635" marR="3175">
                        <a:lnSpc>
                          <a:spcPts val="2455"/>
                        </a:lnSpc>
                        <a:spcBef>
                          <a:spcPts val="2340"/>
                        </a:spcBef>
                      </a:pPr>
                      <a:r>
                        <a:rPr sz="2100" spc="100" dirty="0">
                          <a:solidFill>
                            <a:srgbClr val="050308"/>
                          </a:solidFill>
                          <a:latin typeface="Arial"/>
                          <a:cs typeface="Arial"/>
                        </a:rPr>
                        <a:t>Amit</a:t>
                      </a:r>
                      <a:r>
                        <a:rPr sz="2100" spc="50" dirty="0">
                          <a:solidFill>
                            <a:srgbClr val="05030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100" spc="90" dirty="0">
                          <a:solidFill>
                            <a:srgbClr val="050308"/>
                          </a:solidFill>
                          <a:latin typeface="Arial"/>
                          <a:cs typeface="Arial"/>
                        </a:rPr>
                        <a:t>Paul</a:t>
                      </a:r>
                      <a:endParaRPr sz="2100">
                        <a:latin typeface="Arial"/>
                        <a:cs typeface="Arial"/>
                      </a:endParaRPr>
                    </a:p>
                  </a:txBody>
                  <a:tcPr marL="0" marR="0" marT="29718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1237844" y="7922215"/>
            <a:ext cx="8137525" cy="8078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3335" marR="5080" indent="-1270">
              <a:lnSpc>
                <a:spcPct val="136800"/>
              </a:lnSpc>
              <a:spcBef>
                <a:spcPts val="90"/>
              </a:spcBef>
            </a:pPr>
            <a:r>
              <a:rPr sz="2000" b="1" dirty="0">
                <a:solidFill>
                  <a:srgbClr val="4F5B6D"/>
                </a:solidFill>
                <a:latin typeface="Arial"/>
                <a:cs typeface="Arial"/>
              </a:rPr>
              <a:t>Electronics:</a:t>
            </a:r>
            <a:r>
              <a:rPr sz="2000" b="1" spc="80" dirty="0">
                <a:solidFill>
                  <a:srgbClr val="4F5B6D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F5B6D"/>
                </a:solidFill>
                <a:latin typeface="Arial"/>
                <a:cs typeface="Arial"/>
              </a:rPr>
              <a:t>Primary</a:t>
            </a:r>
            <a:r>
              <a:rPr sz="2000" spc="260" dirty="0">
                <a:solidFill>
                  <a:srgbClr val="4F5B6D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F5B6D"/>
                </a:solidFill>
                <a:latin typeface="Arial"/>
                <a:cs typeface="Arial"/>
              </a:rPr>
              <a:t>volume</a:t>
            </a:r>
            <a:r>
              <a:rPr sz="2000" spc="190" dirty="0">
                <a:solidFill>
                  <a:srgbClr val="4F5B6D"/>
                </a:solidFill>
                <a:latin typeface="Arial"/>
                <a:cs typeface="Arial"/>
              </a:rPr>
              <a:t> </a:t>
            </a:r>
            <a:r>
              <a:rPr sz="2000" spc="60" dirty="0">
                <a:solidFill>
                  <a:srgbClr val="4F5B6D"/>
                </a:solidFill>
                <a:latin typeface="Arial"/>
                <a:cs typeface="Arial"/>
              </a:rPr>
              <a:t>driver</a:t>
            </a:r>
            <a:r>
              <a:rPr sz="2000" spc="300" dirty="0">
                <a:solidFill>
                  <a:srgbClr val="4F5B6D"/>
                </a:solidFill>
                <a:latin typeface="Arial"/>
                <a:cs typeface="Arial"/>
              </a:rPr>
              <a:t> </a:t>
            </a:r>
            <a:r>
              <a:rPr sz="2000" spc="75" dirty="0">
                <a:solidFill>
                  <a:srgbClr val="4F5B6D"/>
                </a:solidFill>
                <a:latin typeface="Arial"/>
                <a:cs typeface="Arial"/>
              </a:rPr>
              <a:t>with</a:t>
            </a:r>
            <a:r>
              <a:rPr sz="2000" spc="-15" dirty="0">
                <a:solidFill>
                  <a:srgbClr val="4F5B6D"/>
                </a:solidFill>
                <a:latin typeface="Arial"/>
                <a:cs typeface="Arial"/>
              </a:rPr>
              <a:t> </a:t>
            </a:r>
            <a:r>
              <a:rPr sz="2000" spc="80" dirty="0">
                <a:solidFill>
                  <a:srgbClr val="4F5B6D"/>
                </a:solidFill>
                <a:latin typeface="Arial"/>
                <a:cs typeface="Arial"/>
              </a:rPr>
              <a:t>high</a:t>
            </a:r>
            <a:r>
              <a:rPr sz="2000" spc="-20" dirty="0">
                <a:solidFill>
                  <a:srgbClr val="4F5B6D"/>
                </a:solidFill>
                <a:latin typeface="Arial"/>
                <a:cs typeface="Arial"/>
              </a:rPr>
              <a:t> </a:t>
            </a:r>
            <a:r>
              <a:rPr sz="2000" spc="50" dirty="0">
                <a:solidFill>
                  <a:srgbClr val="4F5B6D"/>
                </a:solidFill>
                <a:latin typeface="Arial"/>
                <a:cs typeface="Arial"/>
              </a:rPr>
              <a:t>unit</a:t>
            </a:r>
            <a:r>
              <a:rPr sz="2000" spc="185" dirty="0">
                <a:solidFill>
                  <a:srgbClr val="4F5B6D"/>
                </a:solidFill>
                <a:latin typeface="Arial"/>
                <a:cs typeface="Arial"/>
              </a:rPr>
              <a:t> </a:t>
            </a:r>
            <a:r>
              <a:rPr sz="2000" spc="60" dirty="0">
                <a:solidFill>
                  <a:srgbClr val="4F5B6D"/>
                </a:solidFill>
                <a:latin typeface="Arial"/>
                <a:cs typeface="Arial"/>
              </a:rPr>
              <a:t>costs</a:t>
            </a:r>
            <a:r>
              <a:rPr sz="2000" spc="80" dirty="0">
                <a:solidFill>
                  <a:srgbClr val="4F5B6D"/>
                </a:solidFill>
                <a:latin typeface="Arial"/>
                <a:cs typeface="Arial"/>
              </a:rPr>
              <a:t> and</a:t>
            </a:r>
            <a:r>
              <a:rPr sz="2000" spc="185" dirty="0">
                <a:solidFill>
                  <a:srgbClr val="4F5B6D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4F5B6D"/>
                </a:solidFill>
                <a:latin typeface="Arial"/>
                <a:cs typeface="Arial"/>
              </a:rPr>
              <a:t>consistent</a:t>
            </a:r>
            <a:r>
              <a:rPr sz="2000" spc="305" dirty="0">
                <a:solidFill>
                  <a:srgbClr val="4F5B6D"/>
                </a:solidFill>
                <a:latin typeface="Arial"/>
                <a:cs typeface="Arial"/>
              </a:rPr>
              <a:t> </a:t>
            </a:r>
            <a:r>
              <a:rPr sz="2000" spc="45" dirty="0">
                <a:solidFill>
                  <a:srgbClr val="4F5B6D"/>
                </a:solidFill>
                <a:latin typeface="Arial"/>
                <a:cs typeface="Arial"/>
              </a:rPr>
              <a:t>demand </a:t>
            </a:r>
            <a:r>
              <a:rPr sz="2000" dirty="0">
                <a:solidFill>
                  <a:srgbClr val="4F5B6D"/>
                </a:solidFill>
                <a:latin typeface="Arial"/>
                <a:cs typeface="Arial"/>
              </a:rPr>
              <a:t>in</a:t>
            </a:r>
            <a:r>
              <a:rPr sz="2000" spc="70" dirty="0">
                <a:solidFill>
                  <a:srgbClr val="4F5B6D"/>
                </a:solidFill>
                <a:latin typeface="Arial"/>
                <a:cs typeface="Arial"/>
              </a:rPr>
              <a:t> </a:t>
            </a:r>
            <a:r>
              <a:rPr sz="2000" spc="65" dirty="0">
                <a:solidFill>
                  <a:srgbClr val="4F5B6D"/>
                </a:solidFill>
                <a:latin typeface="Arial"/>
                <a:cs typeface="Arial"/>
              </a:rPr>
              <a:t>urban</a:t>
            </a:r>
            <a:r>
              <a:rPr sz="2000" dirty="0">
                <a:solidFill>
                  <a:srgbClr val="4F5B6D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4F5B6D"/>
                </a:solidFill>
                <a:latin typeface="Arial"/>
                <a:cs typeface="Arial"/>
              </a:rPr>
              <a:t>centers.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525021" y="7937965"/>
            <a:ext cx="7432675" cy="791692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1905">
              <a:lnSpc>
                <a:spcPct val="133700"/>
              </a:lnSpc>
              <a:spcBef>
                <a:spcPts val="90"/>
              </a:spcBef>
            </a:pPr>
            <a:r>
              <a:rPr sz="2000" b="1" spc="10" dirty="0">
                <a:solidFill>
                  <a:srgbClr val="4F5B6D"/>
                </a:solidFill>
                <a:latin typeface="Arial"/>
                <a:cs typeface="Arial"/>
              </a:rPr>
              <a:t>Stationery:</a:t>
            </a:r>
            <a:r>
              <a:rPr sz="2000" b="1" dirty="0">
                <a:solidFill>
                  <a:srgbClr val="4F5B6D"/>
                </a:solidFill>
                <a:latin typeface="Arial"/>
                <a:cs typeface="Arial"/>
              </a:rPr>
              <a:t> </a:t>
            </a:r>
            <a:r>
              <a:rPr sz="2000" spc="65" dirty="0">
                <a:solidFill>
                  <a:srgbClr val="4F5B6D"/>
                </a:solidFill>
                <a:latin typeface="Arial"/>
                <a:cs typeface="Arial"/>
              </a:rPr>
              <a:t>Unexpectedly</a:t>
            </a:r>
            <a:r>
              <a:rPr sz="2000" spc="210" dirty="0">
                <a:solidFill>
                  <a:srgbClr val="4F5B6D"/>
                </a:solidFill>
                <a:latin typeface="Arial"/>
                <a:cs typeface="Arial"/>
              </a:rPr>
              <a:t> </a:t>
            </a:r>
            <a:r>
              <a:rPr sz="2000" spc="80" dirty="0">
                <a:solidFill>
                  <a:srgbClr val="4F5B6D"/>
                </a:solidFill>
                <a:latin typeface="Arial"/>
                <a:cs typeface="Arial"/>
              </a:rPr>
              <a:t>high</a:t>
            </a:r>
            <a:r>
              <a:rPr sz="2000" spc="-75" dirty="0">
                <a:solidFill>
                  <a:srgbClr val="4F5B6D"/>
                </a:solidFill>
                <a:latin typeface="Arial"/>
                <a:cs typeface="Arial"/>
              </a:rPr>
              <a:t> </a:t>
            </a:r>
            <a:r>
              <a:rPr sz="2000" spc="70" dirty="0">
                <a:solidFill>
                  <a:srgbClr val="4F5B6D"/>
                </a:solidFill>
                <a:latin typeface="Arial"/>
                <a:cs typeface="Arial"/>
              </a:rPr>
              <a:t>margin</a:t>
            </a:r>
            <a:r>
              <a:rPr sz="2000" spc="-30" dirty="0">
                <a:solidFill>
                  <a:srgbClr val="4F5B6D"/>
                </a:solidFill>
                <a:latin typeface="Arial"/>
                <a:cs typeface="Arial"/>
              </a:rPr>
              <a:t> </a:t>
            </a:r>
            <a:r>
              <a:rPr sz="2000" spc="65" dirty="0">
                <a:solidFill>
                  <a:srgbClr val="4F5B6D"/>
                </a:solidFill>
                <a:latin typeface="Arial"/>
                <a:cs typeface="Arial"/>
              </a:rPr>
              <a:t>profile </a:t>
            </a:r>
            <a:r>
              <a:rPr sz="2000" spc="80" dirty="0">
                <a:solidFill>
                  <a:srgbClr val="4F5B6D"/>
                </a:solidFill>
                <a:latin typeface="Arial"/>
                <a:cs typeface="Arial"/>
              </a:rPr>
              <a:t>due</a:t>
            </a:r>
            <a:r>
              <a:rPr sz="2000" spc="10" dirty="0">
                <a:solidFill>
                  <a:srgbClr val="4F5B6D"/>
                </a:solidFill>
                <a:latin typeface="Arial"/>
                <a:cs typeface="Arial"/>
              </a:rPr>
              <a:t> </a:t>
            </a:r>
            <a:r>
              <a:rPr sz="2000" spc="60" dirty="0">
                <a:solidFill>
                  <a:srgbClr val="4F5B6D"/>
                </a:solidFill>
                <a:latin typeface="Arial"/>
                <a:cs typeface="Arial"/>
              </a:rPr>
              <a:t>to</a:t>
            </a:r>
            <a:r>
              <a:rPr sz="2000" spc="114" dirty="0">
                <a:solidFill>
                  <a:srgbClr val="4F5B6D"/>
                </a:solidFill>
                <a:latin typeface="Arial"/>
                <a:cs typeface="Arial"/>
              </a:rPr>
              <a:t> </a:t>
            </a:r>
            <a:r>
              <a:rPr sz="2000" spc="80" dirty="0">
                <a:solidFill>
                  <a:srgbClr val="4F5B6D"/>
                </a:solidFill>
                <a:latin typeface="Arial"/>
                <a:cs typeface="Arial"/>
              </a:rPr>
              <a:t>low</a:t>
            </a:r>
            <a:r>
              <a:rPr sz="2000" spc="40" dirty="0">
                <a:solidFill>
                  <a:srgbClr val="4F5B6D"/>
                </a:solidFill>
                <a:latin typeface="Arial"/>
                <a:cs typeface="Arial"/>
              </a:rPr>
              <a:t> </a:t>
            </a:r>
            <a:r>
              <a:rPr sz="2000" spc="50" dirty="0">
                <a:solidFill>
                  <a:srgbClr val="4F5B6D"/>
                </a:solidFill>
                <a:latin typeface="Arial"/>
                <a:cs typeface="Arial"/>
              </a:rPr>
              <a:t>overheads</a:t>
            </a:r>
            <a:r>
              <a:rPr sz="2000" spc="125" dirty="0">
                <a:solidFill>
                  <a:srgbClr val="4F5B6D"/>
                </a:solidFill>
                <a:latin typeface="Arial"/>
                <a:cs typeface="Arial"/>
              </a:rPr>
              <a:t> </a:t>
            </a:r>
            <a:r>
              <a:rPr sz="2000" spc="35" dirty="0">
                <a:solidFill>
                  <a:srgbClr val="4F5B6D"/>
                </a:solidFill>
                <a:latin typeface="Arial"/>
                <a:cs typeface="Arial"/>
              </a:rPr>
              <a:t>and </a:t>
            </a:r>
            <a:r>
              <a:rPr sz="2000" spc="65" dirty="0">
                <a:solidFill>
                  <a:srgbClr val="4F5B6D"/>
                </a:solidFill>
                <a:latin typeface="Arial"/>
                <a:cs typeface="Arial"/>
              </a:rPr>
              <a:t>frequent </a:t>
            </a:r>
            <a:r>
              <a:rPr sz="2000" spc="60" dirty="0">
                <a:solidFill>
                  <a:srgbClr val="4F5B6D"/>
                </a:solidFill>
                <a:latin typeface="Arial"/>
                <a:cs typeface="Arial"/>
              </a:rPr>
              <a:t>repeat</a:t>
            </a:r>
            <a:r>
              <a:rPr sz="2000" spc="95" dirty="0">
                <a:solidFill>
                  <a:srgbClr val="4F5B6D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4F5B6D"/>
                </a:solidFill>
                <a:latin typeface="Arial"/>
                <a:cs typeface="Arial"/>
              </a:rPr>
              <a:t>purchases.</a:t>
            </a:r>
            <a:endParaRPr sz="2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784850" y="948133"/>
            <a:ext cx="11430000" cy="82682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  <a:tabLst>
                <a:tab pos="3829050" algn="l"/>
              </a:tabLst>
            </a:pPr>
            <a:r>
              <a:rPr spc="240" dirty="0">
                <a:solidFill>
                  <a:srgbClr val="182131"/>
                </a:solidFill>
              </a:rPr>
              <a:t>STRATEGIC</a:t>
            </a:r>
            <a:r>
              <a:rPr lang="en-IN" spc="240" dirty="0">
                <a:solidFill>
                  <a:srgbClr val="182131"/>
                </a:solidFill>
              </a:rPr>
              <a:t> ROADMAP</a:t>
            </a:r>
            <a:endParaRPr spc="265" dirty="0">
              <a:solidFill>
                <a:srgbClr val="182131"/>
              </a:solidFill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99636" y="5401435"/>
            <a:ext cx="2249805" cy="32380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dirty="0">
                <a:solidFill>
                  <a:srgbClr val="182131"/>
                </a:solidFill>
                <a:latin typeface="Arial"/>
                <a:cs typeface="Arial"/>
              </a:rPr>
              <a:t>Q</a:t>
            </a:r>
            <a:r>
              <a:rPr lang="en-IN" sz="2000" b="1" dirty="0">
                <a:solidFill>
                  <a:srgbClr val="182131"/>
                </a:solidFill>
                <a:latin typeface="Arial"/>
                <a:cs typeface="Arial"/>
              </a:rPr>
              <a:t>1</a:t>
            </a:r>
            <a:r>
              <a:rPr sz="2000" b="1" dirty="0">
                <a:solidFill>
                  <a:srgbClr val="182131"/>
                </a:solidFill>
                <a:latin typeface="Arial"/>
                <a:cs typeface="Arial"/>
              </a:rPr>
              <a:t>:</a:t>
            </a:r>
            <a:r>
              <a:rPr sz="2000" b="1" spc="130" dirty="0">
                <a:solidFill>
                  <a:srgbClr val="182131"/>
                </a:solidFill>
                <a:latin typeface="Arial"/>
                <a:cs typeface="Arial"/>
              </a:rPr>
              <a:t> </a:t>
            </a:r>
            <a:r>
              <a:rPr sz="2000" b="1" spc="105" dirty="0">
                <a:solidFill>
                  <a:srgbClr val="182131"/>
                </a:solidFill>
                <a:latin typeface="Arial"/>
                <a:cs typeface="Arial"/>
              </a:rPr>
              <a:t>Optimization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581900" y="5347884"/>
            <a:ext cx="1946150" cy="765810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358775">
              <a:lnSpc>
                <a:spcPct val="100000"/>
              </a:lnSpc>
              <a:spcBef>
                <a:spcPts val="545"/>
              </a:spcBef>
            </a:pPr>
            <a:r>
              <a:rPr sz="2050" b="1" spc="65" dirty="0">
                <a:solidFill>
                  <a:srgbClr val="182131"/>
                </a:solidFill>
                <a:latin typeface="Arial"/>
                <a:cs typeface="Arial"/>
              </a:rPr>
              <a:t>Q2:</a:t>
            </a:r>
            <a:endParaRPr sz="20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sz="2050" b="1" spc="-10" dirty="0">
                <a:solidFill>
                  <a:srgbClr val="182131"/>
                </a:solidFill>
                <a:latin typeface="Arial"/>
                <a:cs typeface="Arial"/>
              </a:rPr>
              <a:t>Expansion</a:t>
            </a:r>
            <a:endParaRPr sz="205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86132" y="5914095"/>
            <a:ext cx="4276090" cy="1204112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786765" marR="5080" indent="-774700" algn="just">
              <a:lnSpc>
                <a:spcPct val="133700"/>
              </a:lnSpc>
              <a:spcBef>
                <a:spcPts val="90"/>
              </a:spcBef>
            </a:pPr>
            <a:r>
              <a:rPr sz="2000" dirty="0">
                <a:solidFill>
                  <a:srgbClr val="505D6E"/>
                </a:solidFill>
                <a:latin typeface="Arial"/>
                <a:cs typeface="Arial"/>
              </a:rPr>
              <a:t>Further</a:t>
            </a:r>
            <a:r>
              <a:rPr sz="2000" spc="180" dirty="0">
                <a:solidFill>
                  <a:srgbClr val="505D6E"/>
                </a:solidFill>
                <a:latin typeface="Arial"/>
                <a:cs typeface="Arial"/>
              </a:rPr>
              <a:t> </a:t>
            </a:r>
            <a:r>
              <a:rPr sz="2000" spc="50" dirty="0">
                <a:solidFill>
                  <a:srgbClr val="505D6E"/>
                </a:solidFill>
                <a:latin typeface="Arial"/>
                <a:cs typeface="Arial"/>
              </a:rPr>
              <a:t>refine</a:t>
            </a:r>
            <a:r>
              <a:rPr sz="2000" spc="15" dirty="0">
                <a:solidFill>
                  <a:srgbClr val="505D6E"/>
                </a:solidFill>
                <a:latin typeface="Arial"/>
                <a:cs typeface="Arial"/>
              </a:rPr>
              <a:t> </a:t>
            </a:r>
            <a:r>
              <a:rPr sz="2000" spc="60" dirty="0">
                <a:solidFill>
                  <a:srgbClr val="505D6E"/>
                </a:solidFill>
                <a:latin typeface="Arial"/>
                <a:cs typeface="Arial"/>
              </a:rPr>
              <a:t>the</a:t>
            </a:r>
            <a:r>
              <a:rPr sz="2000" spc="280" dirty="0">
                <a:solidFill>
                  <a:srgbClr val="505D6E"/>
                </a:solidFill>
                <a:latin typeface="Arial"/>
                <a:cs typeface="Arial"/>
              </a:rPr>
              <a:t> </a:t>
            </a:r>
            <a:r>
              <a:rPr sz="2000" spc="75" dirty="0">
                <a:solidFill>
                  <a:srgbClr val="505D6E"/>
                </a:solidFill>
                <a:latin typeface="Arial"/>
                <a:cs typeface="Arial"/>
              </a:rPr>
              <a:t>data</a:t>
            </a:r>
            <a:r>
              <a:rPr sz="2000" spc="114" dirty="0">
                <a:solidFill>
                  <a:srgbClr val="505D6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05D6E"/>
                </a:solidFill>
                <a:latin typeface="Arial"/>
                <a:cs typeface="Arial"/>
              </a:rPr>
              <a:t>pipeline</a:t>
            </a:r>
            <a:r>
              <a:rPr sz="2000" spc="145" dirty="0">
                <a:solidFill>
                  <a:srgbClr val="505D6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05D6E"/>
                </a:solidFill>
                <a:latin typeface="Arial"/>
                <a:cs typeface="Arial"/>
              </a:rPr>
              <a:t>to</a:t>
            </a:r>
            <a:r>
              <a:rPr sz="2000" spc="204" dirty="0">
                <a:solidFill>
                  <a:srgbClr val="505D6E"/>
                </a:solidFill>
                <a:latin typeface="Arial"/>
                <a:cs typeface="Arial"/>
              </a:rPr>
              <a:t> </a:t>
            </a:r>
            <a:r>
              <a:rPr sz="2000" spc="45" dirty="0">
                <a:solidFill>
                  <a:srgbClr val="505D6E"/>
                </a:solidFill>
                <a:latin typeface="Arial"/>
                <a:cs typeface="Arial"/>
              </a:rPr>
              <a:t>include </a:t>
            </a:r>
            <a:r>
              <a:rPr sz="2000" dirty="0">
                <a:solidFill>
                  <a:srgbClr val="505D6E"/>
                </a:solidFill>
                <a:latin typeface="Arial"/>
                <a:cs typeface="Arial"/>
              </a:rPr>
              <a:t>real-</a:t>
            </a:r>
            <a:r>
              <a:rPr sz="2000" spc="60" dirty="0">
                <a:solidFill>
                  <a:srgbClr val="505D6E"/>
                </a:solidFill>
                <a:latin typeface="Arial"/>
                <a:cs typeface="Arial"/>
              </a:rPr>
              <a:t>time</a:t>
            </a:r>
            <a:r>
              <a:rPr sz="2000" spc="160" dirty="0">
                <a:solidFill>
                  <a:srgbClr val="505D6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05D6E"/>
                </a:solidFill>
                <a:latin typeface="Arial"/>
                <a:cs typeface="Arial"/>
              </a:rPr>
              <a:t>CRM</a:t>
            </a:r>
            <a:r>
              <a:rPr sz="2000" spc="190" dirty="0">
                <a:solidFill>
                  <a:srgbClr val="505D6E"/>
                </a:solidFill>
                <a:latin typeface="Arial"/>
                <a:cs typeface="Arial"/>
              </a:rPr>
              <a:t> </a:t>
            </a:r>
            <a:r>
              <a:rPr sz="2000" spc="40" dirty="0">
                <a:solidFill>
                  <a:srgbClr val="505D6E"/>
                </a:solidFill>
                <a:latin typeface="Arial"/>
                <a:cs typeface="Arial"/>
              </a:rPr>
              <a:t>integration</a:t>
            </a:r>
            <a:r>
              <a:rPr sz="1400" spc="40" dirty="0">
                <a:solidFill>
                  <a:srgbClr val="505D6E"/>
                </a:solidFill>
                <a:latin typeface="Arial"/>
                <a:cs typeface="Arial"/>
              </a:rPr>
              <a:t>.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474624" y="6284220"/>
            <a:ext cx="4276090" cy="1093697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 marR="30480" indent="-7620" algn="ctr">
              <a:lnSpc>
                <a:spcPct val="136300"/>
              </a:lnSpc>
              <a:spcBef>
                <a:spcPts val="40"/>
              </a:spcBef>
            </a:pPr>
            <a:r>
              <a:rPr spc="-10" dirty="0">
                <a:solidFill>
                  <a:srgbClr val="505D6E"/>
                </a:solidFill>
                <a:latin typeface="Arial"/>
                <a:cs typeface="Arial"/>
              </a:rPr>
              <a:t>Targeted campai</a:t>
            </a:r>
            <a:r>
              <a:rPr sz="1200" spc="-15" baseline="74074" dirty="0">
                <a:solidFill>
                  <a:srgbClr val="505D6E"/>
                </a:solidFill>
                <a:latin typeface="Arial"/>
                <a:cs typeface="Arial"/>
              </a:rPr>
              <a:t>•</a:t>
            </a:r>
            <a:r>
              <a:rPr spc="-10" dirty="0">
                <a:solidFill>
                  <a:srgbClr val="505D6E"/>
                </a:solidFill>
                <a:latin typeface="Arial"/>
                <a:cs typeface="Arial"/>
              </a:rPr>
              <a:t>gns </a:t>
            </a:r>
            <a:r>
              <a:rPr dirty="0">
                <a:solidFill>
                  <a:srgbClr val="505D6E"/>
                </a:solidFill>
                <a:latin typeface="Arial"/>
                <a:cs typeface="Arial"/>
              </a:rPr>
              <a:t>for</a:t>
            </a:r>
            <a:r>
              <a:rPr spc="250" dirty="0">
                <a:solidFill>
                  <a:srgbClr val="505D6E"/>
                </a:solidFill>
                <a:latin typeface="Arial"/>
                <a:cs typeface="Arial"/>
              </a:rPr>
              <a:t> </a:t>
            </a:r>
            <a:r>
              <a:rPr spc="80" dirty="0">
                <a:solidFill>
                  <a:srgbClr val="505D6E"/>
                </a:solidFill>
                <a:latin typeface="Arial"/>
                <a:cs typeface="Arial"/>
              </a:rPr>
              <a:t>North </a:t>
            </a:r>
            <a:r>
              <a:rPr spc="60" dirty="0">
                <a:solidFill>
                  <a:srgbClr val="505D6E"/>
                </a:solidFill>
                <a:latin typeface="Arial"/>
                <a:cs typeface="Arial"/>
              </a:rPr>
              <a:t>and</a:t>
            </a:r>
            <a:r>
              <a:rPr spc="40" dirty="0">
                <a:solidFill>
                  <a:srgbClr val="505D6E"/>
                </a:solidFill>
                <a:latin typeface="Arial"/>
                <a:cs typeface="Arial"/>
              </a:rPr>
              <a:t> </a:t>
            </a:r>
            <a:r>
              <a:rPr spc="-20" dirty="0">
                <a:solidFill>
                  <a:srgbClr val="505D6E"/>
                </a:solidFill>
                <a:latin typeface="Arial"/>
                <a:cs typeface="Arial"/>
              </a:rPr>
              <a:t>South </a:t>
            </a:r>
            <a:r>
              <a:rPr dirty="0">
                <a:solidFill>
                  <a:srgbClr val="505D6E"/>
                </a:solidFill>
                <a:latin typeface="Arial"/>
                <a:cs typeface="Arial"/>
              </a:rPr>
              <a:t>regions</a:t>
            </a:r>
            <a:r>
              <a:rPr spc="350" dirty="0">
                <a:solidFill>
                  <a:srgbClr val="505D6E"/>
                </a:solidFill>
                <a:latin typeface="Arial"/>
                <a:cs typeface="Arial"/>
              </a:rPr>
              <a:t> </a:t>
            </a:r>
            <a:r>
              <a:rPr spc="-25" dirty="0">
                <a:solidFill>
                  <a:srgbClr val="505D6E"/>
                </a:solidFill>
                <a:latin typeface="Arial"/>
                <a:cs typeface="Arial"/>
              </a:rPr>
              <a:t>to </a:t>
            </a:r>
            <a:r>
              <a:rPr spc="95" dirty="0">
                <a:solidFill>
                  <a:srgbClr val="505D6E"/>
                </a:solidFill>
                <a:latin typeface="Arial"/>
                <a:cs typeface="Arial"/>
              </a:rPr>
              <a:t>match </a:t>
            </a:r>
            <a:r>
              <a:rPr spc="-10" dirty="0">
                <a:solidFill>
                  <a:srgbClr val="505D6E"/>
                </a:solidFill>
                <a:latin typeface="Arial"/>
                <a:cs typeface="Arial"/>
              </a:rPr>
              <a:t>East/West </a:t>
            </a:r>
            <a:r>
              <a:rPr spc="50" dirty="0">
                <a:solidFill>
                  <a:srgbClr val="505D6E"/>
                </a:solidFill>
                <a:latin typeface="Arial"/>
                <a:cs typeface="Arial"/>
              </a:rPr>
              <a:t>parity.</a:t>
            </a:r>
            <a:endParaRPr dirty="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083304" y="5422915"/>
            <a:ext cx="2502535" cy="32380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spc="100" dirty="0">
                <a:solidFill>
                  <a:srgbClr val="182131"/>
                </a:solidFill>
                <a:latin typeface="Arial"/>
                <a:cs typeface="Arial"/>
              </a:rPr>
              <a:t>Q3:</a:t>
            </a:r>
            <a:r>
              <a:rPr sz="2000" b="1" spc="-215" dirty="0">
                <a:solidFill>
                  <a:srgbClr val="182131"/>
                </a:solidFill>
                <a:latin typeface="Arial"/>
                <a:cs typeface="Arial"/>
              </a:rPr>
              <a:t> </a:t>
            </a:r>
            <a:r>
              <a:rPr sz="2000" b="1" spc="65" dirty="0">
                <a:solidFill>
                  <a:srgbClr val="182131"/>
                </a:solidFill>
                <a:latin typeface="Arial"/>
                <a:cs typeface="Arial"/>
              </a:rPr>
              <a:t>Diversification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066035" y="5906220"/>
            <a:ext cx="4537075" cy="1107676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692785" marR="5080" indent="-680720">
              <a:lnSpc>
                <a:spcPct val="136800"/>
              </a:lnSpc>
              <a:spcBef>
                <a:spcPts val="90"/>
              </a:spcBef>
            </a:pPr>
            <a:r>
              <a:rPr spc="60" dirty="0">
                <a:solidFill>
                  <a:srgbClr val="505D6E"/>
                </a:solidFill>
                <a:latin typeface="Arial"/>
                <a:cs typeface="Arial"/>
              </a:rPr>
              <a:t>Introduction</a:t>
            </a:r>
            <a:r>
              <a:rPr spc="135" dirty="0">
                <a:solidFill>
                  <a:srgbClr val="505D6E"/>
                </a:solidFill>
                <a:latin typeface="Arial"/>
                <a:cs typeface="Arial"/>
              </a:rPr>
              <a:t> </a:t>
            </a:r>
            <a:r>
              <a:rPr spc="65" dirty="0">
                <a:solidFill>
                  <a:srgbClr val="505D6E"/>
                </a:solidFill>
                <a:latin typeface="Arial"/>
                <a:cs typeface="Arial"/>
              </a:rPr>
              <a:t>of</a:t>
            </a:r>
            <a:r>
              <a:rPr spc="170" dirty="0">
                <a:solidFill>
                  <a:srgbClr val="505D6E"/>
                </a:solidFill>
                <a:latin typeface="Arial"/>
                <a:cs typeface="Arial"/>
              </a:rPr>
              <a:t> </a:t>
            </a:r>
            <a:r>
              <a:rPr spc="60" dirty="0">
                <a:solidFill>
                  <a:srgbClr val="505D6E"/>
                </a:solidFill>
                <a:latin typeface="Arial"/>
                <a:cs typeface="Arial"/>
              </a:rPr>
              <a:t>"Smart</a:t>
            </a:r>
            <a:r>
              <a:rPr spc="185" dirty="0">
                <a:solidFill>
                  <a:srgbClr val="505D6E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505D6E"/>
                </a:solidFill>
                <a:latin typeface="Arial"/>
                <a:cs typeface="Arial"/>
              </a:rPr>
              <a:t>Home"</a:t>
            </a:r>
            <a:r>
              <a:rPr spc="325" dirty="0">
                <a:solidFill>
                  <a:srgbClr val="505D6E"/>
                </a:solidFill>
                <a:latin typeface="Arial"/>
                <a:cs typeface="Arial"/>
              </a:rPr>
              <a:t> </a:t>
            </a:r>
            <a:r>
              <a:rPr spc="70" dirty="0">
                <a:solidFill>
                  <a:srgbClr val="505D6E"/>
                </a:solidFill>
                <a:latin typeface="Arial"/>
                <a:cs typeface="Arial"/>
              </a:rPr>
              <a:t>sub-</a:t>
            </a:r>
            <a:r>
              <a:rPr spc="60" dirty="0">
                <a:solidFill>
                  <a:srgbClr val="505D6E"/>
                </a:solidFill>
                <a:latin typeface="Arial"/>
                <a:cs typeface="Arial"/>
              </a:rPr>
              <a:t>category </a:t>
            </a:r>
            <a:r>
              <a:rPr spc="50" dirty="0">
                <a:solidFill>
                  <a:srgbClr val="505D6E"/>
                </a:solidFill>
                <a:latin typeface="Arial"/>
                <a:cs typeface="Arial"/>
              </a:rPr>
              <a:t>within</a:t>
            </a:r>
            <a:r>
              <a:rPr spc="-40" dirty="0">
                <a:solidFill>
                  <a:srgbClr val="505D6E"/>
                </a:solidFill>
                <a:latin typeface="Arial"/>
                <a:cs typeface="Arial"/>
              </a:rPr>
              <a:t> </a:t>
            </a:r>
            <a:r>
              <a:rPr spc="50" dirty="0">
                <a:solidFill>
                  <a:srgbClr val="505D6E"/>
                </a:solidFill>
                <a:latin typeface="Arial"/>
                <a:cs typeface="Arial"/>
              </a:rPr>
              <a:t>the</a:t>
            </a:r>
            <a:r>
              <a:rPr spc="290" dirty="0">
                <a:solidFill>
                  <a:srgbClr val="505D6E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505D6E"/>
                </a:solidFill>
                <a:latin typeface="Arial"/>
                <a:cs typeface="Arial"/>
              </a:rPr>
              <a:t>Electronics</a:t>
            </a:r>
            <a:r>
              <a:rPr spc="235" dirty="0">
                <a:solidFill>
                  <a:srgbClr val="505D6E"/>
                </a:solidFill>
                <a:latin typeface="Arial"/>
                <a:cs typeface="Arial"/>
              </a:rPr>
              <a:t> </a:t>
            </a:r>
            <a:r>
              <a:rPr spc="-10" dirty="0">
                <a:solidFill>
                  <a:srgbClr val="505D6E"/>
                </a:solidFill>
                <a:latin typeface="Arial"/>
                <a:cs typeface="Arial"/>
              </a:rPr>
              <a:t>segment.</a:t>
            </a:r>
            <a:endParaRPr dirty="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5840552" y="5401435"/>
            <a:ext cx="2120900" cy="3422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50" b="1" dirty="0">
                <a:solidFill>
                  <a:srgbClr val="182131"/>
                </a:solidFill>
                <a:latin typeface="Arial"/>
                <a:cs typeface="Arial"/>
              </a:rPr>
              <a:t>Q4:</a:t>
            </a:r>
            <a:r>
              <a:rPr sz="2050" b="1" spc="300" dirty="0">
                <a:solidFill>
                  <a:srgbClr val="182131"/>
                </a:solidFill>
                <a:latin typeface="Arial"/>
                <a:cs typeface="Arial"/>
              </a:rPr>
              <a:t> </a:t>
            </a:r>
            <a:r>
              <a:rPr sz="2050" b="1" spc="60" dirty="0">
                <a:solidFill>
                  <a:srgbClr val="182131"/>
                </a:solidFill>
                <a:latin typeface="Arial"/>
                <a:cs typeface="Arial"/>
              </a:rPr>
              <a:t>Automation</a:t>
            </a:r>
            <a:endParaRPr sz="20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112469" y="5914095"/>
            <a:ext cx="3608704" cy="1204112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8255">
              <a:lnSpc>
                <a:spcPct val="133700"/>
              </a:lnSpc>
              <a:spcBef>
                <a:spcPts val="90"/>
              </a:spcBef>
            </a:pPr>
            <a:r>
              <a:rPr sz="2000" spc="75" dirty="0">
                <a:solidFill>
                  <a:srgbClr val="505D6E"/>
                </a:solidFill>
                <a:latin typeface="Arial"/>
                <a:cs typeface="Arial"/>
              </a:rPr>
              <a:t>Al-</a:t>
            </a:r>
            <a:r>
              <a:rPr sz="2000" spc="85" dirty="0">
                <a:solidFill>
                  <a:srgbClr val="505D6E"/>
                </a:solidFill>
                <a:latin typeface="Arial"/>
                <a:cs typeface="Arial"/>
              </a:rPr>
              <a:t>driven</a:t>
            </a:r>
            <a:r>
              <a:rPr sz="2000" spc="160" dirty="0">
                <a:solidFill>
                  <a:srgbClr val="505D6E"/>
                </a:solidFill>
                <a:latin typeface="Arial"/>
                <a:cs typeface="Arial"/>
              </a:rPr>
              <a:t> </a:t>
            </a:r>
            <a:r>
              <a:rPr sz="2000" spc="80" dirty="0">
                <a:solidFill>
                  <a:srgbClr val="505D6E"/>
                </a:solidFill>
                <a:latin typeface="Arial"/>
                <a:cs typeface="Arial"/>
              </a:rPr>
              <a:t>predictive</a:t>
            </a:r>
            <a:r>
              <a:rPr sz="2000" spc="260" dirty="0">
                <a:solidFill>
                  <a:srgbClr val="505D6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05D6E"/>
                </a:solidFill>
                <a:latin typeface="Arial"/>
                <a:cs typeface="Arial"/>
              </a:rPr>
              <a:t>forecasting</a:t>
            </a:r>
            <a:r>
              <a:rPr sz="2000" spc="420" dirty="0">
                <a:solidFill>
                  <a:srgbClr val="505D6E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505D6E"/>
                </a:solidFill>
                <a:latin typeface="Arial"/>
                <a:cs typeface="Arial"/>
              </a:rPr>
              <a:t>to </a:t>
            </a:r>
            <a:r>
              <a:rPr sz="2000" dirty="0">
                <a:solidFill>
                  <a:srgbClr val="505D6E"/>
                </a:solidFill>
                <a:latin typeface="Arial"/>
                <a:cs typeface="Arial"/>
              </a:rPr>
              <a:t>automate</a:t>
            </a:r>
            <a:r>
              <a:rPr sz="2000" spc="260" dirty="0">
                <a:solidFill>
                  <a:srgbClr val="505D6E"/>
                </a:solidFill>
                <a:latin typeface="Arial"/>
                <a:cs typeface="Arial"/>
              </a:rPr>
              <a:t> </a:t>
            </a:r>
            <a:r>
              <a:rPr sz="2000" spc="60" dirty="0">
                <a:solidFill>
                  <a:srgbClr val="505D6E"/>
                </a:solidFill>
                <a:latin typeface="Arial"/>
                <a:cs typeface="Arial"/>
              </a:rPr>
              <a:t>inventory</a:t>
            </a:r>
            <a:r>
              <a:rPr sz="2000" spc="250" dirty="0">
                <a:solidFill>
                  <a:srgbClr val="505D6E"/>
                </a:solidFill>
                <a:latin typeface="Arial"/>
                <a:cs typeface="Arial"/>
              </a:rPr>
              <a:t> </a:t>
            </a:r>
            <a:r>
              <a:rPr sz="2000" spc="40" dirty="0">
                <a:solidFill>
                  <a:srgbClr val="505D6E"/>
                </a:solidFill>
                <a:latin typeface="Arial"/>
                <a:cs typeface="Arial"/>
              </a:rPr>
              <a:t>replenishment</a:t>
            </a:r>
            <a:r>
              <a:rPr spc="40" dirty="0">
                <a:solidFill>
                  <a:srgbClr val="505D6E"/>
                </a:solidFill>
                <a:latin typeface="Arial"/>
                <a:cs typeface="Arial"/>
              </a:rPr>
              <a:t>.</a:t>
            </a:r>
            <a:endParaRPr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A0FEE1E-2509-78EA-FBBA-470C17AF0208}"/>
              </a:ext>
            </a:extLst>
          </p:cNvPr>
          <p:cNvSpPr/>
          <p:nvPr/>
        </p:nvSpPr>
        <p:spPr>
          <a:xfrm>
            <a:off x="6394450" y="3597275"/>
            <a:ext cx="8229600" cy="3048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3A2C9B8-FFD9-F889-00B8-D0B71DA4C36A}"/>
              </a:ext>
            </a:extLst>
          </p:cNvPr>
          <p:cNvGrpSpPr/>
          <p:nvPr/>
        </p:nvGrpSpPr>
        <p:grpSpPr>
          <a:xfrm>
            <a:off x="9159518" y="5374219"/>
            <a:ext cx="360" cy="360"/>
            <a:chOff x="9159518" y="5374219"/>
            <a:chExt cx="360" cy="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A537344C-BABE-4E61-72C4-3AD0521CC2BA}"/>
                    </a:ext>
                  </a:extLst>
                </p14:cNvPr>
                <p14:cNvContentPartPr/>
                <p14:nvPr/>
              </p14:nvContentPartPr>
              <p14:xfrm>
                <a:off x="9159518" y="5374219"/>
                <a:ext cx="360" cy="3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A537344C-BABE-4E61-72C4-3AD0521CC2BA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153398" y="5368099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5DA68FF-2DD5-4289-CE77-9A415F14E987}"/>
                    </a:ext>
                  </a:extLst>
                </p14:cNvPr>
                <p14:cNvContentPartPr/>
                <p14:nvPr/>
              </p14:nvContentPartPr>
              <p14:xfrm>
                <a:off x="9159518" y="5374219"/>
                <a:ext cx="360" cy="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5DA68FF-2DD5-4289-CE77-9A415F14E987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153398" y="5368099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3861271-D19C-1F71-397D-09CF3FCF5A49}"/>
              </a:ext>
            </a:extLst>
          </p:cNvPr>
          <p:cNvGrpSpPr/>
          <p:nvPr/>
        </p:nvGrpSpPr>
        <p:grpSpPr>
          <a:xfrm>
            <a:off x="9272558" y="5518219"/>
            <a:ext cx="360" cy="360"/>
            <a:chOff x="9272558" y="5518219"/>
            <a:chExt cx="360" cy="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B7153B3-0E1D-66D7-EC08-46B924AF0F7F}"/>
                    </a:ext>
                  </a:extLst>
                </p14:cNvPr>
                <p14:cNvContentPartPr/>
                <p14:nvPr/>
              </p14:nvContentPartPr>
              <p14:xfrm>
                <a:off x="9272558" y="5518219"/>
                <a:ext cx="360" cy="3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B7153B3-0E1D-66D7-EC08-46B924AF0F7F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266438" y="5512099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58F6A5DE-42CD-508B-A998-36356B14BC2E}"/>
                    </a:ext>
                  </a:extLst>
                </p14:cNvPr>
                <p14:cNvContentPartPr/>
                <p14:nvPr/>
              </p14:nvContentPartPr>
              <p14:xfrm>
                <a:off x="9272558" y="5518219"/>
                <a:ext cx="360" cy="3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58F6A5DE-42CD-508B-A998-36356B14BC2E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266438" y="5512099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39FFA88B-6AF5-2A94-4198-40DDF04DDCD1}"/>
                  </a:ext>
                </a:extLst>
              </p14:cNvPr>
              <p14:cNvContentPartPr/>
              <p14:nvPr/>
            </p14:nvContentPartPr>
            <p14:xfrm>
              <a:off x="9512678" y="3064099"/>
              <a:ext cx="360" cy="3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39FFA88B-6AF5-2A94-4198-40DDF04DDCD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06558" y="3057979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3D162681-B7EC-2A9C-441F-7C0C273B443E}"/>
              </a:ext>
            </a:extLst>
          </p:cNvPr>
          <p:cNvSpPr txBox="1"/>
          <p:nvPr/>
        </p:nvSpPr>
        <p:spPr>
          <a:xfrm>
            <a:off x="7232650" y="4435475"/>
            <a:ext cx="6704520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1500" dirty="0"/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112</TotalTime>
  <Words>595</Words>
  <Application>Microsoft Office PowerPoint</Application>
  <PresentationFormat>Custom</PresentationFormat>
  <Paragraphs>103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Gill Sans MT</vt:lpstr>
      <vt:lpstr>Times New Roman</vt:lpstr>
      <vt:lpstr>Gallery</vt:lpstr>
      <vt:lpstr>PowerPoint Presentation</vt:lpstr>
      <vt:lpstr>DATA ANALYSIS</vt:lpstr>
      <vt:lpstr>PowerPoint Presentation</vt:lpstr>
      <vt:lpstr>PowerPoint Presentation</vt:lpstr>
      <vt:lpstr>EXECUTIVE SUMMARY </vt:lpstr>
      <vt:lpstr>DATA CLEANING &amp; TRANSFORMATION</vt:lpstr>
      <vt:lpstr>THE CENTRALIZED DASHBOARD</vt:lpstr>
      <vt:lpstr>REGIONAL REVENUE DISTRIBUTION</vt:lpstr>
      <vt:lpstr>SALES FORCE PRODUCTIVITY LEADERBOARD</vt:lpstr>
      <vt:lpstr>CATEGORY ANALYSIS </vt:lpstr>
      <vt:lpstr>STRATEGIC ROADMAP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cp:lastModifiedBy>SAUBHAGYA MUNSI</cp:lastModifiedBy>
  <cp:revision>5</cp:revision>
  <dcterms:created xsi:type="dcterms:W3CDTF">2026-05-19T08:14:54Z</dcterms:created>
  <dcterms:modified xsi:type="dcterms:W3CDTF">2026-05-20T05:36:49Z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2026-05-19T00:00:00Z</vt:filetime>
  </property>
  <property fmtid="{D5CDD505-2E9C-101B-9397-08002B2CF9AE}" pid="3" name="LastSaved">
    <vt:filetime>2026-05-19T00:00:00Z</vt:filetime>
  </property>
</Properties>
</file>